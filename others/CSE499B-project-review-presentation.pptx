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charts/chart1.xml" ContentType="application/vnd.openxmlformats-officedocument.drawingml.chart+xml"/>
  <Override PartName="/ppt/charts/chart2.xml" ContentType="application/vnd.openxmlformats-officedocument.drawingml.chart+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slideLayouts/slideLayout1.xml" ContentType="application/vnd.openxmlformats-officedocument.presentationml.slideLayout+xml"/>
  <Override PartName="/ppt/slideLayouts/_rels/slideLayout1.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media/image1.jpeg" ContentType="image/jpeg"/>
  <Override PartName="/ppt/media/image3.png" ContentType="image/png"/>
  <Override PartName="/ppt/media/image2.png" ContentType="image/png"/>
  <Override PartName="/ppt/media/image4.png" ContentType="image/png"/>
  <Override PartName="/ppt/media/image6.jpeg" ContentType="image/jpeg"/>
  <Override PartName="/ppt/media/image5.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b="0" sz="1300" strike="noStrike" u="none">
                <a:solidFill>
                  <a:srgbClr val="000000"/>
                </a:solidFill>
                <a:uFillTx/>
                <a:latin typeface="Arial"/>
              </a:defRPr>
            </a:pPr>
            <a:r>
              <a:rPr b="0" sz="1200" strike="noStrike" u="none">
                <a:solidFill>
                  <a:srgbClr val="172033"/>
                </a:solidFill>
                <a:uFillTx/>
                <a:latin typeface="Calibri"/>
              </a:rPr>
              <a:t>Validation accuracy per epoch, unseen lot UFPR05 (%)</a:t>
            </a:r>
          </a:p>
        </c:rich>
      </c:tx>
      <c:overlay val="0"/>
      <c:spPr>
        <a:noFill/>
        <a:ln w="0">
          <a:noFill/>
        </a:ln>
      </c:spPr>
    </c:title>
    <c:autoTitleDeleted val="0"/>
    <c:plotArea>
      <c:lineChart>
        <c:grouping val="standard"/>
        <c:varyColors val="0"/>
        <c:ser>
          <c:idx val="0"/>
          <c:order val="0"/>
          <c:tx>
            <c:strRef>
              <c:f>label 0</c:f>
              <c:strCache>
                <c:ptCount val="1"/>
                <c:pt idx="0">
                  <c:v>Validation accuracy (%)</c:v>
                </c:pt>
              </c:strCache>
            </c:strRef>
          </c:tx>
          <c:spPr>
            <a:solidFill>
              <a:srgbClr val="0f766e"/>
            </a:solidFill>
            <a:ln w="31680">
              <a:solidFill>
                <a:srgbClr val="0f766e"/>
              </a:solidFill>
              <a:round/>
            </a:ln>
          </c:spPr>
          <c:marker>
            <c:symbol val="circle"/>
            <c:size val="6"/>
            <c:spPr>
              <a:solidFill>
                <a:srgbClr val="0f766e"/>
              </a:solidFill>
            </c:spPr>
          </c:marker>
          <c:dLbls>
            <c:txPr>
              <a:bodyPr wrap="square"/>
              <a:lstStyle/>
              <a:p>
                <a:pPr>
                  <a:defRPr b="0" sz="1200" strike="noStrike" u="none">
                    <a:solidFill>
                      <a:srgbClr val="000000"/>
                    </a:solidFill>
                    <a:uFillTx/>
                    <a:latin typeface="Arial"/>
                  </a:defRPr>
                </a:pPr>
              </a:p>
            </c:txPr>
            <c:dLblPos val="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5"/>
                <c:pt idx="0">
                  <c:v>P1-1</c:v>
                </c:pt>
                <c:pt idx="1">
                  <c:v>P1-2</c:v>
                </c:pt>
                <c:pt idx="2">
                  <c:v>P1-3</c:v>
                </c:pt>
                <c:pt idx="3">
                  <c:v>P1-4</c:v>
                </c:pt>
                <c:pt idx="4">
                  <c:v>P1-5</c:v>
                </c:pt>
                <c:pt idx="5">
                  <c:v>P2-1</c:v>
                </c:pt>
                <c:pt idx="6">
                  <c:v>P2-2</c:v>
                </c:pt>
                <c:pt idx="7">
                  <c:v>P2-3</c:v>
                </c:pt>
                <c:pt idx="8">
                  <c:v>P2-4</c:v>
                </c:pt>
                <c:pt idx="9">
                  <c:v>P2-5</c:v>
                </c:pt>
                <c:pt idx="10">
                  <c:v>P2-6</c:v>
                </c:pt>
                <c:pt idx="11">
                  <c:v>P2-7</c:v>
                </c:pt>
                <c:pt idx="12">
                  <c:v>P2-8</c:v>
                </c:pt>
                <c:pt idx="13">
                  <c:v>P2-9</c:v>
                </c:pt>
                <c:pt idx="14">
                  <c:v>P2-10</c:v>
                </c:pt>
              </c:strCache>
            </c:strRef>
          </c:cat>
          <c:val>
            <c:numRef>
              <c:f>0</c:f>
              <c:numCache>
                <c:formatCode>General</c:formatCode>
                <c:ptCount val="15"/>
                <c:pt idx="0">
                  <c:v>96.31</c:v>
                </c:pt>
                <c:pt idx="1">
                  <c:v>96.98</c:v>
                </c:pt>
                <c:pt idx="2">
                  <c:v>96.55</c:v>
                </c:pt>
                <c:pt idx="3">
                  <c:v>96.24</c:v>
                </c:pt>
                <c:pt idx="4">
                  <c:v>97.28</c:v>
                </c:pt>
                <c:pt idx="5">
                  <c:v>98.16</c:v>
                </c:pt>
                <c:pt idx="6">
                  <c:v>99.15</c:v>
                </c:pt>
                <c:pt idx="7">
                  <c:v>99</c:v>
                </c:pt>
                <c:pt idx="8">
                  <c:v>99.1</c:v>
                </c:pt>
                <c:pt idx="9">
                  <c:v>98.7</c:v>
                </c:pt>
                <c:pt idx="10">
                  <c:v>98.86</c:v>
                </c:pt>
                <c:pt idx="11">
                  <c:v>97.29</c:v>
                </c:pt>
                <c:pt idx="12">
                  <c:v>98.97</c:v>
                </c:pt>
                <c:pt idx="13">
                  <c:v>99.18</c:v>
                </c:pt>
                <c:pt idx="14">
                  <c:v>98.93</c:v>
                </c:pt>
              </c:numCache>
            </c:numRef>
          </c:val>
          <c:smooth val="0"/>
        </c:ser>
        <c:hiLowLines>
          <c:spPr>
            <a:ln w="0">
              <a:noFill/>
            </a:ln>
          </c:spPr>
        </c:hiLowLines>
        <c:marker val="1"/>
        <c:axId val="77492310"/>
        <c:axId val="88032499"/>
      </c:lineChart>
      <c:catAx>
        <c:axId val="77492310"/>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000" strike="noStrike" u="none">
                <a:solidFill>
                  <a:srgbClr val="64748b"/>
                </a:solidFill>
                <a:uFillTx/>
                <a:latin typeface="Arial"/>
              </a:defRPr>
            </a:pPr>
          </a:p>
        </c:txPr>
        <c:crossAx val="88032499"/>
        <c:crosses val="autoZero"/>
        <c:auto val="1"/>
        <c:lblAlgn val="ctr"/>
        <c:lblOffset val="100"/>
        <c:noMultiLvlLbl val="0"/>
      </c:catAx>
      <c:valAx>
        <c:axId val="88032499"/>
        <c:scaling>
          <c:orientation val="minMax"/>
          <c:max val="99.5"/>
          <c:min val="96"/>
        </c:scaling>
        <c:delete val="0"/>
        <c:axPos val="l"/>
        <c:majorGridlines>
          <c:spPr>
            <a:ln w="9360">
              <a:solidFill>
                <a:srgbClr val="e2e8f0"/>
              </a:solidFill>
              <a:round/>
            </a:ln>
          </c:spPr>
        </c:majorGridlines>
        <c:numFmt formatCode="0.0" sourceLinked="0"/>
        <c:majorTickMark val="out"/>
        <c:minorTickMark val="none"/>
        <c:tickLblPos val="nextTo"/>
        <c:spPr>
          <a:ln w="12600">
            <a:solidFill>
              <a:srgbClr val="888888"/>
            </a:solidFill>
            <a:round/>
          </a:ln>
        </c:spPr>
        <c:txPr>
          <a:bodyPr/>
          <a:lstStyle/>
          <a:p>
            <a:pPr>
              <a:defRPr b="0" sz="1000" strike="noStrike" u="none">
                <a:solidFill>
                  <a:srgbClr val="64748b"/>
                </a:solidFill>
                <a:uFillTx/>
                <a:latin typeface="Arial"/>
              </a:defRPr>
            </a:pPr>
          </a:p>
        </c:txPr>
        <c:crossAx val="77492310"/>
        <c:crosses val="autoZero"/>
        <c:crossBetween val="between"/>
        <c:majorUnit val="0.5"/>
      </c:valAx>
      <c:spPr>
        <a:noFill/>
        <a:ln w="0">
          <a:noFill/>
        </a:ln>
      </c:spPr>
    </c:plotArea>
    <c:plotVisOnly val="1"/>
    <c:dispBlanksAs val="span"/>
  </c:chart>
  <c:spPr>
    <a:noFill/>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c:chart>
    <c:title>
      <c:tx>
        <c:rich>
          <a:bodyPr rot="0"/>
          <a:lstStyle/>
          <a:p>
            <a:pPr>
              <a:defRPr b="0" sz="1300" strike="noStrike" u="none">
                <a:solidFill>
                  <a:srgbClr val="000000"/>
                </a:solidFill>
                <a:uFillTx/>
                <a:latin typeface="Arial"/>
              </a:defRPr>
            </a:pPr>
            <a:r>
              <a:rPr b="0" sz="1150" strike="noStrike" u="none">
                <a:solidFill>
                  <a:srgbClr val="172033"/>
                </a:solidFill>
                <a:uFillTx/>
                <a:latin typeface="Calibri"/>
              </a:rPr>
              <a:t>Example: hourly rate (BDT) vs. occupancy (%)</a:t>
            </a:r>
          </a:p>
        </c:rich>
      </c:tx>
      <c:overlay val="0"/>
      <c:spPr>
        <a:noFill/>
        <a:ln w="0">
          <a:noFill/>
        </a:ln>
      </c:spPr>
    </c:title>
    <c:autoTitleDeleted val="0"/>
    <c:plotArea>
      <c:barChart>
        <c:barDir val="col"/>
        <c:grouping val="stacked"/>
        <c:varyColors val="0"/>
        <c:ser>
          <c:idx val="0"/>
          <c:order val="0"/>
          <c:tx>
            <c:strRef>
              <c:f>label 0</c:f>
              <c:strCache>
                <c:ptCount val="1"/>
                <c:pt idx="0">
                  <c:v>Base rate</c:v>
                </c:pt>
              </c:strCache>
            </c:strRef>
          </c:tx>
          <c:spPr>
            <a:solidFill>
              <a:srgbClr val="94a3b8"/>
            </a:solidFill>
            <a:ln w="0">
              <a:noFill/>
            </a:ln>
          </c:spPr>
          <c:invertIfNegative val="0"/>
          <c:dLbls>
            <c:txPr>
              <a:bodyPr wrap="square"/>
              <a:lstStyle/>
              <a:p>
                <a:pPr>
                  <a:defRPr b="0" sz="1200" strike="noStrike" u="none">
                    <a:solidFill>
                      <a:srgbClr val="000000"/>
                    </a:solidFill>
                    <a:uFillTx/>
                    <a:latin typeface="Arial"/>
                  </a:defRPr>
                </a:pPr>
              </a:p>
            </c:txPr>
            <c:dLblPos val="ct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1"/>
                <c:pt idx="0">
                  <c:v>0</c:v>
                </c:pt>
                <c:pt idx="1">
                  <c:v>10</c:v>
                </c:pt>
                <c:pt idx="2">
                  <c:v>20</c:v>
                </c:pt>
                <c:pt idx="3">
                  <c:v>30</c:v>
                </c:pt>
                <c:pt idx="4">
                  <c:v>40</c:v>
                </c:pt>
                <c:pt idx="5">
                  <c:v>50</c:v>
                </c:pt>
                <c:pt idx="6">
                  <c:v>60</c:v>
                </c:pt>
                <c:pt idx="7">
                  <c:v>70</c:v>
                </c:pt>
                <c:pt idx="8">
                  <c:v>80</c:v>
                </c:pt>
                <c:pt idx="9">
                  <c:v>90</c:v>
                </c:pt>
                <c:pt idx="10">
                  <c:v>100</c:v>
                </c:pt>
              </c:strCache>
            </c:strRef>
          </c:cat>
          <c:val>
            <c:numRef>
              <c:f>0</c:f>
              <c:numCache>
                <c:formatCode>General</c:formatCode>
                <c:ptCount val="11"/>
                <c:pt idx="0">
                  <c:v>40</c:v>
                </c:pt>
                <c:pt idx="1">
                  <c:v>40</c:v>
                </c:pt>
                <c:pt idx="2">
                  <c:v>40</c:v>
                </c:pt>
                <c:pt idx="3">
                  <c:v>40</c:v>
                </c:pt>
                <c:pt idx="4">
                  <c:v>40</c:v>
                </c:pt>
                <c:pt idx="5">
                  <c:v>40</c:v>
                </c:pt>
                <c:pt idx="6">
                  <c:v>40</c:v>
                </c:pt>
                <c:pt idx="7">
                  <c:v>40</c:v>
                </c:pt>
                <c:pt idx="8">
                  <c:v>0</c:v>
                </c:pt>
                <c:pt idx="9">
                  <c:v>0</c:v>
                </c:pt>
                <c:pt idx="10">
                  <c:v>0</c:v>
                </c:pt>
              </c:numCache>
            </c:numRef>
          </c:val>
        </c:ser>
        <c:ser>
          <c:idx val="1"/>
          <c:order val="1"/>
          <c:tx>
            <c:strRef>
              <c:f>label 1</c:f>
              <c:strCache>
                <c:ptCount val="1"/>
                <c:pt idx="0">
                  <c:v>Surge (×1.5)</c:v>
                </c:pt>
              </c:strCache>
            </c:strRef>
          </c:tx>
          <c:spPr>
            <a:solidFill>
              <a:srgbClr val="0f766e"/>
            </a:solidFill>
            <a:ln w="0">
              <a:noFill/>
            </a:ln>
          </c:spPr>
          <c:invertIfNegative val="0"/>
          <c:dLbls>
            <c:txPr>
              <a:bodyPr wrap="square"/>
              <a:lstStyle/>
              <a:p>
                <a:pPr>
                  <a:defRPr b="0" sz="1200" strike="noStrike" u="none">
                    <a:solidFill>
                      <a:srgbClr val="000000"/>
                    </a:solidFill>
                    <a:uFillTx/>
                    <a:latin typeface="Arial"/>
                  </a:defRPr>
                </a:pPr>
              </a:p>
            </c:txPr>
            <c:dLblPos val="ctr"/>
            <c:showLegendKey val="0"/>
            <c:showVal val="0"/>
            <c:showCatName val="0"/>
            <c:showSerName val="0"/>
            <c:showPercent val="0"/>
            <c:separator>; </c:separator>
            <c:showLeaderLines val="0"/>
            <c:extLst>
              <c:ext xmlns:c15="http://schemas.microsoft.com/office/drawing/2012/chart" uri="{CE6537A1-D6FC-4f65-9D91-7224C49458BB}">
                <c15:showLeaderLines val="0"/>
              </c:ext>
            </c:extLst>
          </c:dLbls>
          <c:cat>
            <c:strRef>
              <c:f>categories</c:f>
              <c:strCache>
                <c:ptCount val="11"/>
                <c:pt idx="0">
                  <c:v>0</c:v>
                </c:pt>
                <c:pt idx="1">
                  <c:v>10</c:v>
                </c:pt>
                <c:pt idx="2">
                  <c:v>20</c:v>
                </c:pt>
                <c:pt idx="3">
                  <c:v>30</c:v>
                </c:pt>
                <c:pt idx="4">
                  <c:v>40</c:v>
                </c:pt>
                <c:pt idx="5">
                  <c:v>50</c:v>
                </c:pt>
                <c:pt idx="6">
                  <c:v>60</c:v>
                </c:pt>
                <c:pt idx="7">
                  <c:v>70</c:v>
                </c:pt>
                <c:pt idx="8">
                  <c:v>80</c:v>
                </c:pt>
                <c:pt idx="9">
                  <c:v>90</c:v>
                </c:pt>
                <c:pt idx="10">
                  <c:v>100</c:v>
                </c:pt>
              </c:strCache>
            </c:strRef>
          </c:cat>
          <c:val>
            <c:numRef>
              <c:f>1</c:f>
              <c:numCache>
                <c:formatCode>General</c:formatCode>
                <c:ptCount val="11"/>
                <c:pt idx="0">
                  <c:v>0</c:v>
                </c:pt>
                <c:pt idx="1">
                  <c:v>0</c:v>
                </c:pt>
                <c:pt idx="2">
                  <c:v>0</c:v>
                </c:pt>
                <c:pt idx="3">
                  <c:v>0</c:v>
                </c:pt>
                <c:pt idx="4">
                  <c:v>0</c:v>
                </c:pt>
                <c:pt idx="5">
                  <c:v>0</c:v>
                </c:pt>
                <c:pt idx="6">
                  <c:v>0</c:v>
                </c:pt>
                <c:pt idx="7">
                  <c:v>0</c:v>
                </c:pt>
                <c:pt idx="8">
                  <c:v>60</c:v>
                </c:pt>
                <c:pt idx="9">
                  <c:v>60</c:v>
                </c:pt>
                <c:pt idx="10">
                  <c:v>60</c:v>
                </c:pt>
              </c:numCache>
            </c:numRef>
          </c:val>
        </c:ser>
        <c:gapWidth val="45"/>
        <c:overlap val="100"/>
        <c:axId val="2812518"/>
        <c:axId val="65534593"/>
      </c:barChart>
      <c:catAx>
        <c:axId val="2812518"/>
        <c:scaling>
          <c:orientation val="minMax"/>
        </c:scaling>
        <c:delete val="0"/>
        <c:axPos val="b"/>
        <c:numFmt formatCode="General" sourceLinked="0"/>
        <c:majorTickMark val="out"/>
        <c:minorTickMark val="none"/>
        <c:tickLblPos val="low"/>
        <c:spPr>
          <a:ln w="12600">
            <a:solidFill>
              <a:srgbClr val="888888"/>
            </a:solidFill>
            <a:round/>
          </a:ln>
        </c:spPr>
        <c:txPr>
          <a:bodyPr/>
          <a:lstStyle/>
          <a:p>
            <a:pPr>
              <a:defRPr b="0" sz="1000" strike="noStrike" u="none">
                <a:solidFill>
                  <a:srgbClr val="64748b"/>
                </a:solidFill>
                <a:uFillTx/>
                <a:latin typeface="Arial"/>
              </a:defRPr>
            </a:pPr>
          </a:p>
        </c:txPr>
        <c:crossAx val="65534593"/>
        <c:crosses val="autoZero"/>
        <c:auto val="1"/>
        <c:lblAlgn val="ctr"/>
        <c:lblOffset val="100"/>
        <c:noMultiLvlLbl val="0"/>
      </c:catAx>
      <c:valAx>
        <c:axId val="65534593"/>
        <c:scaling>
          <c:orientation val="minMax"/>
          <c:max val="70"/>
          <c:min val="0"/>
        </c:scaling>
        <c:delete val="0"/>
        <c:axPos val="l"/>
        <c:majorGridlines>
          <c:spPr>
            <a:ln w="9360">
              <a:solidFill>
                <a:srgbClr val="e2e8f0"/>
              </a:solidFill>
              <a:round/>
            </a:ln>
          </c:spPr>
        </c:majorGridlines>
        <c:numFmt formatCode="General" sourceLinked="0"/>
        <c:majorTickMark val="out"/>
        <c:minorTickMark val="none"/>
        <c:tickLblPos val="nextTo"/>
        <c:spPr>
          <a:ln w="12600">
            <a:solidFill>
              <a:srgbClr val="888888"/>
            </a:solidFill>
            <a:round/>
          </a:ln>
        </c:spPr>
        <c:txPr>
          <a:bodyPr/>
          <a:lstStyle/>
          <a:p>
            <a:pPr>
              <a:defRPr b="0" sz="1000" strike="noStrike" u="none">
                <a:solidFill>
                  <a:srgbClr val="64748b"/>
                </a:solidFill>
                <a:uFillTx/>
                <a:latin typeface="Arial"/>
              </a:defRPr>
            </a:pPr>
          </a:p>
        </c:txPr>
        <c:crossAx val="2812518"/>
        <c:crosses val="autoZero"/>
        <c:crossBetween val="between"/>
        <c:majorUnit val="10"/>
      </c:valAx>
      <c:spPr>
        <a:noFill/>
        <a:ln w="0">
          <a:noFill/>
        </a:ln>
      </c:spPr>
    </c:plotArea>
    <c:legend>
      <c:legendPos val="r"/>
      <c:overlay val="0"/>
      <c:spPr>
        <a:noFill/>
        <a:ln w="0">
          <a:noFill/>
        </a:ln>
      </c:spPr>
      <c:txPr>
        <a:bodyPr/>
        <a:lstStyle/>
        <a:p>
          <a:pPr>
            <a:defRPr b="0" sz="1000" strike="noStrike" u="none">
              <a:solidFill>
                <a:srgbClr val="64748b"/>
              </a:solidFill>
              <a:uFillTx/>
              <a:latin typeface="Calibri"/>
            </a:defRPr>
          </a:pPr>
        </a:p>
      </c:txPr>
    </c:legend>
    <c:plotVisOnly val="1"/>
    <c:dispBlanksAs val="span"/>
  </c:chart>
  <c:spPr>
    <a:noFill/>
    <a:ln w="0">
      <a:noFill/>
    </a:ln>
  </c:spPr>
</c:chartSpace>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FDCF426F-2523-46EE-93A9-EC8F9937B97F}"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sldImg"/>
          </p:nvPr>
        </p:nvSpPr>
        <p:spPr>
          <a:xfrm>
            <a:off x="685800" y="1143000"/>
            <a:ext cx="5485680" cy="3085560"/>
          </a:xfrm>
          <a:prstGeom prst="rect">
            <a:avLst/>
          </a:prstGeom>
          <a:ln w="0">
            <a:noFill/>
          </a:ln>
        </p:spPr>
      </p:sp>
      <p:sp>
        <p:nvSpPr>
          <p:cNvPr id="26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 min] Introduce all four members by full name (course rule). The talk has four parts: ML and backend, mobile app, web frontend, then engineering scope and plan. One line: CityPulse finds free parking from existing CCTV; today we review 499A and present the 499B plan.</a:t>
            </a:r>
            <a:endParaRPr b="0" lang="en-US" sz="2000" strike="noStrike" u="none">
              <a:solidFill>
                <a:srgbClr val="000000"/>
              </a:solidFill>
              <a:effectLst/>
              <a:uFillTx/>
              <a:latin typeface="Arial"/>
            </a:endParaRPr>
          </a:p>
        </p:txBody>
      </p:sp>
      <p:sp>
        <p:nvSpPr>
          <p:cNvPr id="263" name="PlaceHolder 3"/>
          <p:cNvSpPr>
            <a:spLocks noGrp="1"/>
          </p:cNvSpPr>
          <p:nvPr>
            <p:ph type="sldNum" idx="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4458C544-04D4-4727-A871-CDAC9EFA332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sldImg"/>
          </p:nvPr>
        </p:nvSpPr>
        <p:spPr>
          <a:xfrm>
            <a:off x="685800" y="1143000"/>
            <a:ext cx="5485680" cy="3085560"/>
          </a:xfrm>
          <a:prstGeom prst="rect">
            <a:avLst/>
          </a:prstGeom>
          <a:ln w="0">
            <a:noFill/>
          </a:ln>
        </p:spPr>
      </p:sp>
      <p:sp>
        <p:nvSpPr>
          <p:cNvPr id="26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Four problems. The first two were the focus of 499A; the last two (vehicle identification, pricing) are new in 499B. The table shows the gap: nobody senses availability automatically. The NSU paper is our baseline to beat.</a:t>
            </a:r>
            <a:endParaRPr b="0" lang="en-US" sz="2000" strike="noStrike" u="none">
              <a:solidFill>
                <a:srgbClr val="000000"/>
              </a:solidFill>
              <a:effectLst/>
              <a:uFillTx/>
              <a:latin typeface="Arial"/>
            </a:endParaRPr>
          </a:p>
        </p:txBody>
      </p:sp>
      <p:sp>
        <p:nvSpPr>
          <p:cNvPr id="266" name="PlaceHolder 3"/>
          <p:cNvSpPr>
            <a:spLocks noGrp="1"/>
          </p:cNvSpPr>
          <p:nvPr>
            <p:ph type="sldNum" idx="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2FFF46F-EBA5-4423-8091-088CD15BC50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sldImg"/>
          </p:nvPr>
        </p:nvSpPr>
        <p:spPr>
          <a:xfrm>
            <a:off x="685800" y="1143000"/>
            <a:ext cx="5485680" cy="3085560"/>
          </a:xfrm>
          <a:prstGeom prst="rect">
            <a:avLst/>
          </a:prstGeom>
          <a:ln w="0">
            <a:noFill/>
          </a:ln>
        </p:spPr>
      </p:sp>
      <p:sp>
        <p:nvSpPr>
          <p:cNvPr id="26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Walk the table quickly. Be direct about partial items: they are exactly what 499B completes. Booking was only 'future work' in the proposal and we built it anyway.</a:t>
            </a:r>
            <a:endParaRPr b="0" lang="en-US" sz="2000" strike="noStrike" u="none">
              <a:solidFill>
                <a:srgbClr val="000000"/>
              </a:solidFill>
              <a:effectLst/>
              <a:uFillTx/>
              <a:latin typeface="Arial"/>
            </a:endParaRPr>
          </a:p>
        </p:txBody>
      </p:sp>
      <p:sp>
        <p:nvSpPr>
          <p:cNvPr id="269" name="PlaceHolder 3"/>
          <p:cNvSpPr>
            <a:spLocks noGrp="1"/>
          </p:cNvSpPr>
          <p:nvPr>
            <p:ph type="sldNum" idx="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DA93DA1B-F484-4738-8A17-B5C2AAD5086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sldImg"/>
          </p:nvPr>
        </p:nvSpPr>
        <p:spPr>
          <a:xfrm>
            <a:off x="685800" y="1143000"/>
            <a:ext cx="5485680" cy="3085560"/>
          </a:xfrm>
          <a:prstGeom prst="rect">
            <a:avLst/>
          </a:prstGeom>
          <a:ln w="0">
            <a:noFill/>
          </a:ln>
        </p:spPr>
      </p:sp>
      <p:sp>
        <p:nvSpPr>
          <p:cNvPr id="27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Cross-lot: the validation lot UFPR05 never appears in training, so this reflects a newly registered facility. Epoch 7 dip shows why we select by validation accuracy. Be honest: this is an international lot; Dhaka is the first 499B objective.</a:t>
            </a:r>
            <a:endParaRPr b="0" lang="en-US" sz="2000" strike="noStrike" u="none">
              <a:solidFill>
                <a:srgbClr val="000000"/>
              </a:solidFill>
              <a:effectLst/>
              <a:uFillTx/>
              <a:latin typeface="Arial"/>
            </a:endParaRPr>
          </a:p>
        </p:txBody>
      </p:sp>
      <p:sp>
        <p:nvSpPr>
          <p:cNvPr id="272" name="PlaceHolder 3"/>
          <p:cNvSpPr>
            <a:spLocks noGrp="1"/>
          </p:cNvSpPr>
          <p:nvPr>
            <p:ph type="sldNum" idx="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2FECD1BA-97D6-4BD4-97E6-A2B41FC35E7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sldImg"/>
          </p:nvPr>
        </p:nvSpPr>
        <p:spPr>
          <a:xfrm>
            <a:off x="685800" y="1143000"/>
            <a:ext cx="5485680" cy="3085560"/>
          </a:xfrm>
          <a:prstGeom prst="rect">
            <a:avLst/>
          </a:prstGeom>
          <a:ln w="0">
            <a:noFill/>
          </a:ln>
        </p:spPr>
      </p:sp>
      <p:sp>
        <p:nvSpPr>
          <p:cNvPr id="27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This is the bridge between the two halves. We did not invent the 499B scope; it comes directly from the limitations section of our own 499A report.</a:t>
            </a:r>
            <a:endParaRPr b="0" lang="en-US" sz="2000" strike="noStrike" u="none">
              <a:solidFill>
                <a:srgbClr val="000000"/>
              </a:solidFill>
              <a:effectLst/>
              <a:uFillTx/>
              <a:latin typeface="Arial"/>
            </a:endParaRPr>
          </a:p>
        </p:txBody>
      </p:sp>
      <p:sp>
        <p:nvSpPr>
          <p:cNvPr id="275" name="PlaceHolder 3"/>
          <p:cNvSpPr>
            <a:spLocks noGrp="1"/>
          </p:cNvSpPr>
          <p:nvPr>
            <p:ph type="sldNum" idx="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C07B477D-E7AD-48F7-A363-F00CF90C714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sldImg"/>
          </p:nvPr>
        </p:nvSpPr>
        <p:spPr>
          <a:xfrm>
            <a:off x="685800" y="1143000"/>
            <a:ext cx="5485680" cy="3085560"/>
          </a:xfrm>
          <a:prstGeom prst="rect">
            <a:avLst/>
          </a:prstGeom>
          <a:ln w="0">
            <a:noFill/>
          </a:ln>
        </p:spPr>
      </p:sp>
      <p:sp>
        <p:nvSpPr>
          <p:cNvPr id="27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[~2 min] Same 499A architecture; three new components in teal (pricing, stream worker, plate LPR). Redis + WebSocket was already in our 499A design document, 499B builds it. O1 is the key experiment: how does the 499A model do on Dhaka data before and after fine-tuning.</a:t>
            </a:r>
            <a:endParaRPr b="0" lang="en-US" sz="2000" strike="noStrike" u="none">
              <a:solidFill>
                <a:srgbClr val="000000"/>
              </a:solidFill>
              <a:effectLst/>
              <a:uFillTx/>
              <a:latin typeface="Arial"/>
            </a:endParaRPr>
          </a:p>
        </p:txBody>
      </p:sp>
      <p:sp>
        <p:nvSpPr>
          <p:cNvPr id="278" name="PlaceHolder 3"/>
          <p:cNvSpPr>
            <a:spLocks noGrp="1"/>
          </p:cNvSpPr>
          <p:nvPr>
            <p:ph type="sldNum" idx="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C220D1F-693B-43F6-89FE-C1B74D7E6E4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sldImg"/>
          </p:nvPr>
        </p:nvSpPr>
        <p:spPr>
          <a:xfrm>
            <a:off x="685800" y="1143000"/>
            <a:ext cx="5485680" cy="3085560"/>
          </a:xfrm>
          <a:prstGeom prst="rect">
            <a:avLst/>
          </a:prstGeom>
          <a:ln w="0">
            <a:noFill/>
          </a:ln>
        </p:spPr>
      </p:sp>
      <p:sp>
        <p:nvSpPr>
          <p:cNvPr id="28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[~2 min] LPR reuses the O2 stream. Bangla plates have two lines, which is why OCR is the hard part. Privacy comes from our 499A legal review. Pricing: the chart is an example with a 40 BDT base; the input is live occupancy from the vision model, so pricing depends on O2.</a:t>
            </a:r>
            <a:endParaRPr b="0" lang="en-US" sz="2000" strike="noStrike" u="none">
              <a:solidFill>
                <a:srgbClr val="000000"/>
              </a:solidFill>
              <a:effectLst/>
              <a:uFillTx/>
              <a:latin typeface="Arial"/>
            </a:endParaRPr>
          </a:p>
        </p:txBody>
      </p:sp>
      <p:sp>
        <p:nvSpPr>
          <p:cNvPr id="281" name="PlaceHolder 3"/>
          <p:cNvSpPr>
            <a:spLocks noGrp="1"/>
          </p:cNvSpPr>
          <p:nvPr>
            <p:ph type="sldNum" idx="10"/>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B218BFB1-56FD-4595-B95F-7D5C1A23BA8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685800" y="1143000"/>
            <a:ext cx="5485680" cy="3085560"/>
          </a:xfrm>
          <a:prstGeom prst="rect">
            <a:avLst/>
          </a:prstGeom>
          <a:ln w="0">
            <a:noFill/>
          </a:ln>
        </p:spPr>
      </p:sp>
      <p:sp>
        <p:nvSpPr>
          <p:cNvPr id="28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Mobile part. The app is layered: screens only call services, services call the REST API, models carry the JSON. Session persists across launches.</a:t>
            </a:r>
            <a:endParaRPr b="0" lang="en-US" sz="2000" strike="noStrike" u="none">
              <a:solidFill>
                <a:srgbClr val="000000"/>
              </a:solidFill>
              <a:effectLst/>
              <a:uFillTx/>
              <a:latin typeface="Arial"/>
            </a:endParaRPr>
          </a:p>
        </p:txBody>
      </p:sp>
      <p:sp>
        <p:nvSpPr>
          <p:cNvPr id="284" name="PlaceHolder 3"/>
          <p:cNvSpPr>
            <a:spLocks noGrp="1"/>
          </p:cNvSpPr>
          <p:nvPr>
            <p:ph type="sldNum" idx="11"/>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48EB166D-1EA9-4CFC-BA4A-179ADC1B85B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PlaceHolder 1"/>
          <p:cNvSpPr>
            <a:spLocks noGrp="1"/>
          </p:cNvSpPr>
          <p:nvPr>
            <p:ph type="sldImg"/>
          </p:nvPr>
        </p:nvSpPr>
        <p:spPr>
          <a:xfrm>
            <a:off x="685800" y="1143000"/>
            <a:ext cx="5485680" cy="3085560"/>
          </a:xfrm>
          <a:prstGeom prst="rect">
            <a:avLst/>
          </a:prstGeom>
          <a:ln w="0">
            <a:noFill/>
          </a:ln>
        </p:spPr>
      </p:sp>
      <p:sp>
        <p:nvSpPr>
          <p:cNvPr id="28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Walk left to right: the driver sees nearby lots, opens one, picks a duration, gets a confirmation, and can manage the booking later. All of this calls the real backend.</a:t>
            </a:r>
            <a:endParaRPr b="0" lang="en-US" sz="2000" strike="noStrike" u="none">
              <a:solidFill>
                <a:srgbClr val="000000"/>
              </a:solidFill>
              <a:effectLst/>
              <a:uFillTx/>
              <a:latin typeface="Arial"/>
            </a:endParaRPr>
          </a:p>
        </p:txBody>
      </p:sp>
      <p:sp>
        <p:nvSpPr>
          <p:cNvPr id="287" name="PlaceHolder 3"/>
          <p:cNvSpPr>
            <a:spLocks noGrp="1"/>
          </p:cNvSpPr>
          <p:nvPr>
            <p:ph type="sldNum" idx="12"/>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DD296CE-E64D-43AB-95F4-13FC3072EFB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8" name="PlaceHolder 1"/>
          <p:cNvSpPr>
            <a:spLocks noGrp="1"/>
          </p:cNvSpPr>
          <p:nvPr>
            <p:ph type="sldImg"/>
          </p:nvPr>
        </p:nvSpPr>
        <p:spPr>
          <a:xfrm>
            <a:off x="685800" y="1143000"/>
            <a:ext cx="5485680" cy="3085560"/>
          </a:xfrm>
          <a:prstGeom prst="rect">
            <a:avLst/>
          </a:prstGeom>
          <a:ln w="0">
            <a:noFill/>
          </a:ln>
        </p:spPr>
      </p:sp>
      <p:sp>
        <p:nvSpPr>
          <p:cNvPr id="28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Two items come from the system objectives: live slot updates (O2) and dynamic prices (O4). The rest is the app's own maturity work listed as future scope at the end of 499A.</a:t>
            </a:r>
            <a:endParaRPr b="0" lang="en-US" sz="2000" strike="noStrike" u="none">
              <a:solidFill>
                <a:srgbClr val="000000"/>
              </a:solidFill>
              <a:effectLst/>
              <a:uFillTx/>
              <a:latin typeface="Arial"/>
            </a:endParaRPr>
          </a:p>
        </p:txBody>
      </p:sp>
      <p:sp>
        <p:nvSpPr>
          <p:cNvPr id="290" name="PlaceHolder 3"/>
          <p:cNvSpPr>
            <a:spLocks noGrp="1"/>
          </p:cNvSpPr>
          <p:nvPr>
            <p:ph type="sldNum" idx="13"/>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EA27E99D-651F-482B-8D65-34AB967193B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5800" y="1143000"/>
            <a:ext cx="5485680" cy="3085560"/>
          </a:xfrm>
          <a:prstGeom prst="rect">
            <a:avLst/>
          </a:prstGeom>
          <a:ln w="0">
            <a:noFill/>
          </a:ln>
        </p:spPr>
      </p:sp>
      <p:sp>
        <p:nvSpPr>
          <p:cNvPr id="29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Frontend part. One Next.js app serves owners and authorities with role-based routing. Be clear about what is live (auth, owner lots) and what still uses demo data, which is exactly the 499B work.</a:t>
            </a:r>
            <a:endParaRPr b="0" lang="en-US" sz="2000" strike="noStrike" u="none">
              <a:solidFill>
                <a:srgbClr val="000000"/>
              </a:solidFill>
              <a:effectLst/>
              <a:uFillTx/>
              <a:latin typeface="Arial"/>
            </a:endParaRPr>
          </a:p>
        </p:txBody>
      </p:sp>
      <p:sp>
        <p:nvSpPr>
          <p:cNvPr id="293" name="PlaceHolder 3"/>
          <p:cNvSpPr>
            <a:spLocks noGrp="1"/>
          </p:cNvSpPr>
          <p:nvPr>
            <p:ph type="sldNum" idx="14"/>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09DCF89-B748-449A-AF6E-F1A8DA708FD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685800" y="1143000"/>
            <a:ext cx="5485680" cy="3085560"/>
          </a:xfrm>
          <a:prstGeom prst="rect">
            <a:avLst/>
          </a:prstGeom>
          <a:ln w="0">
            <a:noFill/>
          </a:ln>
        </p:spPr>
      </p:sp>
      <p:sp>
        <p:nvSpPr>
          <p:cNvPr id="29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Frontend quality from 499A: tests, coverage of the tested modules, and a login flow that cannot leave a stale signed-in screen after a failed refresh or logout.</a:t>
            </a:r>
            <a:endParaRPr b="0" lang="en-US" sz="2000" strike="noStrike" u="none">
              <a:solidFill>
                <a:srgbClr val="000000"/>
              </a:solidFill>
              <a:effectLst/>
              <a:uFillTx/>
              <a:latin typeface="Arial"/>
            </a:endParaRPr>
          </a:p>
        </p:txBody>
      </p:sp>
      <p:sp>
        <p:nvSpPr>
          <p:cNvPr id="296" name="PlaceHolder 3"/>
          <p:cNvSpPr>
            <a:spLocks noGrp="1"/>
          </p:cNvSpPr>
          <p:nvPr>
            <p:ph type="sldNum" idx="15"/>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439CFF9-339A-48C9-BAC1-07AB91C3619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PlaceHolder 1"/>
          <p:cNvSpPr>
            <a:spLocks noGrp="1"/>
          </p:cNvSpPr>
          <p:nvPr>
            <p:ph type="sldImg"/>
          </p:nvPr>
        </p:nvSpPr>
        <p:spPr>
          <a:xfrm>
            <a:off x="685800" y="1143000"/>
            <a:ext cx="5485680" cy="3085560"/>
          </a:xfrm>
          <a:prstGeom prst="rect">
            <a:avLst/>
          </a:prstGeom>
          <a:ln w="0">
            <a:noFill/>
          </a:ln>
        </p:spPr>
      </p:sp>
      <p:sp>
        <p:nvSpPr>
          <p:cNvPr id="29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Most of the 499B frontend work is wiring the existing designs to real data: the authority side gets plate search from O3, owners get slot review from O2 and pricing from O4.</a:t>
            </a:r>
            <a:endParaRPr b="0" lang="en-US" sz="2000" strike="noStrike" u="none">
              <a:solidFill>
                <a:srgbClr val="000000"/>
              </a:solidFill>
              <a:effectLst/>
              <a:uFillTx/>
              <a:latin typeface="Arial"/>
            </a:endParaRPr>
          </a:p>
        </p:txBody>
      </p:sp>
      <p:sp>
        <p:nvSpPr>
          <p:cNvPr id="299" name="PlaceHolder 3"/>
          <p:cNvSpPr>
            <a:spLocks noGrp="1"/>
          </p:cNvSpPr>
          <p:nvPr>
            <p:ph type="sldNum" idx="16"/>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423F056-3F28-46C6-96AD-ED368D48695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5800" y="1143000"/>
            <a:ext cx="5485680" cy="3085560"/>
          </a:xfrm>
          <a:prstGeom prst="rect">
            <a:avLst/>
          </a:prstGeom>
          <a:ln w="0">
            <a:noFill/>
          </a:ln>
        </p:spPr>
      </p:sp>
      <p:sp>
        <p:nvSpPr>
          <p:cNvPr id="30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[~1.5 min] P1 is mandatory. We claim five of P2–P7 and three activities, more than the minimum. P4 and A4 only become true through the 499B work, which is part of why we chose these objectives. To be confirmed with the supervisor.</a:t>
            </a:r>
            <a:endParaRPr b="0" lang="en-US" sz="2000" strike="noStrike" u="none">
              <a:solidFill>
                <a:srgbClr val="000000"/>
              </a:solidFill>
              <a:effectLst/>
              <a:uFillTx/>
              <a:latin typeface="Arial"/>
            </a:endParaRPr>
          </a:p>
        </p:txBody>
      </p:sp>
      <p:sp>
        <p:nvSpPr>
          <p:cNvPr id="302" name="PlaceHolder 3"/>
          <p:cNvSpPr>
            <a:spLocks noGrp="1"/>
          </p:cNvSpPr>
          <p:nvPr>
            <p:ph type="sldNum" idx="1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70A4561F-3F08-4D5F-8AD1-99B140E8398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5800" y="1143000"/>
            <a:ext cx="5485680" cy="3085560"/>
          </a:xfrm>
          <a:prstGeom prst="rect">
            <a:avLst/>
          </a:prstGeom>
          <a:ln w="0">
            <a:noFill/>
          </a:ln>
        </p:spPr>
      </p:sp>
      <p:sp>
        <p:nvSpPr>
          <p:cNvPr id="30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lnSpc>
                <a:spcPct val="100000"/>
              </a:lnSpc>
              <a:buNone/>
              <a:tabLst>
                <a:tab algn="l" pos="0"/>
              </a:tabLst>
            </a:pPr>
            <a:r>
              <a:rPr b="0" lang="en-US" sz="2000" strike="noStrike" u="none">
                <a:solidFill>
                  <a:srgbClr val="000000"/>
                </a:solidFill>
                <a:effectLst/>
                <a:uFillTx/>
                <a:latin typeface="Arial"/>
              </a:rPr>
              <a:t>[~1 min] Six two-week sprints, same study-then-build rhythm as 499A; each weekly update shows one sprint's result. Code and the one-minute video go on GitHub before class 10. Close: 499A proved the idea on benchmarks; 499B proves it in Dhaka for all three stakeholders.</a:t>
            </a:r>
            <a:endParaRPr b="0" lang="en-US" sz="2000" strike="noStrike" u="none">
              <a:solidFill>
                <a:srgbClr val="000000"/>
              </a:solidFill>
              <a:effectLst/>
              <a:uFillTx/>
              <a:latin typeface="Arial"/>
            </a:endParaRPr>
          </a:p>
        </p:txBody>
      </p:sp>
      <p:sp>
        <p:nvSpPr>
          <p:cNvPr id="305" name="PlaceHolder 3"/>
          <p:cNvSpPr>
            <a:spLocks noGrp="1"/>
          </p:cNvSpPr>
          <p:nvPr>
            <p:ph type="sldNum" idx="18"/>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58378C0B-7CAB-4586-A382-5C8FD8BC2B8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5680" cy="3085560"/>
          </a:xfrm>
          <a:prstGeom prst="rect">
            <a:avLst/>
          </a:prstGeom>
          <a:ln w="0">
            <a:noFill/>
          </a:ln>
        </p:spPr>
      </p:sp>
      <p:sp>
        <p:nvSpPr>
          <p:cNvPr id="30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308" name="PlaceHolder 3"/>
          <p:cNvSpPr>
            <a:spLocks noGrp="1"/>
          </p:cNvSpPr>
          <p:nvPr>
            <p:ph type="sldNum" idx="19"/>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6147C498-76BB-404C-B550-1F6DC88EEB4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chart" Target="../charts/chart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chart" Target="../charts/chart2.xml"/><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slideLayout" Target="../slideLayouts/slideLayout1.xml"/><Relationship Id="rId5"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9.jpe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slideLayout" Target="../slideLayouts/slideLayout1.xml"/><Relationship Id="rId8"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8.jpeg"/><Relationship Id="rId3" Type="http://schemas.openxmlformats.org/officeDocument/2006/relationships/slideLayout" Target="../slideLayouts/slideLayout1.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slideLayout" Target="../slideLayouts/slideLayout1.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4.jpeg"/><Relationship Id="rId3" Type="http://schemas.openxmlformats.org/officeDocument/2006/relationships/image" Target="../media/image15.jpeg"/><Relationship Id="rId4" Type="http://schemas.openxmlformats.org/officeDocument/2006/relationships/slideLayout" Target="../slideLayouts/slideLayout1.xml"/><Relationship Id="rId5"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 name="Image 0" descr="E:\remote\2026\team\499\tmp\499b\review-presentation\assets\cover.jpg"/>
          <p:cNvPicPr/>
          <p:nvPr/>
        </p:nvPicPr>
        <p:blipFill>
          <a:blip r:embed="rId1"/>
          <a:stretch/>
        </p:blipFill>
        <p:spPr>
          <a:xfrm>
            <a:off x="0" y="320040"/>
            <a:ext cx="12191040" cy="6628680"/>
          </a:xfrm>
          <a:prstGeom prst="rect">
            <a:avLst/>
          </a:prstGeom>
          <a:noFill/>
          <a:ln w="0">
            <a:noFill/>
          </a:ln>
        </p:spPr>
      </p:pic>
      <p:sp>
        <p:nvSpPr>
          <p:cNvPr id="9" name="Shape 0"/>
          <p:cNvSpPr/>
          <p:nvPr/>
        </p:nvSpPr>
        <p:spPr>
          <a:xfrm>
            <a:off x="2926080" y="320040"/>
            <a:ext cx="6336000" cy="1782360"/>
          </a:xfrm>
          <a:prstGeom prst="rect">
            <a:avLst/>
          </a:prstGeom>
          <a:gradFill rotWithShape="0">
            <a:gsLst>
              <a:gs pos="0">
                <a:srgbClr val="ffffff">
                  <a:alpha val="0"/>
                </a:srgbClr>
              </a:gs>
              <a:gs pos="50000">
                <a:srgbClr val="ffffff"/>
              </a:gs>
              <a:gs pos="100000">
                <a:srgbClr val="ffffff">
                  <a:alpha val="0"/>
                </a:srgbClr>
              </a:gs>
            </a:gsLst>
            <a:lin ang="5400000"/>
          </a:gradFill>
          <a:ln w="9525">
            <a:solidFill>
              <a:srgbClr val="ffffff">
                <a:alpha val="0"/>
              </a:srgbClr>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 name="Text 1"/>
          <p:cNvSpPr/>
          <p:nvPr/>
        </p:nvSpPr>
        <p:spPr>
          <a:xfrm>
            <a:off x="2926080" y="365760"/>
            <a:ext cx="6336000" cy="867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400" strike="noStrike" u="none">
                <a:solidFill>
                  <a:srgbClr val="002060"/>
                </a:solidFill>
                <a:effectLst/>
                <a:uFillTx/>
                <a:latin typeface="Arial"/>
                <a:ea typeface="Arial"/>
              </a:rPr>
              <a:t>City</a:t>
            </a:r>
            <a:r>
              <a:rPr b="1" lang="en-US" sz="5400" strike="noStrike" u="none">
                <a:solidFill>
                  <a:srgbClr val="00b9cc"/>
                </a:solidFill>
                <a:effectLst/>
                <a:uFillTx/>
                <a:latin typeface="Arial"/>
                <a:ea typeface="Arial"/>
              </a:rPr>
              <a:t>Pulse</a:t>
            </a:r>
            <a:endParaRPr b="0" lang="en-US" sz="5400" strike="noStrike" u="none">
              <a:solidFill>
                <a:srgbClr val="000000"/>
              </a:solidFill>
              <a:effectLst/>
              <a:uFillTx/>
              <a:latin typeface="Arial"/>
            </a:endParaRPr>
          </a:p>
        </p:txBody>
      </p:sp>
      <p:sp>
        <p:nvSpPr>
          <p:cNvPr id="11" name="Text 2"/>
          <p:cNvSpPr/>
          <p:nvPr/>
        </p:nvSpPr>
        <p:spPr>
          <a:xfrm>
            <a:off x="2926080" y="1234440"/>
            <a:ext cx="6336000" cy="3650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2000" strike="noStrike" u="none">
                <a:solidFill>
                  <a:srgbClr val="172033"/>
                </a:solidFill>
                <a:effectLst/>
                <a:uFillTx/>
                <a:latin typeface="Arial"/>
                <a:ea typeface="Arial"/>
              </a:rPr>
              <a:t>Intelligent Parking &amp; Traffic Control Platform</a:t>
            </a:r>
            <a:endParaRPr b="0" lang="en-US" sz="2000" strike="noStrike" u="none">
              <a:solidFill>
                <a:srgbClr val="000000"/>
              </a:solidFill>
              <a:effectLst/>
              <a:uFillTx/>
              <a:latin typeface="Arial"/>
            </a:endParaRPr>
          </a:p>
        </p:txBody>
      </p:sp>
      <p:sp>
        <p:nvSpPr>
          <p:cNvPr id="12" name="Text 3"/>
          <p:cNvSpPr/>
          <p:nvPr/>
        </p:nvSpPr>
        <p:spPr>
          <a:xfrm>
            <a:off x="2926080" y="1645920"/>
            <a:ext cx="633600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600" strike="noStrike" u="none">
                <a:solidFill>
                  <a:srgbClr val="0f766e"/>
                </a:solidFill>
                <a:effectLst/>
                <a:uFillTx/>
                <a:latin typeface="Calibri"/>
                <a:ea typeface="Calibri"/>
              </a:rPr>
              <a:t>CSE499B Review Presentation</a:t>
            </a:r>
            <a:endParaRPr b="0" lang="en-US" sz="1600" strike="noStrike" u="none">
              <a:solidFill>
                <a:srgbClr val="000000"/>
              </a:solidFill>
              <a:effectLst/>
              <a:uFillTx/>
              <a:latin typeface="Arial"/>
            </a:endParaRPr>
          </a:p>
        </p:txBody>
      </p:sp>
      <p:sp>
        <p:nvSpPr>
          <p:cNvPr id="13" name="Shape 4"/>
          <p:cNvSpPr/>
          <p:nvPr/>
        </p:nvSpPr>
        <p:spPr>
          <a:xfrm>
            <a:off x="1463040" y="4617720"/>
            <a:ext cx="9262080" cy="1553760"/>
          </a:xfrm>
          <a:prstGeom prst="rect">
            <a:avLst/>
          </a:prstGeom>
          <a:gradFill rotWithShape="0">
            <a:gsLst>
              <a:gs pos="0">
                <a:srgbClr val="ffffff">
                  <a:alpha val="0"/>
                </a:srgbClr>
              </a:gs>
              <a:gs pos="50000">
                <a:srgbClr val="ffffff"/>
              </a:gs>
              <a:gs pos="100000">
                <a:srgbClr val="ffffff">
                  <a:alpha val="0"/>
                </a:srgbClr>
              </a:gs>
            </a:gsLst>
            <a:lin ang="5400000"/>
          </a:gra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 name="Text 5"/>
          <p:cNvSpPr/>
          <p:nvPr/>
        </p:nvSpPr>
        <p:spPr>
          <a:xfrm>
            <a:off x="1463040" y="4727520"/>
            <a:ext cx="926208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400" strike="noStrike" u="none">
                <a:solidFill>
                  <a:srgbClr val="0f766e"/>
                </a:solidFill>
                <a:effectLst/>
                <a:uFillTx/>
                <a:latin typeface="Calibri"/>
                <a:ea typeface="Calibri"/>
              </a:rPr>
              <a:t>CSE499B  ·  Section 15  ·  Project Group 03</a:t>
            </a:r>
            <a:endParaRPr b="0" lang="en-US" sz="1400" strike="noStrike" u="none">
              <a:solidFill>
                <a:srgbClr val="000000"/>
              </a:solidFill>
              <a:effectLst/>
              <a:uFillTx/>
              <a:latin typeface="Arial"/>
            </a:endParaRPr>
          </a:p>
        </p:txBody>
      </p:sp>
      <p:sp>
        <p:nvSpPr>
          <p:cNvPr id="15" name="Text 6"/>
          <p:cNvSpPr/>
          <p:nvPr/>
        </p:nvSpPr>
        <p:spPr>
          <a:xfrm>
            <a:off x="1600200" y="5139000"/>
            <a:ext cx="2193840" cy="730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trike="noStrike" u="none">
                <a:solidFill>
                  <a:srgbClr val="172033"/>
                </a:solidFill>
                <a:effectLst/>
                <a:uFillTx/>
                <a:latin typeface="Calibri"/>
                <a:ea typeface="Calibri"/>
              </a:rPr>
              <a:t>Md. Rahad Hossain</a:t>
            </a:r>
            <a:endParaRPr b="0" lang="en-US" sz="1600" strike="noStrike" u="none">
              <a:solidFill>
                <a:srgbClr val="000000"/>
              </a:solidFill>
              <a:effectLst/>
              <a:uFillTx/>
              <a:latin typeface="Arial"/>
            </a:endParaRPr>
          </a:p>
          <a:p>
            <a:pPr algn="ctr" defTabSz="914400">
              <a:lnSpc>
                <a:spcPct val="100000"/>
              </a:lnSpc>
              <a:tabLst>
                <a:tab algn="l" pos="0"/>
              </a:tabLst>
            </a:pPr>
            <a:r>
              <a:rPr b="0" lang="en-US" sz="1300" strike="noStrike" u="none">
                <a:solidFill>
                  <a:srgbClr val="64748b"/>
                </a:solidFill>
                <a:effectLst/>
                <a:uFillTx/>
                <a:latin typeface="Calibri"/>
                <a:ea typeface="Calibri"/>
              </a:rPr>
              <a:t>ID: 2211316642</a:t>
            </a:r>
            <a:endParaRPr b="0" lang="en-US" sz="1300" strike="noStrike" u="none">
              <a:solidFill>
                <a:srgbClr val="000000"/>
              </a:solidFill>
              <a:effectLst/>
              <a:uFillTx/>
              <a:latin typeface="Arial"/>
            </a:endParaRPr>
          </a:p>
        </p:txBody>
      </p:sp>
      <p:sp>
        <p:nvSpPr>
          <p:cNvPr id="16" name="Text 7"/>
          <p:cNvSpPr/>
          <p:nvPr/>
        </p:nvSpPr>
        <p:spPr>
          <a:xfrm>
            <a:off x="3858840" y="5139000"/>
            <a:ext cx="2193840" cy="730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trike="noStrike" u="none">
                <a:solidFill>
                  <a:srgbClr val="172033"/>
                </a:solidFill>
                <a:effectLst/>
                <a:uFillTx/>
                <a:latin typeface="Calibri"/>
                <a:ea typeface="Calibri"/>
              </a:rPr>
              <a:t>Md. Yousuf</a:t>
            </a:r>
            <a:endParaRPr b="0" lang="en-US" sz="1600" strike="noStrike" u="none">
              <a:solidFill>
                <a:srgbClr val="000000"/>
              </a:solidFill>
              <a:effectLst/>
              <a:uFillTx/>
              <a:latin typeface="Arial"/>
            </a:endParaRPr>
          </a:p>
          <a:p>
            <a:pPr algn="ctr" defTabSz="914400">
              <a:lnSpc>
                <a:spcPct val="100000"/>
              </a:lnSpc>
              <a:tabLst>
                <a:tab algn="l" pos="0"/>
              </a:tabLst>
            </a:pPr>
            <a:r>
              <a:rPr b="0" lang="en-US" sz="1300" strike="noStrike" u="none">
                <a:solidFill>
                  <a:srgbClr val="64748b"/>
                </a:solidFill>
                <a:effectLst/>
                <a:uFillTx/>
                <a:latin typeface="Calibri"/>
                <a:ea typeface="Calibri"/>
              </a:rPr>
              <a:t>ID: 2211461642</a:t>
            </a:r>
            <a:endParaRPr b="0" lang="en-US" sz="1300" strike="noStrike" u="none">
              <a:solidFill>
                <a:srgbClr val="000000"/>
              </a:solidFill>
              <a:effectLst/>
              <a:uFillTx/>
              <a:latin typeface="Arial"/>
            </a:endParaRPr>
          </a:p>
        </p:txBody>
      </p:sp>
      <p:sp>
        <p:nvSpPr>
          <p:cNvPr id="17" name="Text 8"/>
          <p:cNvSpPr/>
          <p:nvPr/>
        </p:nvSpPr>
        <p:spPr>
          <a:xfrm>
            <a:off x="6117480" y="5139000"/>
            <a:ext cx="2193840" cy="730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trike="noStrike" u="none">
                <a:solidFill>
                  <a:srgbClr val="172033"/>
                </a:solidFill>
                <a:effectLst/>
                <a:uFillTx/>
                <a:latin typeface="Calibri"/>
                <a:ea typeface="Calibri"/>
              </a:rPr>
              <a:t>MD. Rokib Hasan Oli</a:t>
            </a:r>
            <a:endParaRPr b="0" lang="en-US" sz="1600" strike="noStrike" u="none">
              <a:solidFill>
                <a:srgbClr val="000000"/>
              </a:solidFill>
              <a:effectLst/>
              <a:uFillTx/>
              <a:latin typeface="Arial"/>
            </a:endParaRPr>
          </a:p>
          <a:p>
            <a:pPr algn="ctr" defTabSz="914400">
              <a:lnSpc>
                <a:spcPct val="100000"/>
              </a:lnSpc>
              <a:tabLst>
                <a:tab algn="l" pos="0"/>
              </a:tabLst>
            </a:pPr>
            <a:r>
              <a:rPr b="0" lang="en-US" sz="1300" strike="noStrike" u="none">
                <a:solidFill>
                  <a:srgbClr val="64748b"/>
                </a:solidFill>
                <a:effectLst/>
                <a:uFillTx/>
                <a:latin typeface="Calibri"/>
                <a:ea typeface="Calibri"/>
              </a:rPr>
              <a:t>ID: 2211950642</a:t>
            </a:r>
            <a:endParaRPr b="0" lang="en-US" sz="1300" strike="noStrike" u="none">
              <a:solidFill>
                <a:srgbClr val="000000"/>
              </a:solidFill>
              <a:effectLst/>
              <a:uFillTx/>
              <a:latin typeface="Arial"/>
            </a:endParaRPr>
          </a:p>
        </p:txBody>
      </p:sp>
      <p:sp>
        <p:nvSpPr>
          <p:cNvPr id="18" name="Text 9"/>
          <p:cNvSpPr/>
          <p:nvPr/>
        </p:nvSpPr>
        <p:spPr>
          <a:xfrm>
            <a:off x="8375760" y="5139000"/>
            <a:ext cx="2193840" cy="7308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1600" strike="noStrike" u="none">
                <a:solidFill>
                  <a:srgbClr val="172033"/>
                </a:solidFill>
                <a:effectLst/>
                <a:uFillTx/>
                <a:latin typeface="Calibri"/>
                <a:ea typeface="Calibri"/>
              </a:rPr>
              <a:t>Safayat Ibrahim</a:t>
            </a:r>
            <a:endParaRPr b="0" lang="en-US" sz="1600" strike="noStrike" u="none">
              <a:solidFill>
                <a:srgbClr val="000000"/>
              </a:solidFill>
              <a:effectLst/>
              <a:uFillTx/>
              <a:latin typeface="Arial"/>
            </a:endParaRPr>
          </a:p>
          <a:p>
            <a:pPr algn="ctr" defTabSz="914400">
              <a:lnSpc>
                <a:spcPct val="100000"/>
              </a:lnSpc>
              <a:tabLst>
                <a:tab algn="l" pos="0"/>
              </a:tabLst>
            </a:pPr>
            <a:r>
              <a:rPr b="0" lang="en-US" sz="1300" strike="noStrike" u="none">
                <a:solidFill>
                  <a:srgbClr val="64748b"/>
                </a:solidFill>
                <a:effectLst/>
                <a:uFillTx/>
                <a:latin typeface="Calibri"/>
                <a:ea typeface="Calibri"/>
              </a:rPr>
              <a:t>ID: 2131174642</a:t>
            </a:r>
            <a:endParaRPr b="0" lang="en-US" sz="1300" strike="noStrike" u="none">
              <a:solidFill>
                <a:srgbClr val="000000"/>
              </a:solidFill>
              <a:effectLst/>
              <a:uFillTx/>
              <a:latin typeface="Arial"/>
            </a:endParaRPr>
          </a:p>
        </p:txBody>
      </p:sp>
      <p:sp>
        <p:nvSpPr>
          <p:cNvPr id="19" name="Text 10"/>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20" name="Text 11"/>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1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Problem Statement</a:t>
            </a:r>
            <a:endParaRPr b="0" lang="en-US" sz="3000" strike="noStrike" u="none">
              <a:solidFill>
                <a:srgbClr val="000000"/>
              </a:solidFill>
              <a:effectLst/>
              <a:uFillTx/>
              <a:latin typeface="Arial"/>
            </a:endParaRPr>
          </a:p>
        </p:txBody>
      </p:sp>
      <p:pic>
        <p:nvPicPr>
          <p:cNvPr id="22"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23" name="Text 1"/>
          <p:cNvSpPr/>
          <p:nvPr/>
        </p:nvSpPr>
        <p:spPr>
          <a:xfrm>
            <a:off x="457200" y="1234440"/>
            <a:ext cx="5119920" cy="9136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6000" strike="noStrike" u="none">
                <a:solidFill>
                  <a:srgbClr val="0f766e"/>
                </a:solidFill>
                <a:effectLst/>
                <a:uFillTx/>
                <a:latin typeface="Arial"/>
                <a:ea typeface="Arial"/>
              </a:rPr>
              <a:t>7 km/h</a:t>
            </a:r>
            <a:endParaRPr b="0" lang="en-US" sz="6000" strike="noStrike" u="none">
              <a:solidFill>
                <a:srgbClr val="000000"/>
              </a:solidFill>
              <a:effectLst/>
              <a:uFillTx/>
              <a:latin typeface="Arial"/>
            </a:endParaRPr>
          </a:p>
        </p:txBody>
      </p:sp>
      <p:sp>
        <p:nvSpPr>
          <p:cNvPr id="24" name="Text 2"/>
          <p:cNvSpPr/>
          <p:nvPr/>
        </p:nvSpPr>
        <p:spPr>
          <a:xfrm>
            <a:off x="457200" y="2148840"/>
            <a:ext cx="4937040" cy="547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400" strike="noStrike" u="none">
                <a:solidFill>
                  <a:srgbClr val="64748b"/>
                </a:solidFill>
                <a:effectLst/>
                <a:uFillTx/>
                <a:latin typeface="Calibri"/>
                <a:ea typeface="Calibri"/>
              </a:rPr>
              <a:t>average traffic speed in Dhaka [1]; illegal roadside parking is a major cause</a:t>
            </a:r>
            <a:endParaRPr b="0" lang="en-US" sz="1400" strike="noStrike" u="none">
              <a:solidFill>
                <a:srgbClr val="000000"/>
              </a:solidFill>
              <a:effectLst/>
              <a:uFillTx/>
              <a:latin typeface="Arial"/>
            </a:endParaRPr>
          </a:p>
        </p:txBody>
      </p:sp>
      <p:sp>
        <p:nvSpPr>
          <p:cNvPr id="25" name="Text 3"/>
          <p:cNvSpPr/>
          <p:nvPr/>
        </p:nvSpPr>
        <p:spPr>
          <a:xfrm>
            <a:off x="457200" y="2880360"/>
            <a:ext cx="5119920" cy="319968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1199"/>
              </a:spcAft>
              <a:tabLst>
                <a:tab algn="l" pos="0"/>
              </a:tabLst>
            </a:pPr>
            <a:r>
              <a:rPr b="1" lang="en-US" sz="1600" strike="noStrike" u="none">
                <a:solidFill>
                  <a:srgbClr val="172033"/>
                </a:solidFill>
                <a:effectLst/>
                <a:uFillTx/>
                <a:latin typeface="Calibri"/>
                <a:ea typeface="Calibri"/>
              </a:rPr>
              <a:t>Drivers cannot see free parking </a:t>
            </a:r>
            <a:r>
              <a:rPr b="0" lang="en-US" sz="1600" strike="noStrike" u="none">
                <a:solidFill>
                  <a:srgbClr val="172033"/>
                </a:solidFill>
                <a:effectLst/>
                <a:uFillTx/>
                <a:latin typeface="Calibri"/>
                <a:ea typeface="Calibri"/>
              </a:rPr>
              <a:t>before they arrive, so they circle or stop on the road.</a:t>
            </a:r>
            <a:endParaRPr b="0" lang="en-US" sz="1600" strike="noStrike" u="none">
              <a:solidFill>
                <a:srgbClr val="000000"/>
              </a:solidFill>
              <a:effectLst/>
              <a:uFillTx/>
              <a:latin typeface="Arial"/>
            </a:endParaRPr>
          </a:p>
          <a:p>
            <a:pPr defTabSz="914400">
              <a:lnSpc>
                <a:spcPct val="100000"/>
              </a:lnSpc>
              <a:spcAft>
                <a:spcPts val="1199"/>
              </a:spcAft>
              <a:tabLst>
                <a:tab algn="l" pos="0"/>
              </a:tabLst>
            </a:pPr>
            <a:r>
              <a:rPr b="1" lang="en-US" sz="1600" strike="noStrike" u="none">
                <a:solidFill>
                  <a:srgbClr val="172033"/>
                </a:solidFill>
                <a:effectLst/>
                <a:uFillTx/>
                <a:latin typeface="Calibri"/>
                <a:ea typeface="Calibri"/>
              </a:rPr>
              <a:t>Availability is typed by hand </a:t>
            </a:r>
            <a:r>
              <a:rPr b="0" lang="en-US" sz="1600" strike="noStrike" u="none">
                <a:solidFill>
                  <a:srgbClr val="172033"/>
                </a:solidFill>
                <a:effectLst/>
                <a:uFillTx/>
                <a:latin typeface="Calibri"/>
                <a:ea typeface="Calibri"/>
              </a:rPr>
              <a:t>in every local service, which does not scale.</a:t>
            </a:r>
            <a:endParaRPr b="0" lang="en-US" sz="1600" strike="noStrike" u="none">
              <a:solidFill>
                <a:srgbClr val="000000"/>
              </a:solidFill>
              <a:effectLst/>
              <a:uFillTx/>
              <a:latin typeface="Arial"/>
            </a:endParaRPr>
          </a:p>
          <a:p>
            <a:pPr defTabSz="914400">
              <a:lnSpc>
                <a:spcPct val="100000"/>
              </a:lnSpc>
              <a:spcAft>
                <a:spcPts val="1199"/>
              </a:spcAft>
              <a:tabLst>
                <a:tab algn="l" pos="0"/>
              </a:tabLst>
            </a:pPr>
            <a:r>
              <a:rPr b="1" lang="en-US" sz="1600" strike="noStrike" u="none">
                <a:solidFill>
                  <a:srgbClr val="172033"/>
                </a:solidFill>
                <a:effectLst/>
                <a:uFillTx/>
                <a:latin typeface="Calibri"/>
                <a:ea typeface="Calibri"/>
              </a:rPr>
              <a:t>Authorities cannot identify vehicles </a:t>
            </a:r>
            <a:r>
              <a:rPr b="0" lang="en-US" sz="1600" strike="noStrike" u="none">
                <a:solidFill>
                  <a:srgbClr val="172033"/>
                </a:solidFill>
                <a:effectLst/>
                <a:uFillTx/>
                <a:latin typeface="Calibri"/>
                <a:ea typeface="Calibri"/>
              </a:rPr>
              <a:t>in a slot without being physically there.</a:t>
            </a:r>
            <a:endParaRPr b="0" lang="en-US" sz="1600" strike="noStrike" u="none">
              <a:solidFill>
                <a:srgbClr val="000000"/>
              </a:solidFill>
              <a:effectLst/>
              <a:uFillTx/>
              <a:latin typeface="Arial"/>
            </a:endParaRPr>
          </a:p>
          <a:p>
            <a:pPr defTabSz="914400">
              <a:lnSpc>
                <a:spcPct val="100000"/>
              </a:lnSpc>
              <a:spcAft>
                <a:spcPts val="1199"/>
              </a:spcAft>
              <a:tabLst>
                <a:tab algn="l" pos="0"/>
              </a:tabLst>
            </a:pPr>
            <a:r>
              <a:rPr b="1" lang="en-US" sz="1600" strike="noStrike" u="none">
                <a:solidFill>
                  <a:srgbClr val="172033"/>
                </a:solidFill>
                <a:effectLst/>
                <a:uFillTx/>
                <a:latin typeface="Calibri"/>
                <a:ea typeface="Calibri"/>
              </a:rPr>
              <a:t>Prices are fixed, </a:t>
            </a:r>
            <a:r>
              <a:rPr b="0" lang="en-US" sz="1600" strike="noStrike" u="none">
                <a:solidFill>
                  <a:srgbClr val="172033"/>
                </a:solidFill>
                <a:effectLst/>
                <a:uFillTx/>
                <a:latin typeface="Calibri"/>
                <a:ea typeface="Calibri"/>
              </a:rPr>
              <a:t>so busy lots fill up while nearby ones stay empty.</a:t>
            </a:r>
            <a:endParaRPr b="0" lang="en-US" sz="1600" strike="noStrike" u="none">
              <a:solidFill>
                <a:srgbClr val="000000"/>
              </a:solidFill>
              <a:effectLst/>
              <a:uFillTx/>
              <a:latin typeface="Arial"/>
            </a:endParaRPr>
          </a:p>
        </p:txBody>
      </p:sp>
      <p:sp>
        <p:nvSpPr>
          <p:cNvPr id="26" name="Text 4"/>
          <p:cNvSpPr/>
          <p:nvPr/>
        </p:nvSpPr>
        <p:spPr>
          <a:xfrm>
            <a:off x="6035040" y="1280160"/>
            <a:ext cx="566856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trike="noStrike" u="none">
                <a:solidFill>
                  <a:srgbClr val="172033"/>
                </a:solidFill>
                <a:effectLst/>
                <a:uFillTx/>
                <a:latin typeface="Calibri"/>
                <a:ea typeface="Calibri"/>
              </a:rPr>
              <a:t>Existing parking services in Bangladesh</a:t>
            </a:r>
            <a:endParaRPr b="0" lang="en-US" sz="1600" strike="noStrike" u="none">
              <a:solidFill>
                <a:srgbClr val="000000"/>
              </a:solidFill>
              <a:effectLst/>
              <a:uFillTx/>
              <a:latin typeface="Arial"/>
            </a:endParaRPr>
          </a:p>
        </p:txBody>
      </p:sp>
      <p:graphicFrame>
        <p:nvGraphicFramePr>
          <p:cNvPr id="27" name="Table 0"/>
          <p:cNvGraphicFramePr/>
          <p:nvPr/>
        </p:nvGraphicFramePr>
        <p:xfrm>
          <a:off x="6035040" y="1737360"/>
          <a:ext cx="5696280" cy="1828800"/>
        </p:xfrm>
        <a:graphic>
          <a:graphicData uri="http://schemas.openxmlformats.org/drawingml/2006/table">
            <a:tbl>
              <a:tblPr/>
              <a:tblGrid>
                <a:gridCol w="1600200"/>
                <a:gridCol w="1691640"/>
                <a:gridCol w="914400"/>
                <a:gridCol w="1490400"/>
              </a:tblGrid>
              <a:tr h="457200">
                <a:tc>
                  <a:txBody>
                    <a:bodyPr lIns="75960" rIns="75960" anchor="ctr">
                      <a:noAutofit/>
                    </a:bodyPr>
                    <a:p>
                      <a:pPr defTabSz="914400">
                        <a:lnSpc>
                          <a:spcPct val="100000"/>
                        </a:lnSpc>
                        <a:tabLst>
                          <a:tab algn="l" pos="0"/>
                        </a:tabLst>
                      </a:pPr>
                      <a:r>
                        <a:rPr b="1" lang="en-US" sz="1250" strike="noStrike" u="none">
                          <a:solidFill>
                            <a:srgbClr val="ffffff"/>
                          </a:solidFill>
                          <a:effectLst/>
                          <a:uFillTx/>
                          <a:latin typeface="Calibri"/>
                          <a:ea typeface="Calibri"/>
                        </a:rPr>
                        <a:t>Service</a:t>
                      </a:r>
                      <a:endParaRPr b="0" lang="en-US" sz="12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250" strike="noStrike" u="none">
                          <a:solidFill>
                            <a:srgbClr val="ffffff"/>
                          </a:solidFill>
                          <a:effectLst/>
                          <a:uFillTx/>
                          <a:latin typeface="Calibri"/>
                          <a:ea typeface="Calibri"/>
                        </a:rPr>
                        <a:t>Availability updated by</a:t>
                      </a:r>
                      <a:endParaRPr b="0" lang="en-US" sz="12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250" strike="noStrike" u="none">
                          <a:solidFill>
                            <a:srgbClr val="ffffff"/>
                          </a:solidFill>
                          <a:effectLst/>
                          <a:uFillTx/>
                          <a:latin typeface="Calibri"/>
                          <a:ea typeface="Calibri"/>
                        </a:rPr>
                        <a:t>Uses cameras</a:t>
                      </a:r>
                      <a:endParaRPr b="0" lang="en-US" sz="12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250" strike="noStrike" u="none">
                          <a:solidFill>
                            <a:srgbClr val="ffffff"/>
                          </a:solidFill>
                          <a:effectLst/>
                          <a:uFillTx/>
                          <a:latin typeface="Calibri"/>
                          <a:ea typeface="Calibri"/>
                        </a:rPr>
                        <a:t>Serves</a:t>
                      </a:r>
                      <a:endParaRPr b="0" lang="en-US" sz="12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457200">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DNCC Smart Parking [2]</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booth operators, by hand</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No</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drivers</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57200">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Parking Koi [3]</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space owners, by hand</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No</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250" strike="noStrike" u="none">
                          <a:solidFill>
                            <a:srgbClr val="172033"/>
                          </a:solidFill>
                          <a:effectLst/>
                          <a:uFillTx/>
                          <a:latin typeface="Calibri"/>
                          <a:ea typeface="Calibri"/>
                        </a:rPr>
                        <a:t>drivers, owners</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57200">
                <a:tc>
                  <a:txBody>
                    <a:bodyPr lIns="75960" rIns="75960" anchor="ctr">
                      <a:noAutofit/>
                    </a:bodyPr>
                    <a:p>
                      <a:pPr defTabSz="914400">
                        <a:lnSpc>
                          <a:spcPct val="100000"/>
                        </a:lnSpc>
                        <a:tabLst>
                          <a:tab algn="l" pos="0"/>
                        </a:tabLst>
                      </a:pPr>
                      <a:r>
                        <a:rPr b="1" lang="en-US" sz="1250" strike="noStrike" u="none">
                          <a:solidFill>
                            <a:srgbClr val="0f766e"/>
                          </a:solidFill>
                          <a:effectLst/>
                          <a:uFillTx/>
                          <a:latin typeface="Calibri"/>
                          <a:ea typeface="Calibri"/>
                        </a:rPr>
                        <a:t>CityPulse</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250" strike="noStrike" u="none">
                          <a:solidFill>
                            <a:srgbClr val="172033"/>
                          </a:solidFill>
                          <a:effectLst/>
                          <a:uFillTx/>
                          <a:latin typeface="Calibri"/>
                          <a:ea typeface="Calibri"/>
                        </a:rPr>
                        <a:t>camera + model, automatic</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250" strike="noStrike" u="none">
                          <a:solidFill>
                            <a:srgbClr val="172033"/>
                          </a:solidFill>
                          <a:effectLst/>
                          <a:uFillTx/>
                          <a:latin typeface="Calibri"/>
                          <a:ea typeface="Calibri"/>
                        </a:rPr>
                        <a:t>Yes</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250" strike="noStrike" u="none">
                          <a:solidFill>
                            <a:srgbClr val="172033"/>
                          </a:solidFill>
                          <a:effectLst/>
                          <a:uFillTx/>
                          <a:latin typeface="Calibri"/>
                          <a:ea typeface="Calibri"/>
                        </a:rPr>
                        <a:t>drivers, owners, authorities</a:t>
                      </a:r>
                      <a:endParaRPr b="0" lang="en-US" sz="12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bl>
          </a:graphicData>
        </a:graphic>
      </p:graphicFrame>
      <p:sp>
        <p:nvSpPr>
          <p:cNvPr id="28" name="Text 5"/>
          <p:cNvSpPr/>
          <p:nvPr/>
        </p:nvSpPr>
        <p:spPr>
          <a:xfrm>
            <a:off x="6035040" y="4069080"/>
            <a:ext cx="5695920" cy="10965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trike="noStrike" u="none">
                <a:solidFill>
                  <a:srgbClr val="172033"/>
                </a:solidFill>
                <a:effectLst/>
                <a:uFillTx/>
                <a:latin typeface="Calibri"/>
                <a:ea typeface="Calibri"/>
              </a:rPr>
              <a:t>Closest research: </a:t>
            </a:r>
            <a:r>
              <a:rPr b="0" lang="en-US" sz="1350" strike="noStrike" u="none">
                <a:solidFill>
                  <a:srgbClr val="172033"/>
                </a:solidFill>
                <a:effectLst/>
                <a:uFillTx/>
                <a:latin typeface="Calibri"/>
                <a:ea typeface="Calibri"/>
              </a:rPr>
              <a:t>Prova et al. [4] (NSU, 2022) reached 86.1% indoor and 90.5% outdoor on Dhaka CCTV without any local training data, and list local fine-tuning and manual slot marking as open problems.</a:t>
            </a:r>
            <a:endParaRPr b="0" lang="en-US" sz="1350" strike="noStrike" u="none">
              <a:solidFill>
                <a:srgbClr val="000000"/>
              </a:solidFill>
              <a:effectLst/>
              <a:uFillTx/>
              <a:latin typeface="Arial"/>
            </a:endParaRPr>
          </a:p>
        </p:txBody>
      </p:sp>
      <p:sp>
        <p:nvSpPr>
          <p:cNvPr id="29" name="Text 6"/>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30" name="Text 7"/>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2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Review of 499A: Proposed vs. Delivered</a:t>
            </a:r>
            <a:endParaRPr b="0" lang="en-US" sz="3000" strike="noStrike" u="none">
              <a:solidFill>
                <a:srgbClr val="000000"/>
              </a:solidFill>
              <a:effectLst/>
              <a:uFillTx/>
              <a:latin typeface="Arial"/>
            </a:endParaRPr>
          </a:p>
        </p:txBody>
      </p:sp>
      <p:sp>
        <p:nvSpPr>
          <p:cNvPr id="32"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Of the 8 objectives in our 499A proposal: 3 done, 4 partial, 1 not done</a:t>
            </a:r>
            <a:endParaRPr b="0" lang="en-US" sz="1500" strike="noStrike" u="none">
              <a:solidFill>
                <a:srgbClr val="000000"/>
              </a:solidFill>
              <a:effectLst/>
              <a:uFillTx/>
              <a:latin typeface="Arial"/>
            </a:endParaRPr>
          </a:p>
        </p:txBody>
      </p:sp>
      <p:pic>
        <p:nvPicPr>
          <p:cNvPr id="33"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graphicFrame>
        <p:nvGraphicFramePr>
          <p:cNvPr id="34" name="Table 0"/>
          <p:cNvGraphicFramePr/>
          <p:nvPr/>
        </p:nvGraphicFramePr>
        <p:xfrm>
          <a:off x="457200" y="1371600"/>
          <a:ext cx="11274120" cy="3949560"/>
        </p:xfrm>
        <a:graphic>
          <a:graphicData uri="http://schemas.openxmlformats.org/drawingml/2006/table">
            <a:tbl>
              <a:tblPr/>
              <a:tblGrid>
                <a:gridCol w="457200"/>
                <a:gridCol w="3566160"/>
                <a:gridCol w="1097280"/>
                <a:gridCol w="6153840"/>
              </a:tblGrid>
              <a:tr h="438840">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499A proposal objective</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Status</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What exists / what is missing</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1</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Driver app: search, find and navigate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15803d"/>
                          </a:solidFill>
                          <a:effectLst/>
                          <a:uFillTx/>
                          <a:latin typeface="Calibri"/>
                          <a:ea typeface="Calibri"/>
                        </a:rPr>
                        <a:t>Done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Map search, booking, hand-off to Google Maps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2</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CV module on live CCTV feeds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b45309"/>
                          </a:solidFill>
                          <a:effectLst/>
                          <a:uFillTx/>
                          <a:latin typeface="Calibri"/>
                          <a:ea typeface="Calibri"/>
                        </a:rPr>
                        <a:t>Partial</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Model at 99.18%, but runs on still images, not live streams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3</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Owner registration portal</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15803d"/>
                          </a:solidFill>
                          <a:effectLst/>
                          <a:uFillTx/>
                          <a:latin typeface="Calibri"/>
                          <a:ea typeface="Calibri"/>
                        </a:rPr>
                        <a:t>Done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Space, photo and camera onboarding on the live API</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4</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Real-time updates to the app</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b45309"/>
                          </a:solidFill>
                          <a:effectLst/>
                          <a:uFillTx/>
                          <a:latin typeface="Calibri"/>
                          <a:ea typeface="Calibri"/>
                        </a:rPr>
                        <a:t>Partial</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Backend refreshes every 10 minutes; nothing is pushed</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5</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Authority occupancy view</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b45309"/>
                          </a:solidFill>
                          <a:effectLst/>
                          <a:uFillTx/>
                          <a:latin typeface="Calibri"/>
                          <a:ea typeface="Calibri"/>
                        </a:rPr>
                        <a:t>Partial</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Interface designed and built, but no backend data yet</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6</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Push notifications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b91c1c"/>
                          </a:solidFill>
                          <a:effectLst/>
                          <a:uFillTx/>
                          <a:latin typeface="Calibri"/>
                          <a:ea typeface="Calibri"/>
                        </a:rPr>
                        <a:t>Not done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Only the database table exists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7</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LPR / jam detection study and datasets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b45309"/>
                          </a:solidFill>
                          <a:effectLst/>
                          <a:uFillTx/>
                          <a:latin typeface="Calibri"/>
                          <a:ea typeface="Calibri"/>
                        </a:rPr>
                        <a:t>Partial</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Papers reviewed; no plate images collected</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3884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8</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System architecture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15803d"/>
                          </a:solidFill>
                          <a:effectLst/>
                          <a:uFillTx/>
                          <a:latin typeface="Calibri"/>
                          <a:ea typeface="Calibri"/>
                        </a:rPr>
                        <a:t>Done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Architecture document, 21-model schema, OpenAPI docs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bl>
          </a:graphicData>
        </a:graphic>
      </p:graphicFrame>
      <p:sp>
        <p:nvSpPr>
          <p:cNvPr id="35" name="Text 2"/>
          <p:cNvSpPr/>
          <p:nvPr/>
        </p:nvSpPr>
        <p:spPr>
          <a:xfrm>
            <a:off x="457200" y="5532120"/>
            <a:ext cx="11273760" cy="410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50" strike="noStrike" u="none">
                <a:solidFill>
                  <a:srgbClr val="0f766e"/>
                </a:solidFill>
                <a:effectLst/>
                <a:uFillTx/>
                <a:latin typeface="Calibri"/>
                <a:ea typeface="Calibri"/>
              </a:rPr>
              <a:t>Built although not in the proposal: </a:t>
            </a:r>
            <a:r>
              <a:rPr b="0" lang="en-US" sz="1450" strike="noStrike" u="none">
                <a:solidFill>
                  <a:srgbClr val="172033"/>
                </a:solidFill>
                <a:effectLst/>
                <a:uFillTx/>
                <a:latin typeface="Calibri"/>
                <a:ea typeface="Calibri"/>
              </a:rPr>
              <a:t>slot booking with reservation-aware availability, and a reproduction of VPS-Net (98.53%).</a:t>
            </a:r>
            <a:endParaRPr b="0" lang="en-US" sz="1450" strike="noStrike" u="none">
              <a:solidFill>
                <a:srgbClr val="000000"/>
              </a:solidFill>
              <a:effectLst/>
              <a:uFillTx/>
              <a:latin typeface="Arial"/>
            </a:endParaRPr>
          </a:p>
        </p:txBody>
      </p:sp>
      <p:sp>
        <p:nvSpPr>
          <p:cNvPr id="36" name="Text 3"/>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37" name="Text 4"/>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3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499A Result: Parking Occupancy Model</a:t>
            </a:r>
            <a:endParaRPr b="0" lang="en-US" sz="3000" strike="noStrike" u="none">
              <a:solidFill>
                <a:srgbClr val="000000"/>
              </a:solidFill>
              <a:effectLst/>
              <a:uFillTx/>
              <a:latin typeface="Arial"/>
            </a:endParaRPr>
          </a:p>
        </p:txBody>
      </p:sp>
      <p:sp>
        <p:nvSpPr>
          <p:cNvPr id="39"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MobileNetV2, trained on 808,991 slot images (PKLot + CNRPark+EXT), validated on a lot never used in training</a:t>
            </a:r>
            <a:endParaRPr b="0" lang="en-US" sz="1500" strike="noStrike" u="none">
              <a:solidFill>
                <a:srgbClr val="000000"/>
              </a:solidFill>
              <a:effectLst/>
              <a:uFillTx/>
              <a:latin typeface="Arial"/>
            </a:endParaRPr>
          </a:p>
        </p:txBody>
      </p:sp>
      <p:pic>
        <p:nvPicPr>
          <p:cNvPr id="40"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graphicFrame>
        <p:nvGraphicFramePr>
          <p:cNvPr id="41" name="Chart 0"/>
          <p:cNvGraphicFramePr/>
          <p:nvPr/>
        </p:nvGraphicFramePr>
        <p:xfrm>
          <a:off x="365760" y="1325880"/>
          <a:ext cx="6491520" cy="4205520"/>
        </p:xfrm>
        <a:graphic>
          <a:graphicData uri="http://schemas.openxmlformats.org/drawingml/2006/chart">
            <c:chart xmlns:c="http://schemas.openxmlformats.org/drawingml/2006/chart" xmlns:r="http://schemas.openxmlformats.org/officeDocument/2006/relationships" r:id="rId2"/>
          </a:graphicData>
        </a:graphic>
      </p:graphicFrame>
      <p:sp>
        <p:nvSpPr>
          <p:cNvPr id="42" name="Text 2"/>
          <p:cNvSpPr/>
          <p:nvPr/>
        </p:nvSpPr>
        <p:spPr>
          <a:xfrm>
            <a:off x="457200" y="5577840"/>
            <a:ext cx="640008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50" strike="noStrike" u="none">
                <a:solidFill>
                  <a:srgbClr val="64748b"/>
                </a:solidFill>
                <a:effectLst/>
                <a:uFillTx/>
                <a:latin typeface="Calibri"/>
                <a:ea typeface="Calibri"/>
              </a:rPr>
              <a:t>P1 = phase 1 (head only), P2 = phase 2 (full fine-tune). Best checkpoint: P2 epoch 9.</a:t>
            </a:r>
            <a:endParaRPr b="0" lang="en-US" sz="1150" strike="noStrike" u="none">
              <a:solidFill>
                <a:srgbClr val="000000"/>
              </a:solidFill>
              <a:effectLst/>
              <a:uFillTx/>
              <a:latin typeface="Arial"/>
            </a:endParaRPr>
          </a:p>
        </p:txBody>
      </p:sp>
      <p:graphicFrame>
        <p:nvGraphicFramePr>
          <p:cNvPr id="43" name="Table 0"/>
          <p:cNvGraphicFramePr/>
          <p:nvPr/>
        </p:nvGraphicFramePr>
        <p:xfrm>
          <a:off x="7132320" y="1371600"/>
          <a:ext cx="4599000" cy="1151280"/>
        </p:xfrm>
        <a:graphic>
          <a:graphicData uri="http://schemas.openxmlformats.org/drawingml/2006/table">
            <a:tbl>
              <a:tblPr/>
              <a:tblGrid>
                <a:gridCol w="731520"/>
                <a:gridCol w="1325880"/>
                <a:gridCol w="1188720"/>
                <a:gridCol w="1353240"/>
              </a:tblGrid>
              <a:tr h="383760">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Phase</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Trained layers</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Learning rate</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Best accuracy</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383760">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1</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new head only</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1e-3</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97.28%</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383760">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2</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whole network</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1e-5</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99.18%</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bl>
          </a:graphicData>
        </a:graphic>
      </p:graphicFrame>
      <p:sp>
        <p:nvSpPr>
          <p:cNvPr id="44" name="Text 3"/>
          <p:cNvSpPr/>
          <p:nvPr/>
        </p:nvSpPr>
        <p:spPr>
          <a:xfrm>
            <a:off x="7132320" y="2697480"/>
            <a:ext cx="4571280" cy="109656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400" strike="noStrike" u="none">
                <a:solidFill>
                  <a:srgbClr val="172033"/>
                </a:solidFill>
                <a:effectLst/>
                <a:uFillTx/>
                <a:latin typeface="Calibri"/>
                <a:ea typeface="Calibri"/>
              </a:rPr>
              <a:t>Error rate fell from 2.72% to 0.82%</a:t>
            </a:r>
            <a:endParaRPr b="0" lang="en-US" sz="14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400" strike="noStrike" u="none">
                <a:solidFill>
                  <a:srgbClr val="172033"/>
                </a:solidFill>
                <a:effectLst/>
                <a:uFillTx/>
                <a:latin typeface="Calibri"/>
                <a:ea typeface="Calibri"/>
              </a:rPr>
              <a:t>VPS-Net occupancy stage reproduced: 98.53%</a:t>
            </a:r>
            <a:endParaRPr b="0" lang="en-US" sz="14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400" strike="noStrike" u="none">
                <a:solidFill>
                  <a:srgbClr val="172033"/>
                </a:solidFill>
                <a:effectLst/>
                <a:uFillTx/>
                <a:latin typeface="Calibri"/>
                <a:ea typeface="Calibri"/>
              </a:rPr>
              <a:t>Not yet tested on Dhaka footage (O1 in 499B)</a:t>
            </a:r>
            <a:endParaRPr b="0" lang="en-US" sz="1400" strike="noStrike" u="none">
              <a:solidFill>
                <a:srgbClr val="000000"/>
              </a:solidFill>
              <a:effectLst/>
              <a:uFillTx/>
              <a:latin typeface="Arial"/>
            </a:endParaRPr>
          </a:p>
        </p:txBody>
      </p:sp>
      <p:sp>
        <p:nvSpPr>
          <p:cNvPr id="45" name="Text 4"/>
          <p:cNvSpPr/>
          <p:nvPr/>
        </p:nvSpPr>
        <p:spPr>
          <a:xfrm>
            <a:off x="7132320" y="3840480"/>
            <a:ext cx="4571280" cy="2736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00" strike="noStrike" u="none">
                <a:solidFill>
                  <a:srgbClr val="172033"/>
                </a:solidFill>
                <a:effectLst/>
                <a:uFillTx/>
                <a:latin typeface="Calibri"/>
                <a:ea typeface="Calibri"/>
              </a:rPr>
              <a:t>Live API test (21 Jul 2026)</a:t>
            </a:r>
            <a:endParaRPr b="0" lang="en-US" sz="1300" strike="noStrike" u="none">
              <a:solidFill>
                <a:srgbClr val="000000"/>
              </a:solidFill>
              <a:effectLst/>
              <a:uFillTx/>
              <a:latin typeface="Arial"/>
            </a:endParaRPr>
          </a:p>
        </p:txBody>
      </p:sp>
      <p:pic>
        <p:nvPicPr>
          <p:cNvPr id="46" name="Image 1" descr="E:\remote\2026\team\499\tmp\499b\review-presentation\assets\infer-1-crop.png"/>
          <p:cNvPicPr/>
          <p:nvPr/>
        </p:nvPicPr>
        <p:blipFill>
          <a:blip r:embed="rId3"/>
          <a:stretch/>
        </p:blipFill>
        <p:spPr>
          <a:xfrm>
            <a:off x="7132320" y="4160520"/>
            <a:ext cx="2239560" cy="840600"/>
          </a:xfrm>
          <a:prstGeom prst="rect">
            <a:avLst/>
          </a:prstGeom>
          <a:noFill/>
          <a:ln w="0">
            <a:noFill/>
          </a:ln>
        </p:spPr>
      </p:pic>
      <p:pic>
        <p:nvPicPr>
          <p:cNvPr id="47" name="Image 2" descr="E:\remote\2026\team\499\tmp\499b\review-presentation\assets\infer-2-crop.png"/>
          <p:cNvPicPr/>
          <p:nvPr/>
        </p:nvPicPr>
        <p:blipFill>
          <a:blip r:embed="rId4"/>
          <a:stretch/>
        </p:blipFill>
        <p:spPr>
          <a:xfrm>
            <a:off x="9491400" y="4160520"/>
            <a:ext cx="2239560" cy="840600"/>
          </a:xfrm>
          <a:prstGeom prst="rect">
            <a:avLst/>
          </a:prstGeom>
          <a:noFill/>
          <a:ln w="0">
            <a:noFill/>
          </a:ln>
        </p:spPr>
      </p:pic>
      <p:sp>
        <p:nvSpPr>
          <p:cNvPr id="48" name="Text 5"/>
          <p:cNvSpPr/>
          <p:nvPr/>
        </p:nvSpPr>
        <p:spPr>
          <a:xfrm>
            <a:off x="7132320" y="5047560"/>
            <a:ext cx="2239560" cy="273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trike="noStrike" u="none">
                <a:solidFill>
                  <a:srgbClr val="64748b"/>
                </a:solidFill>
                <a:effectLst/>
                <a:uFillTx/>
                <a:latin typeface="Calibri"/>
                <a:ea typeface="Calibri"/>
              </a:rPr>
              <a:t>empty, confidence 0.88</a:t>
            </a:r>
            <a:endParaRPr b="0" lang="en-US" sz="1150" strike="noStrike" u="none">
              <a:solidFill>
                <a:srgbClr val="000000"/>
              </a:solidFill>
              <a:effectLst/>
              <a:uFillTx/>
              <a:latin typeface="Arial"/>
            </a:endParaRPr>
          </a:p>
        </p:txBody>
      </p:sp>
      <p:sp>
        <p:nvSpPr>
          <p:cNvPr id="49" name="Text 6"/>
          <p:cNvSpPr/>
          <p:nvPr/>
        </p:nvSpPr>
        <p:spPr>
          <a:xfrm>
            <a:off x="9491400" y="5047560"/>
            <a:ext cx="2239560" cy="273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50" strike="noStrike" u="none">
                <a:solidFill>
                  <a:srgbClr val="64748b"/>
                </a:solidFill>
                <a:effectLst/>
                <a:uFillTx/>
                <a:latin typeface="Calibri"/>
                <a:ea typeface="Calibri"/>
              </a:rPr>
              <a:t>occupied, confidence 1.00</a:t>
            </a:r>
            <a:endParaRPr b="0" lang="en-US" sz="1150" strike="noStrike" u="none">
              <a:solidFill>
                <a:srgbClr val="000000"/>
              </a:solidFill>
              <a:effectLst/>
              <a:uFillTx/>
              <a:latin typeface="Arial"/>
            </a:endParaRPr>
          </a:p>
        </p:txBody>
      </p:sp>
      <p:sp>
        <p:nvSpPr>
          <p:cNvPr id="50" name="Text 7"/>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51" name="Text 8"/>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4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From 499A Gaps to 499B Objectives</a:t>
            </a:r>
            <a:endParaRPr b="0" lang="en-US" sz="3000" strike="noStrike" u="none">
              <a:solidFill>
                <a:srgbClr val="000000"/>
              </a:solidFill>
              <a:effectLst/>
              <a:uFillTx/>
              <a:latin typeface="Arial"/>
            </a:endParaRPr>
          </a:p>
        </p:txBody>
      </p:sp>
      <p:sp>
        <p:nvSpPr>
          <p:cNvPr id="53"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Every limitation listed in our 499A final report maps to a 499B objective</a:t>
            </a:r>
            <a:endParaRPr b="0" lang="en-US" sz="1500" strike="noStrike" u="none">
              <a:solidFill>
                <a:srgbClr val="000000"/>
              </a:solidFill>
              <a:effectLst/>
              <a:uFillTx/>
              <a:latin typeface="Arial"/>
            </a:endParaRPr>
          </a:p>
        </p:txBody>
      </p:sp>
      <p:pic>
        <p:nvPicPr>
          <p:cNvPr id="54"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graphicFrame>
        <p:nvGraphicFramePr>
          <p:cNvPr id="55" name="Table 0"/>
          <p:cNvGraphicFramePr/>
          <p:nvPr/>
        </p:nvGraphicFramePr>
        <p:xfrm>
          <a:off x="457200" y="1371600"/>
          <a:ext cx="11274120" cy="3583440"/>
        </p:xfrm>
        <a:graphic>
          <a:graphicData uri="http://schemas.openxmlformats.org/drawingml/2006/table">
            <a:tbl>
              <a:tblPr/>
              <a:tblGrid>
                <a:gridCol w="3749040"/>
                <a:gridCol w="3657600"/>
                <a:gridCol w="3867840"/>
              </a:tblGrid>
              <a:tr h="511920">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Limitation at the end of 499A</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499B objective</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Result we will report</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No Bangladeshi evaluation data</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O1  Dhaka dataset + Phase 3 fine-tuning</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Accuracy before/after fine-tuning; precision, recall, F1</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Still images every 10 minutes, not video</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O2  Live RTSP pipeline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Time from camera to app update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Licence plates and jams only surveyed</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O3  Bangla licence plate recognition</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Detection mAP, character error rate, plate accuracy</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Authority views not connected to data</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O3  Live authority dashboard</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Occupancy and plate log on live data</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Pricing rules exist only in the schema</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O4  Demand-aware pricing</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Surge and time-based prices in bookings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11920">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No precision, latency or load tests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Final sprint: full evaluation</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Metrics, Raspberry Pi latency, load test</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bl>
          </a:graphicData>
        </a:graphic>
      </p:graphicFrame>
      <p:sp>
        <p:nvSpPr>
          <p:cNvPr id="56" name="Text 2"/>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57" name="Text 3"/>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5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499B: System Design, Dataset and Live Pipeline</a:t>
            </a:r>
            <a:endParaRPr b="0" lang="en-US" sz="3000" strike="noStrike" u="none">
              <a:solidFill>
                <a:srgbClr val="000000"/>
              </a:solidFill>
              <a:effectLst/>
              <a:uFillTx/>
              <a:latin typeface="Arial"/>
            </a:endParaRPr>
          </a:p>
        </p:txBody>
      </p:sp>
      <p:pic>
        <p:nvPicPr>
          <p:cNvPr id="59"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60" name="Shape 1"/>
          <p:cNvSpPr/>
          <p:nvPr/>
        </p:nvSpPr>
        <p:spPr>
          <a:xfrm>
            <a:off x="548640" y="1371600"/>
            <a:ext cx="2102400" cy="621000"/>
          </a:xfrm>
          <a:prstGeom prst="rect">
            <a:avLst/>
          </a:prstGeom>
          <a:solidFill>
            <a:srgbClr val="f1f5f9"/>
          </a:soli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1" name="Text 2"/>
          <p:cNvSpPr/>
          <p:nvPr/>
        </p:nvSpPr>
        <p:spPr>
          <a:xfrm>
            <a:off x="548640" y="1371600"/>
            <a:ext cx="210240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72033"/>
                </a:solidFill>
                <a:effectLst/>
                <a:uFillTx/>
                <a:latin typeface="Calibri"/>
                <a:ea typeface="Calibri"/>
              </a:rPr>
              <a:t>Driver app</a:t>
            </a:r>
            <a:endParaRPr b="0" lang="en-US" sz="130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64748b"/>
                </a:solidFill>
                <a:effectLst/>
                <a:uFillTx/>
                <a:latin typeface="Calibri"/>
                <a:ea typeface="Calibri"/>
              </a:rPr>
              <a:t>Flutter</a:t>
            </a:r>
            <a:endParaRPr b="0" lang="en-US" sz="1050" strike="noStrike" u="none">
              <a:solidFill>
                <a:srgbClr val="000000"/>
              </a:solidFill>
              <a:effectLst/>
              <a:uFillTx/>
              <a:latin typeface="Arial"/>
            </a:endParaRPr>
          </a:p>
        </p:txBody>
      </p:sp>
      <p:sp>
        <p:nvSpPr>
          <p:cNvPr id="62" name="Shape 3"/>
          <p:cNvSpPr/>
          <p:nvPr/>
        </p:nvSpPr>
        <p:spPr>
          <a:xfrm>
            <a:off x="2926080" y="1371600"/>
            <a:ext cx="2102400" cy="621000"/>
          </a:xfrm>
          <a:prstGeom prst="rect">
            <a:avLst/>
          </a:prstGeom>
          <a:solidFill>
            <a:srgbClr val="f1f5f9"/>
          </a:soli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3" name="Text 4"/>
          <p:cNvSpPr/>
          <p:nvPr/>
        </p:nvSpPr>
        <p:spPr>
          <a:xfrm>
            <a:off x="2926080" y="1371600"/>
            <a:ext cx="210240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72033"/>
                </a:solidFill>
                <a:effectLst/>
                <a:uFillTx/>
                <a:latin typeface="Calibri"/>
                <a:ea typeface="Calibri"/>
              </a:rPr>
              <a:t>Owner portal</a:t>
            </a:r>
            <a:endParaRPr b="0" lang="en-US" sz="130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64748b"/>
                </a:solidFill>
                <a:effectLst/>
                <a:uFillTx/>
                <a:latin typeface="Calibri"/>
                <a:ea typeface="Calibri"/>
              </a:rPr>
              <a:t>Next.js</a:t>
            </a:r>
            <a:endParaRPr b="0" lang="en-US" sz="1050" strike="noStrike" u="none">
              <a:solidFill>
                <a:srgbClr val="000000"/>
              </a:solidFill>
              <a:effectLst/>
              <a:uFillTx/>
              <a:latin typeface="Arial"/>
            </a:endParaRPr>
          </a:p>
        </p:txBody>
      </p:sp>
      <p:sp>
        <p:nvSpPr>
          <p:cNvPr id="64" name="Shape 5"/>
          <p:cNvSpPr/>
          <p:nvPr/>
        </p:nvSpPr>
        <p:spPr>
          <a:xfrm>
            <a:off x="5303520" y="1371600"/>
            <a:ext cx="2102400" cy="621000"/>
          </a:xfrm>
          <a:prstGeom prst="rect">
            <a:avLst/>
          </a:prstGeom>
          <a:solidFill>
            <a:srgbClr val="f1f5f9"/>
          </a:soli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65" name="Text 6"/>
          <p:cNvSpPr/>
          <p:nvPr/>
        </p:nvSpPr>
        <p:spPr>
          <a:xfrm>
            <a:off x="5303520" y="1371600"/>
            <a:ext cx="2102400" cy="621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172033"/>
                </a:solidFill>
                <a:effectLst/>
                <a:uFillTx/>
                <a:latin typeface="Calibri"/>
                <a:ea typeface="Calibri"/>
              </a:rPr>
              <a:t>Authority dashboard</a:t>
            </a:r>
            <a:endParaRPr b="0" lang="en-US" sz="130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64748b"/>
                </a:solidFill>
                <a:effectLst/>
                <a:uFillTx/>
                <a:latin typeface="Calibri"/>
                <a:ea typeface="Calibri"/>
              </a:rPr>
              <a:t>Next.js</a:t>
            </a:r>
            <a:endParaRPr b="0" lang="en-US" sz="1050" strike="noStrike" u="none">
              <a:solidFill>
                <a:srgbClr val="000000"/>
              </a:solidFill>
              <a:effectLst/>
              <a:uFillTx/>
              <a:latin typeface="Arial"/>
            </a:endParaRPr>
          </a:p>
        </p:txBody>
      </p:sp>
      <p:sp>
        <p:nvSpPr>
          <p:cNvPr id="66" name="Shape 7"/>
          <p:cNvSpPr/>
          <p:nvPr/>
        </p:nvSpPr>
        <p:spPr>
          <a:xfrm>
            <a:off x="548640" y="2514600"/>
            <a:ext cx="2833920" cy="68508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7" name="Text 8"/>
          <p:cNvSpPr/>
          <p:nvPr/>
        </p:nvSpPr>
        <p:spPr>
          <a:xfrm>
            <a:off x="548640" y="2514600"/>
            <a:ext cx="2833920" cy="685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Backend API</a:t>
            </a:r>
            <a:endParaRPr b="0" lang="en-US" sz="130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cfe3f0"/>
                </a:solidFill>
                <a:effectLst/>
                <a:uFillTx/>
                <a:latin typeface="Calibri"/>
                <a:ea typeface="Calibri"/>
              </a:rPr>
              <a:t>NestJS</a:t>
            </a:r>
            <a:endParaRPr b="0" lang="en-US" sz="1050" strike="noStrike" u="none">
              <a:solidFill>
                <a:srgbClr val="000000"/>
              </a:solidFill>
              <a:effectLst/>
              <a:uFillTx/>
              <a:latin typeface="Arial"/>
            </a:endParaRPr>
          </a:p>
        </p:txBody>
      </p:sp>
      <p:sp>
        <p:nvSpPr>
          <p:cNvPr id="68" name="Shape 9"/>
          <p:cNvSpPr/>
          <p:nvPr/>
        </p:nvSpPr>
        <p:spPr>
          <a:xfrm>
            <a:off x="4434840" y="2514600"/>
            <a:ext cx="2833920" cy="68508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69" name="Text 10"/>
          <p:cNvSpPr/>
          <p:nvPr/>
        </p:nvSpPr>
        <p:spPr>
          <a:xfrm>
            <a:off x="4434840" y="2514600"/>
            <a:ext cx="2833920" cy="685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ffffff"/>
                </a:solidFill>
                <a:effectLst/>
                <a:uFillTx/>
                <a:latin typeface="Calibri"/>
                <a:ea typeface="Calibri"/>
              </a:rPr>
              <a:t>AI service</a:t>
            </a:r>
            <a:endParaRPr b="0" lang="en-US" sz="1300" strike="noStrike" u="none">
              <a:solidFill>
                <a:srgbClr val="000000"/>
              </a:solidFill>
              <a:effectLst/>
              <a:uFillTx/>
              <a:latin typeface="Arial"/>
            </a:endParaRPr>
          </a:p>
          <a:p>
            <a:pPr algn="ctr" defTabSz="914400">
              <a:lnSpc>
                <a:spcPct val="100000"/>
              </a:lnSpc>
              <a:tabLst>
                <a:tab algn="l" pos="0"/>
              </a:tabLst>
            </a:pPr>
            <a:r>
              <a:rPr b="0" lang="en-US" sz="1050" strike="noStrike" u="none">
                <a:solidFill>
                  <a:srgbClr val="cfe3f0"/>
                </a:solidFill>
                <a:effectLst/>
                <a:uFillTx/>
                <a:latin typeface="Calibri"/>
                <a:ea typeface="Calibri"/>
              </a:rPr>
              <a:t>FastAPI</a:t>
            </a:r>
            <a:endParaRPr b="0" lang="en-US" sz="1050" strike="noStrike" u="none">
              <a:solidFill>
                <a:srgbClr val="000000"/>
              </a:solidFill>
              <a:effectLst/>
              <a:uFillTx/>
              <a:latin typeface="Arial"/>
            </a:endParaRPr>
          </a:p>
        </p:txBody>
      </p:sp>
      <p:sp>
        <p:nvSpPr>
          <p:cNvPr id="70" name="Shape 11"/>
          <p:cNvSpPr/>
          <p:nvPr/>
        </p:nvSpPr>
        <p:spPr>
          <a:xfrm>
            <a:off x="3383280" y="2852640"/>
            <a:ext cx="1051560" cy="360"/>
          </a:xfrm>
          <a:prstGeom prst="line">
            <a:avLst/>
          </a:prstGeom>
          <a:ln w="15875">
            <a:solidFill>
              <a:srgbClr val="0f766e"/>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1" name="Text 12"/>
          <p:cNvSpPr/>
          <p:nvPr/>
        </p:nvSpPr>
        <p:spPr>
          <a:xfrm>
            <a:off x="3383280" y="2578680"/>
            <a:ext cx="1050840" cy="22788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1" lang="en-US" sz="950" strike="noStrike" u="none">
                <a:solidFill>
                  <a:srgbClr val="0f766e"/>
                </a:solidFill>
                <a:effectLst/>
                <a:uFillTx/>
                <a:latin typeface="Calibri"/>
                <a:ea typeface="Calibri"/>
              </a:rPr>
              <a:t>Redis Pub/Sub</a:t>
            </a:r>
            <a:endParaRPr b="0" lang="en-US" sz="950" strike="noStrike" u="none">
              <a:solidFill>
                <a:srgbClr val="000000"/>
              </a:solidFill>
              <a:effectLst/>
              <a:uFillTx/>
              <a:latin typeface="Arial"/>
            </a:endParaRPr>
          </a:p>
        </p:txBody>
      </p:sp>
      <p:sp>
        <p:nvSpPr>
          <p:cNvPr id="72" name="Shape 13"/>
          <p:cNvSpPr/>
          <p:nvPr/>
        </p:nvSpPr>
        <p:spPr>
          <a:xfrm>
            <a:off x="1600200" y="1993320"/>
            <a:ext cx="274320" cy="52128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73" name="Shape 14"/>
          <p:cNvSpPr/>
          <p:nvPr/>
        </p:nvSpPr>
        <p:spPr>
          <a:xfrm flipH="1">
            <a:off x="2240280" y="1993320"/>
            <a:ext cx="1737360" cy="52128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74" name="Shape 15"/>
          <p:cNvSpPr/>
          <p:nvPr/>
        </p:nvSpPr>
        <p:spPr>
          <a:xfrm flipH="1">
            <a:off x="3017520" y="1993320"/>
            <a:ext cx="3337560" cy="52128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75" name="Text 16"/>
          <p:cNvSpPr/>
          <p:nvPr/>
        </p:nvSpPr>
        <p:spPr>
          <a:xfrm>
            <a:off x="548640" y="2130480"/>
            <a:ext cx="1188000" cy="2278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950" strike="noStrike" u="none">
                <a:solidFill>
                  <a:srgbClr val="0f766e"/>
                </a:solidFill>
                <a:effectLst/>
                <a:uFillTx/>
                <a:latin typeface="Calibri"/>
                <a:ea typeface="Calibri"/>
              </a:rPr>
              <a:t>WebSocket push</a:t>
            </a:r>
            <a:endParaRPr b="0" lang="en-US" sz="950" strike="noStrike" u="none">
              <a:solidFill>
                <a:srgbClr val="000000"/>
              </a:solidFill>
              <a:effectLst/>
              <a:uFillTx/>
              <a:latin typeface="Arial"/>
            </a:endParaRPr>
          </a:p>
        </p:txBody>
      </p:sp>
      <p:sp>
        <p:nvSpPr>
          <p:cNvPr id="76" name="Shape 17"/>
          <p:cNvSpPr/>
          <p:nvPr/>
        </p:nvSpPr>
        <p:spPr>
          <a:xfrm>
            <a:off x="548640" y="3703320"/>
            <a:ext cx="1736640" cy="547920"/>
          </a:xfrm>
          <a:prstGeom prst="rect">
            <a:avLst/>
          </a:prstGeom>
          <a:solidFill>
            <a:srgbClr val="e6f7f5"/>
          </a:solidFill>
          <a:ln w="9525">
            <a:solidFill>
              <a:srgbClr val="0f766e"/>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7" name="Text 18"/>
          <p:cNvSpPr/>
          <p:nvPr/>
        </p:nvSpPr>
        <p:spPr>
          <a:xfrm>
            <a:off x="548640" y="3703320"/>
            <a:ext cx="173664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72033"/>
                </a:solidFill>
                <a:effectLst/>
                <a:uFillTx/>
                <a:latin typeface="Calibri"/>
                <a:ea typeface="Calibri"/>
              </a:rPr>
              <a:t>Pricing</a:t>
            </a:r>
            <a:endParaRPr b="0" lang="en-US" sz="1250" strike="noStrike" u="none">
              <a:solidFill>
                <a:srgbClr val="000000"/>
              </a:solidFill>
              <a:effectLst/>
              <a:uFillTx/>
              <a:latin typeface="Arial"/>
            </a:endParaRPr>
          </a:p>
        </p:txBody>
      </p:sp>
      <p:sp>
        <p:nvSpPr>
          <p:cNvPr id="78" name="Shape 19"/>
          <p:cNvSpPr/>
          <p:nvPr/>
        </p:nvSpPr>
        <p:spPr>
          <a:xfrm>
            <a:off x="4206240" y="3703320"/>
            <a:ext cx="1370880" cy="547920"/>
          </a:xfrm>
          <a:prstGeom prst="rect">
            <a:avLst/>
          </a:prstGeom>
          <a:solidFill>
            <a:srgbClr val="e6f7f5"/>
          </a:solidFill>
          <a:ln w="9525">
            <a:solidFill>
              <a:srgbClr val="0f766e"/>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79" name="Text 20"/>
          <p:cNvSpPr/>
          <p:nvPr/>
        </p:nvSpPr>
        <p:spPr>
          <a:xfrm>
            <a:off x="4206240" y="3703320"/>
            <a:ext cx="13708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72033"/>
                </a:solidFill>
                <a:effectLst/>
                <a:uFillTx/>
                <a:latin typeface="Calibri"/>
                <a:ea typeface="Calibri"/>
              </a:rPr>
              <a:t>Stream worker</a:t>
            </a:r>
            <a:endParaRPr b="0" lang="en-US" sz="1250" strike="noStrike" u="none">
              <a:solidFill>
                <a:srgbClr val="000000"/>
              </a:solidFill>
              <a:effectLst/>
              <a:uFillTx/>
              <a:latin typeface="Arial"/>
            </a:endParaRPr>
          </a:p>
        </p:txBody>
      </p:sp>
      <p:sp>
        <p:nvSpPr>
          <p:cNvPr id="80" name="Shape 21"/>
          <p:cNvSpPr/>
          <p:nvPr/>
        </p:nvSpPr>
        <p:spPr>
          <a:xfrm>
            <a:off x="5760720" y="3703320"/>
            <a:ext cx="1370880" cy="547920"/>
          </a:xfrm>
          <a:prstGeom prst="rect">
            <a:avLst/>
          </a:prstGeom>
          <a:solidFill>
            <a:srgbClr val="e6f7f5"/>
          </a:solidFill>
          <a:ln w="9525">
            <a:solidFill>
              <a:srgbClr val="0f766e"/>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1" name="Text 22"/>
          <p:cNvSpPr/>
          <p:nvPr/>
        </p:nvSpPr>
        <p:spPr>
          <a:xfrm>
            <a:off x="5760720" y="3703320"/>
            <a:ext cx="137088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72033"/>
                </a:solidFill>
                <a:effectLst/>
                <a:uFillTx/>
                <a:latin typeface="Calibri"/>
                <a:ea typeface="Calibri"/>
              </a:rPr>
              <a:t>Plate LPR</a:t>
            </a:r>
            <a:endParaRPr b="0" lang="en-US" sz="1250" strike="noStrike" u="none">
              <a:solidFill>
                <a:srgbClr val="000000"/>
              </a:solidFill>
              <a:effectLst/>
              <a:uFillTx/>
              <a:latin typeface="Arial"/>
            </a:endParaRPr>
          </a:p>
        </p:txBody>
      </p:sp>
      <p:sp>
        <p:nvSpPr>
          <p:cNvPr id="82" name="Shape 23"/>
          <p:cNvSpPr/>
          <p:nvPr/>
        </p:nvSpPr>
        <p:spPr>
          <a:xfrm>
            <a:off x="1417320" y="3200400"/>
            <a:ext cx="360" cy="50292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83" name="Shape 24"/>
          <p:cNvSpPr/>
          <p:nvPr/>
        </p:nvSpPr>
        <p:spPr>
          <a:xfrm flipH="1">
            <a:off x="4892040" y="3200400"/>
            <a:ext cx="228600" cy="50292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84" name="Shape 25"/>
          <p:cNvSpPr/>
          <p:nvPr/>
        </p:nvSpPr>
        <p:spPr>
          <a:xfrm flipH="1">
            <a:off x="6446520" y="3200400"/>
            <a:ext cx="137160" cy="50292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85" name="Shape 26"/>
          <p:cNvSpPr/>
          <p:nvPr/>
        </p:nvSpPr>
        <p:spPr>
          <a:xfrm>
            <a:off x="548640" y="4800600"/>
            <a:ext cx="2833920" cy="547920"/>
          </a:xfrm>
          <a:prstGeom prst="rect">
            <a:avLst/>
          </a:prstGeom>
          <a:solidFill>
            <a:srgbClr val="f1f5f9"/>
          </a:soli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6" name="Text 27"/>
          <p:cNvSpPr/>
          <p:nvPr/>
        </p:nvSpPr>
        <p:spPr>
          <a:xfrm>
            <a:off x="548640" y="4800600"/>
            <a:ext cx="28339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72033"/>
                </a:solidFill>
                <a:effectLst/>
                <a:uFillTx/>
                <a:latin typeface="Calibri"/>
                <a:ea typeface="Calibri"/>
              </a:rPr>
              <a:t>PostgreSQL · MongoDB · S3</a:t>
            </a:r>
            <a:endParaRPr b="0" lang="en-US" sz="1250" strike="noStrike" u="none">
              <a:solidFill>
                <a:srgbClr val="000000"/>
              </a:solidFill>
              <a:effectLst/>
              <a:uFillTx/>
              <a:latin typeface="Arial"/>
            </a:endParaRPr>
          </a:p>
        </p:txBody>
      </p:sp>
      <p:sp>
        <p:nvSpPr>
          <p:cNvPr id="87" name="Shape 28"/>
          <p:cNvSpPr/>
          <p:nvPr/>
        </p:nvSpPr>
        <p:spPr>
          <a:xfrm>
            <a:off x="3840480" y="4800600"/>
            <a:ext cx="1645200" cy="547920"/>
          </a:xfrm>
          <a:prstGeom prst="rect">
            <a:avLst/>
          </a:prstGeom>
          <a:solidFill>
            <a:srgbClr val="f1f5f9"/>
          </a:solid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88" name="Text 29"/>
          <p:cNvSpPr/>
          <p:nvPr/>
        </p:nvSpPr>
        <p:spPr>
          <a:xfrm>
            <a:off x="3840480" y="4800600"/>
            <a:ext cx="164520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50" strike="noStrike" u="none">
                <a:solidFill>
                  <a:srgbClr val="172033"/>
                </a:solidFill>
                <a:effectLst/>
                <a:uFillTx/>
                <a:latin typeface="Calibri"/>
                <a:ea typeface="Calibri"/>
              </a:rPr>
              <a:t>CCTV (RTSP)</a:t>
            </a:r>
            <a:endParaRPr b="0" lang="en-US" sz="1250" strike="noStrike" u="none">
              <a:solidFill>
                <a:srgbClr val="000000"/>
              </a:solidFill>
              <a:effectLst/>
              <a:uFillTx/>
              <a:latin typeface="Arial"/>
            </a:endParaRPr>
          </a:p>
        </p:txBody>
      </p:sp>
      <p:sp>
        <p:nvSpPr>
          <p:cNvPr id="89" name="Shape 30"/>
          <p:cNvSpPr/>
          <p:nvPr/>
        </p:nvSpPr>
        <p:spPr>
          <a:xfrm>
            <a:off x="2926080" y="3200400"/>
            <a:ext cx="360" cy="160020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90" name="Shape 31"/>
          <p:cNvSpPr/>
          <p:nvPr/>
        </p:nvSpPr>
        <p:spPr>
          <a:xfrm flipV="1">
            <a:off x="4663440" y="4251960"/>
            <a:ext cx="360" cy="548640"/>
          </a:xfrm>
          <a:prstGeom prst="line">
            <a:avLst/>
          </a:prstGeom>
          <a:ln w="15875">
            <a:solidFill>
              <a:srgbClr val="6474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91" name="Shape 32"/>
          <p:cNvSpPr/>
          <p:nvPr/>
        </p:nvSpPr>
        <p:spPr>
          <a:xfrm>
            <a:off x="548640" y="5623560"/>
            <a:ext cx="255240" cy="182160"/>
          </a:xfrm>
          <a:prstGeom prst="rect">
            <a:avLst/>
          </a:prstGeom>
          <a:solidFill>
            <a:srgbClr val="e6f7f5"/>
          </a:solidFill>
          <a:ln w="9525">
            <a:solidFill>
              <a:srgbClr val="0f766e"/>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92" name="Text 33"/>
          <p:cNvSpPr/>
          <p:nvPr/>
        </p:nvSpPr>
        <p:spPr>
          <a:xfrm>
            <a:off x="868680" y="5577840"/>
            <a:ext cx="1828080" cy="273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100" strike="noStrike" u="none">
                <a:solidFill>
                  <a:srgbClr val="64748b"/>
                </a:solidFill>
                <a:effectLst/>
                <a:uFillTx/>
                <a:latin typeface="Calibri"/>
                <a:ea typeface="Calibri"/>
              </a:rPr>
              <a:t>new in 499B</a:t>
            </a:r>
            <a:endParaRPr b="0" lang="en-US" sz="1100" strike="noStrike" u="none">
              <a:solidFill>
                <a:srgbClr val="000000"/>
              </a:solidFill>
              <a:effectLst/>
              <a:uFillTx/>
              <a:latin typeface="Arial"/>
            </a:endParaRPr>
          </a:p>
        </p:txBody>
      </p:sp>
      <p:sp>
        <p:nvSpPr>
          <p:cNvPr id="93" name="Text 34"/>
          <p:cNvSpPr/>
          <p:nvPr/>
        </p:nvSpPr>
        <p:spPr>
          <a:xfrm>
            <a:off x="7863840" y="1325880"/>
            <a:ext cx="386712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trike="noStrike" u="none">
                <a:solidFill>
                  <a:srgbClr val="0f766e"/>
                </a:solidFill>
                <a:effectLst/>
                <a:uFillTx/>
                <a:latin typeface="Calibri"/>
                <a:ea typeface="Calibri"/>
              </a:rPr>
              <a:t>O1  Dhaka dataset + Phase 3</a:t>
            </a:r>
            <a:endParaRPr b="0" lang="en-US" sz="1600" strike="noStrike" u="none">
              <a:solidFill>
                <a:srgbClr val="000000"/>
              </a:solidFill>
              <a:effectLst/>
              <a:uFillTx/>
              <a:latin typeface="Arial"/>
            </a:endParaRPr>
          </a:p>
        </p:txBody>
      </p:sp>
      <p:sp>
        <p:nvSpPr>
          <p:cNvPr id="94" name="Text 35"/>
          <p:cNvSpPr/>
          <p:nvPr/>
        </p:nvSpPr>
        <p:spPr>
          <a:xfrm>
            <a:off x="7863840" y="1737360"/>
            <a:ext cx="3867120" cy="191952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Footage from 2–3 Dhaka parking sites (day, night, rain)</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3,000–5,000 labelled slot images</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Test the 499A model first, then fine-tune a third phase</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One Dhaka site kept out for validation; baseline to beat is 86–90% [4]</a:t>
            </a:r>
            <a:endParaRPr b="0" lang="en-US" sz="1350" strike="noStrike" u="none">
              <a:solidFill>
                <a:srgbClr val="000000"/>
              </a:solidFill>
              <a:effectLst/>
              <a:uFillTx/>
              <a:latin typeface="Arial"/>
            </a:endParaRPr>
          </a:p>
        </p:txBody>
      </p:sp>
      <p:sp>
        <p:nvSpPr>
          <p:cNvPr id="95" name="Text 36"/>
          <p:cNvSpPr/>
          <p:nvPr/>
        </p:nvSpPr>
        <p:spPr>
          <a:xfrm>
            <a:off x="7863840" y="3703320"/>
            <a:ext cx="386712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trike="noStrike" u="none">
                <a:solidFill>
                  <a:srgbClr val="0f766e"/>
                </a:solidFill>
                <a:effectLst/>
                <a:uFillTx/>
                <a:latin typeface="Calibri"/>
                <a:ea typeface="Calibri"/>
              </a:rPr>
              <a:t>O2  Live pipeline</a:t>
            </a:r>
            <a:endParaRPr b="0" lang="en-US" sz="1600" strike="noStrike" u="none">
              <a:solidFill>
                <a:srgbClr val="000000"/>
              </a:solidFill>
              <a:effectLst/>
              <a:uFillTx/>
              <a:latin typeface="Arial"/>
            </a:endParaRPr>
          </a:p>
        </p:txBody>
      </p:sp>
      <p:sp>
        <p:nvSpPr>
          <p:cNvPr id="96" name="Text 37"/>
          <p:cNvSpPr/>
          <p:nvPr/>
        </p:nvSpPr>
        <p:spPr>
          <a:xfrm>
            <a:off x="7863840" y="4114800"/>
            <a:ext cx="3867120" cy="210240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A frame every 2–3 s; only changed slots are pushed to the apps</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Camera online/offline status and automatic reconnect</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Replaces the 10-minute still-image refresh from 499A</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50" strike="noStrike" u="none">
                <a:solidFill>
                  <a:srgbClr val="172033"/>
                </a:solidFill>
                <a:effectLst/>
                <a:uFillTx/>
                <a:latin typeface="Calibri"/>
                <a:ea typeface="Calibri"/>
              </a:rPr>
              <a:t>Latency measured on a Raspberry Pi</a:t>
            </a:r>
            <a:endParaRPr b="0" lang="en-US" sz="1350" strike="noStrike" u="none">
              <a:solidFill>
                <a:srgbClr val="000000"/>
              </a:solidFill>
              <a:effectLst/>
              <a:uFillTx/>
              <a:latin typeface="Arial"/>
            </a:endParaRPr>
          </a:p>
        </p:txBody>
      </p:sp>
      <p:sp>
        <p:nvSpPr>
          <p:cNvPr id="97" name="Text 38"/>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98" name="Text 39"/>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6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499B: Bangla Licence Plates and Pricing</a:t>
            </a:r>
            <a:endParaRPr b="0" lang="en-US" sz="3000" strike="noStrike" u="none">
              <a:solidFill>
                <a:srgbClr val="000000"/>
              </a:solidFill>
              <a:effectLst/>
              <a:uFillTx/>
              <a:latin typeface="Arial"/>
            </a:endParaRPr>
          </a:p>
        </p:txBody>
      </p:sp>
      <p:pic>
        <p:nvPicPr>
          <p:cNvPr id="100"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101" name="Text 1"/>
          <p:cNvSpPr/>
          <p:nvPr/>
        </p:nvSpPr>
        <p:spPr>
          <a:xfrm>
            <a:off x="457200" y="1234440"/>
            <a:ext cx="548568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trike="noStrike" u="none">
                <a:solidFill>
                  <a:srgbClr val="0f766e"/>
                </a:solidFill>
                <a:effectLst/>
                <a:uFillTx/>
                <a:latin typeface="Calibri"/>
                <a:ea typeface="Calibri"/>
              </a:rPr>
              <a:t>O3  Bangla licence plate recognition</a:t>
            </a:r>
            <a:endParaRPr b="0" lang="en-US" sz="1600" strike="noStrike" u="none">
              <a:solidFill>
                <a:srgbClr val="000000"/>
              </a:solidFill>
              <a:effectLst/>
              <a:uFillTx/>
              <a:latin typeface="Arial"/>
            </a:endParaRPr>
          </a:p>
        </p:txBody>
      </p:sp>
      <p:sp>
        <p:nvSpPr>
          <p:cNvPr id="102" name="Text 2"/>
          <p:cNvSpPr/>
          <p:nvPr/>
        </p:nvSpPr>
        <p:spPr>
          <a:xfrm>
            <a:off x="457200" y="1691640"/>
            <a:ext cx="3199680" cy="17366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Calibri Light"/>
              <a:buAutoNum type="arabicPeriod"/>
            </a:pPr>
            <a:r>
              <a:rPr b="0" lang="en-US" sz="1350" strike="noStrike" u="none">
                <a:solidFill>
                  <a:srgbClr val="172033"/>
                </a:solidFill>
                <a:effectLst/>
                <a:uFillTx/>
                <a:latin typeface="Calibri"/>
                <a:ea typeface="Calibri"/>
              </a:rPr>
              <a:t>Detect plates with YOLOv8</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Calibri Light"/>
              <a:buAutoNum type="arabicPeriod"/>
            </a:pPr>
            <a:r>
              <a:rPr b="0" lang="en-US" sz="1350" strike="noStrike" u="none">
                <a:solidFill>
                  <a:srgbClr val="172033"/>
                </a:solidFill>
                <a:effectLst/>
                <a:uFillTx/>
                <a:latin typeface="Calibri"/>
                <a:ea typeface="Calibri"/>
              </a:rPr>
              <a:t>Read the two lines (district/class, serial)</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Calibri Light"/>
              <a:buAutoNum type="arabicPeriod"/>
            </a:pPr>
            <a:r>
              <a:rPr b="0" lang="en-US" sz="1350" strike="noStrike" u="none">
                <a:solidFill>
                  <a:srgbClr val="172033"/>
                </a:solidFill>
                <a:effectLst/>
                <a:uFillTx/>
                <a:latin typeface="Calibri"/>
                <a:ea typeface="Calibri"/>
              </a:rPr>
              <a:t>Store plate, time, camera in MongoDB</a:t>
            </a:r>
            <a:endParaRPr b="0" lang="en-US" sz="1350" strike="noStrike" u="none">
              <a:solidFill>
                <a:srgbClr val="000000"/>
              </a:solidFill>
              <a:effectLst/>
              <a:uFillTx/>
              <a:latin typeface="Arial"/>
            </a:endParaRPr>
          </a:p>
          <a:p>
            <a:pPr marL="343080" indent="-343080" defTabSz="914400">
              <a:lnSpc>
                <a:spcPct val="100000"/>
              </a:lnSpc>
              <a:spcAft>
                <a:spcPts val="499"/>
              </a:spcAft>
              <a:buClr>
                <a:srgbClr val="172033"/>
              </a:buClr>
              <a:buFont typeface="Calibri Light"/>
              <a:buAutoNum type="arabicPeriod"/>
            </a:pPr>
            <a:r>
              <a:rPr b="0" lang="en-US" sz="1350" strike="noStrike" u="none">
                <a:solidFill>
                  <a:srgbClr val="172033"/>
                </a:solidFill>
                <a:effectLst/>
                <a:uFillTx/>
                <a:latin typeface="Calibri"/>
                <a:ea typeface="Calibri"/>
              </a:rPr>
              <a:t>Show in the authority enforcement log</a:t>
            </a:r>
            <a:endParaRPr b="0" lang="en-US" sz="1350" strike="noStrike" u="none">
              <a:solidFill>
                <a:srgbClr val="000000"/>
              </a:solidFill>
              <a:effectLst/>
              <a:uFillTx/>
              <a:latin typeface="Arial"/>
            </a:endParaRPr>
          </a:p>
        </p:txBody>
      </p:sp>
      <p:sp>
        <p:nvSpPr>
          <p:cNvPr id="103" name="Shape 3"/>
          <p:cNvSpPr/>
          <p:nvPr/>
        </p:nvSpPr>
        <p:spPr>
          <a:xfrm>
            <a:off x="3840480" y="1737360"/>
            <a:ext cx="2148120" cy="1188000"/>
          </a:xfrm>
          <a:prstGeom prst="rect">
            <a:avLst/>
          </a:prstGeom>
          <a:solidFill>
            <a:srgbClr val="ffffff"/>
          </a:solidFill>
          <a:ln w="9525">
            <a:solidFill>
              <a:srgbClr val="172033"/>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4" name="Shape 4"/>
          <p:cNvSpPr/>
          <p:nvPr/>
        </p:nvSpPr>
        <p:spPr>
          <a:xfrm>
            <a:off x="3840480" y="1737360"/>
            <a:ext cx="2148120" cy="1188000"/>
          </a:xfrm>
          <a:prstGeom prst="rect">
            <a:avLst/>
          </a:prstGeom>
          <a:noFill/>
          <a:ln w="25400">
            <a:solidFill>
              <a:srgbClr val="172033"/>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05" name="Text 5"/>
          <p:cNvSpPr/>
          <p:nvPr/>
        </p:nvSpPr>
        <p:spPr>
          <a:xfrm>
            <a:off x="3840480" y="1783080"/>
            <a:ext cx="2148120" cy="5479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hi-IN" sz="2100" strike="noStrike" u="none">
                <a:solidFill>
                  <a:srgbClr val="172033"/>
                </a:solidFill>
                <a:effectLst/>
                <a:uFillTx/>
                <a:latin typeface="Nirmala UI"/>
                <a:cs typeface="Nirmala UI"/>
              </a:rPr>
              <a:t>ঢাকা মেট্রো</a:t>
            </a:r>
            <a:r>
              <a:rPr b="1" lang="en-US" sz="2100" strike="noStrike" u="none">
                <a:solidFill>
                  <a:srgbClr val="172033"/>
                </a:solidFill>
                <a:effectLst/>
                <a:uFillTx/>
                <a:latin typeface="Nirmala UI"/>
                <a:ea typeface="Nirmala UI"/>
              </a:rPr>
              <a:t>-</a:t>
            </a:r>
            <a:r>
              <a:rPr b="1" lang="hi-IN" sz="2100" strike="noStrike" u="none">
                <a:solidFill>
                  <a:srgbClr val="172033"/>
                </a:solidFill>
                <a:effectLst/>
                <a:uFillTx/>
                <a:latin typeface="Nirmala UI"/>
                <a:cs typeface="Nirmala UI"/>
              </a:rPr>
              <a:t>গ</a:t>
            </a:r>
            <a:endParaRPr b="0" lang="en-US" sz="2100" strike="noStrike" u="none">
              <a:solidFill>
                <a:srgbClr val="000000"/>
              </a:solidFill>
              <a:effectLst/>
              <a:uFillTx/>
              <a:latin typeface="Arial"/>
            </a:endParaRPr>
          </a:p>
        </p:txBody>
      </p:sp>
      <p:sp>
        <p:nvSpPr>
          <p:cNvPr id="106" name="Text 6"/>
          <p:cNvSpPr/>
          <p:nvPr/>
        </p:nvSpPr>
        <p:spPr>
          <a:xfrm>
            <a:off x="3840480" y="2304360"/>
            <a:ext cx="2148120" cy="5936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hi-IN" sz="2500" strike="noStrike" u="none">
                <a:solidFill>
                  <a:srgbClr val="172033"/>
                </a:solidFill>
                <a:effectLst/>
                <a:uFillTx/>
                <a:latin typeface="Nirmala UI"/>
                <a:cs typeface="Nirmala UI"/>
              </a:rPr>
              <a:t>১২</a:t>
            </a:r>
            <a:r>
              <a:rPr b="1" lang="en-US" sz="2500" strike="noStrike" u="none">
                <a:solidFill>
                  <a:srgbClr val="172033"/>
                </a:solidFill>
                <a:effectLst/>
                <a:uFillTx/>
                <a:latin typeface="Nirmala UI"/>
                <a:ea typeface="Nirmala UI"/>
              </a:rPr>
              <a:t>-</a:t>
            </a:r>
            <a:r>
              <a:rPr b="1" lang="hi-IN" sz="2500" strike="noStrike" u="none">
                <a:solidFill>
                  <a:srgbClr val="172033"/>
                </a:solidFill>
                <a:effectLst/>
                <a:uFillTx/>
                <a:latin typeface="Nirmala UI"/>
                <a:cs typeface="Nirmala UI"/>
              </a:rPr>
              <a:t>৩৪৫৬</a:t>
            </a:r>
            <a:endParaRPr b="0" lang="en-US" sz="2500" strike="noStrike" u="none">
              <a:solidFill>
                <a:srgbClr val="000000"/>
              </a:solidFill>
              <a:effectLst/>
              <a:uFillTx/>
              <a:latin typeface="Arial"/>
            </a:endParaRPr>
          </a:p>
        </p:txBody>
      </p:sp>
      <p:sp>
        <p:nvSpPr>
          <p:cNvPr id="107" name="Text 7"/>
          <p:cNvSpPr/>
          <p:nvPr/>
        </p:nvSpPr>
        <p:spPr>
          <a:xfrm>
            <a:off x="3840480" y="2971800"/>
            <a:ext cx="2148120" cy="273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100" strike="noStrike" u="none">
                <a:solidFill>
                  <a:srgbClr val="64748b"/>
                </a:solidFill>
                <a:effectLst/>
                <a:uFillTx/>
                <a:latin typeface="Calibri"/>
                <a:ea typeface="Calibri"/>
              </a:rPr>
              <a:t>two-line Bangla plate</a:t>
            </a:r>
            <a:endParaRPr b="0" lang="en-US" sz="1100" strike="noStrike" u="none">
              <a:solidFill>
                <a:srgbClr val="000000"/>
              </a:solidFill>
              <a:effectLst/>
              <a:uFillTx/>
              <a:latin typeface="Arial"/>
            </a:endParaRPr>
          </a:p>
        </p:txBody>
      </p:sp>
      <p:sp>
        <p:nvSpPr>
          <p:cNvPr id="108" name="Text 8"/>
          <p:cNvSpPr/>
          <p:nvPr/>
        </p:nvSpPr>
        <p:spPr>
          <a:xfrm>
            <a:off x="457200" y="3474720"/>
            <a:ext cx="5531400" cy="73080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trike="noStrike" u="none">
                <a:solidFill>
                  <a:srgbClr val="172033"/>
                </a:solidFill>
                <a:effectLst/>
                <a:uFillTx/>
                <a:latin typeface="Calibri"/>
                <a:ea typeface="Calibri"/>
              </a:rPr>
              <a:t>Data: public Bangla plate sets [5][6] + 100–200 of our own photos. Reported: detection mAP, character error rate, full-plate accuracy.</a:t>
            </a:r>
            <a:endParaRPr b="0" lang="en-US" sz="1300" strike="noStrike" u="none">
              <a:solidFill>
                <a:srgbClr val="000000"/>
              </a:solidFill>
              <a:effectLst/>
              <a:uFillTx/>
              <a:latin typeface="Arial"/>
            </a:endParaRPr>
          </a:p>
        </p:txBody>
      </p:sp>
      <p:sp>
        <p:nvSpPr>
          <p:cNvPr id="109" name="Shape 9"/>
          <p:cNvSpPr/>
          <p:nvPr/>
        </p:nvSpPr>
        <p:spPr>
          <a:xfrm>
            <a:off x="457200" y="4343400"/>
            <a:ext cx="5531400" cy="1782360"/>
          </a:xfrm>
          <a:prstGeom prst="rect">
            <a:avLst/>
          </a:prstGeom>
          <a:solidFill>
            <a:srgbClr val="f1f5f9"/>
          </a:solidFill>
          <a:ln w="9525">
            <a:solidFill>
              <a:srgbClr val="f1f5f9"/>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10" name="Text 10"/>
          <p:cNvSpPr/>
          <p:nvPr/>
        </p:nvSpPr>
        <p:spPr>
          <a:xfrm>
            <a:off x="640080" y="4434840"/>
            <a:ext cx="5119920" cy="31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trike="noStrike" u="none">
                <a:solidFill>
                  <a:srgbClr val="172033"/>
                </a:solidFill>
                <a:effectLst/>
                <a:uFillTx/>
                <a:latin typeface="Calibri"/>
                <a:ea typeface="Calibri"/>
              </a:rPr>
              <a:t>Privacy</a:t>
            </a:r>
            <a:endParaRPr b="0" lang="en-US" sz="1400" strike="noStrike" u="none">
              <a:solidFill>
                <a:srgbClr val="000000"/>
              </a:solidFill>
              <a:effectLst/>
              <a:uFillTx/>
              <a:latin typeface="Arial"/>
            </a:endParaRPr>
          </a:p>
        </p:txBody>
      </p:sp>
      <p:sp>
        <p:nvSpPr>
          <p:cNvPr id="111" name="Text 11"/>
          <p:cNvSpPr/>
          <p:nvPr/>
        </p:nvSpPr>
        <p:spPr>
          <a:xfrm>
            <a:off x="640080" y="4773240"/>
            <a:ext cx="5211360" cy="127944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Only the authority role can see plate data</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Every lookup is logged; records are deleted after a fixed period</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Required once the Personal Data Protection Ordinance (2025) is enforced in May 2027</a:t>
            </a:r>
            <a:endParaRPr b="0" lang="en-US" sz="1300" strike="noStrike" u="none">
              <a:solidFill>
                <a:srgbClr val="000000"/>
              </a:solidFill>
              <a:effectLst/>
              <a:uFillTx/>
              <a:latin typeface="Arial"/>
            </a:endParaRPr>
          </a:p>
        </p:txBody>
      </p:sp>
      <p:sp>
        <p:nvSpPr>
          <p:cNvPr id="112" name="Text 12"/>
          <p:cNvSpPr/>
          <p:nvPr/>
        </p:nvSpPr>
        <p:spPr>
          <a:xfrm>
            <a:off x="6355080" y="1234440"/>
            <a:ext cx="539424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600" strike="noStrike" u="none">
                <a:solidFill>
                  <a:srgbClr val="0f766e"/>
                </a:solidFill>
                <a:effectLst/>
                <a:uFillTx/>
                <a:latin typeface="Calibri"/>
                <a:ea typeface="Calibri"/>
              </a:rPr>
              <a:t>O4  Demand-aware pricing</a:t>
            </a:r>
            <a:endParaRPr b="0" lang="en-US" sz="1600" strike="noStrike" u="none">
              <a:solidFill>
                <a:srgbClr val="000000"/>
              </a:solidFill>
              <a:effectLst/>
              <a:uFillTx/>
              <a:latin typeface="Arial"/>
            </a:endParaRPr>
          </a:p>
        </p:txBody>
      </p:sp>
      <p:graphicFrame>
        <p:nvGraphicFramePr>
          <p:cNvPr id="113" name="Chart 0"/>
          <p:cNvGraphicFramePr/>
          <p:nvPr/>
        </p:nvGraphicFramePr>
        <p:xfrm>
          <a:off x="6263640" y="1600200"/>
          <a:ext cx="5485680" cy="2742480"/>
        </p:xfrm>
        <a:graphic>
          <a:graphicData uri="http://schemas.openxmlformats.org/drawingml/2006/chart">
            <c:chart xmlns:c="http://schemas.openxmlformats.org/drawingml/2006/chart" xmlns:r="http://schemas.openxmlformats.org/officeDocument/2006/relationships" r:id="rId2"/>
          </a:graphicData>
        </a:graphic>
      </p:graphicFrame>
      <p:sp>
        <p:nvSpPr>
          <p:cNvPr id="114" name="Text 13"/>
          <p:cNvSpPr/>
          <p:nvPr/>
        </p:nvSpPr>
        <p:spPr>
          <a:xfrm>
            <a:off x="6355080" y="4434840"/>
            <a:ext cx="5394240" cy="3650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350" strike="noStrike" u="none">
                <a:solidFill>
                  <a:srgbClr val="172033"/>
                </a:solidFill>
                <a:effectLst/>
                <a:uFillTx/>
                <a:latin typeface="Calibri"/>
                <a:ea typeface="Calibri"/>
              </a:rPr>
              <a:t>If occupancy ≥ 80%:  </a:t>
            </a:r>
            <a:r>
              <a:rPr b="0" lang="en-US" sz="1350" strike="noStrike" u="none">
                <a:solidFill>
                  <a:srgbClr val="172033"/>
                </a:solidFill>
                <a:effectLst/>
                <a:uFillTx/>
                <a:latin typeface="Calibri"/>
                <a:ea typeface="Calibri"/>
              </a:rPr>
              <a:t>rate = base × 1.5, kept between a floor and a ceiling</a:t>
            </a:r>
            <a:endParaRPr b="0" lang="en-US" sz="1350" strike="noStrike" u="none">
              <a:solidFill>
                <a:srgbClr val="000000"/>
              </a:solidFill>
              <a:effectLst/>
              <a:uFillTx/>
              <a:latin typeface="Arial"/>
            </a:endParaRPr>
          </a:p>
        </p:txBody>
      </p:sp>
      <p:sp>
        <p:nvSpPr>
          <p:cNvPr id="115" name="Text 14"/>
          <p:cNvSpPr/>
          <p:nvPr/>
        </p:nvSpPr>
        <p:spPr>
          <a:xfrm>
            <a:off x="6355080" y="4846320"/>
            <a:ext cx="5394240" cy="132516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Base rate per slot type: standard, motorcycle, disabled, EV</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Peak and off-peak hours</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Price fixed at booking time; owner revenue page</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Uses the existing pricing_rules table (today: flat rate × hours)</a:t>
            </a:r>
            <a:endParaRPr b="0" lang="en-US" sz="1300" strike="noStrike" u="none">
              <a:solidFill>
                <a:srgbClr val="000000"/>
              </a:solidFill>
              <a:effectLst/>
              <a:uFillTx/>
              <a:latin typeface="Arial"/>
            </a:endParaRPr>
          </a:p>
        </p:txBody>
      </p:sp>
      <p:sp>
        <p:nvSpPr>
          <p:cNvPr id="116" name="Text 15"/>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17" name="Text 16"/>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1 · ML &amp; Backend   7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Mobile App: Architecture and Stack</a:t>
            </a:r>
            <a:endParaRPr b="0" lang="en-US" sz="3000" strike="noStrike" u="none">
              <a:solidFill>
                <a:srgbClr val="000000"/>
              </a:solidFill>
              <a:effectLst/>
              <a:uFillTx/>
              <a:latin typeface="Arial"/>
            </a:endParaRPr>
          </a:p>
        </p:txBody>
      </p:sp>
      <p:sp>
        <p:nvSpPr>
          <p:cNvPr id="119"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Flutter driver app: sign in, find nearby parking, book and manage bookings</a:t>
            </a:r>
            <a:endParaRPr b="0" lang="en-US" sz="1500" strike="noStrike" u="none">
              <a:solidFill>
                <a:srgbClr val="000000"/>
              </a:solidFill>
              <a:effectLst/>
              <a:uFillTx/>
              <a:latin typeface="Arial"/>
            </a:endParaRPr>
          </a:p>
        </p:txBody>
      </p:sp>
      <p:pic>
        <p:nvPicPr>
          <p:cNvPr id="120"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graphicFrame>
        <p:nvGraphicFramePr>
          <p:cNvPr id="121" name="Table 0"/>
          <p:cNvGraphicFramePr/>
          <p:nvPr/>
        </p:nvGraphicFramePr>
        <p:xfrm>
          <a:off x="457200" y="1371600"/>
          <a:ext cx="6949080" cy="3017520"/>
        </p:xfrm>
        <a:graphic>
          <a:graphicData uri="http://schemas.openxmlformats.org/drawingml/2006/table">
            <a:tbl>
              <a:tblPr/>
              <a:tblGrid>
                <a:gridCol w="1737360"/>
                <a:gridCol w="5212080"/>
              </a:tblGrid>
              <a:tr h="502920">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Layer</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What it contains</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50292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Screens + widgets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landing, sign in / sign up, dashboard map, new booking sheet, bookings, booking details, profile, settings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0292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State</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Provider / ChangeNotifier</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0292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Services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API, auth, session, booking, location, places, profile</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0292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Models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user, auth response, booking, parking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0292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Theme + utils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light / dark theme, map style, BDT currency formatter, responsive layout</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bl>
          </a:graphicData>
        </a:graphic>
      </p:graphicFrame>
      <p:sp>
        <p:nvSpPr>
          <p:cNvPr id="122" name="Text 2"/>
          <p:cNvSpPr/>
          <p:nvPr/>
        </p:nvSpPr>
        <p:spPr>
          <a:xfrm>
            <a:off x="457200" y="4617720"/>
            <a:ext cx="6948720" cy="31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trike="noStrike" u="none">
                <a:solidFill>
                  <a:srgbClr val="172033"/>
                </a:solidFill>
                <a:effectLst/>
                <a:uFillTx/>
                <a:latin typeface="Calibri"/>
                <a:ea typeface="Calibri"/>
              </a:rPr>
              <a:t>Packages</a:t>
            </a:r>
            <a:endParaRPr b="0" lang="en-US" sz="1500" strike="noStrike" u="none">
              <a:solidFill>
                <a:srgbClr val="000000"/>
              </a:solidFill>
              <a:effectLst/>
              <a:uFillTx/>
              <a:latin typeface="Arial"/>
            </a:endParaRPr>
          </a:p>
        </p:txBody>
      </p:sp>
      <p:sp>
        <p:nvSpPr>
          <p:cNvPr id="123" name="Text 3"/>
          <p:cNvSpPr/>
          <p:nvPr/>
        </p:nvSpPr>
        <p:spPr>
          <a:xfrm>
            <a:off x="457200" y="4956120"/>
            <a:ext cx="6948720" cy="547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50" strike="noStrike" u="none">
                <a:solidFill>
                  <a:srgbClr val="172033"/>
                </a:solidFill>
                <a:effectLst/>
                <a:uFillTx/>
                <a:latin typeface="Calibri"/>
                <a:ea typeface="Calibri"/>
              </a:rPr>
              <a:t>provider · http · shared_preferences · google_maps_flutter · geolocator · permission_handler · location · url_launcher · intl</a:t>
            </a:r>
            <a:endParaRPr b="0" lang="en-US" sz="1350" strike="noStrike" u="none">
              <a:solidFill>
                <a:srgbClr val="000000"/>
              </a:solidFill>
              <a:effectLst/>
              <a:uFillTx/>
              <a:latin typeface="Arial"/>
            </a:endParaRPr>
          </a:p>
        </p:txBody>
      </p:sp>
      <p:sp>
        <p:nvSpPr>
          <p:cNvPr id="124" name="Text 4"/>
          <p:cNvSpPr/>
          <p:nvPr/>
        </p:nvSpPr>
        <p:spPr>
          <a:xfrm>
            <a:off x="457200" y="5532120"/>
            <a:ext cx="6948720" cy="5479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trike="noStrike" u="none">
                <a:solidFill>
                  <a:srgbClr val="64748b"/>
                </a:solidFill>
                <a:effectLst/>
                <a:uFillTx/>
                <a:latin typeface="Calibri"/>
                <a:ea typeface="Calibri"/>
              </a:rPr>
              <a:t>The app talks only to the NestJS REST API; the JWT session is stored with shared_preferences so the user stays signed in.</a:t>
            </a:r>
            <a:endParaRPr b="0" lang="en-US" sz="1300" strike="noStrike" u="none">
              <a:solidFill>
                <a:srgbClr val="000000"/>
              </a:solidFill>
              <a:effectLst/>
              <a:uFillTx/>
              <a:latin typeface="Arial"/>
            </a:endParaRPr>
          </a:p>
        </p:txBody>
      </p:sp>
      <p:pic>
        <p:nvPicPr>
          <p:cNvPr id="125" name="Image 1" descr="E:\remote\2026\team\499\tmp\499b\review-presentation\assets\app-landing.jpeg"/>
          <p:cNvPicPr/>
          <p:nvPr/>
        </p:nvPicPr>
        <p:blipFill>
          <a:blip r:embed="rId2"/>
          <a:stretch/>
        </p:blipFill>
        <p:spPr>
          <a:xfrm>
            <a:off x="8001000" y="1371600"/>
            <a:ext cx="1883520" cy="4205520"/>
          </a:xfrm>
          <a:prstGeom prst="rect">
            <a:avLst/>
          </a:prstGeom>
          <a:noFill/>
          <a:ln w="0">
            <a:noFill/>
          </a:ln>
        </p:spPr>
      </p:pic>
      <p:sp>
        <p:nvSpPr>
          <p:cNvPr id="126" name="Shape 5"/>
          <p:cNvSpPr/>
          <p:nvPr/>
        </p:nvSpPr>
        <p:spPr>
          <a:xfrm>
            <a:off x="8001000" y="1371600"/>
            <a:ext cx="1883520" cy="420552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27" name="Text 6"/>
          <p:cNvSpPr/>
          <p:nvPr/>
        </p:nvSpPr>
        <p:spPr>
          <a:xfrm>
            <a:off x="7909560" y="5650920"/>
            <a:ext cx="206640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Landing</a:t>
            </a:r>
            <a:endParaRPr b="0" lang="en-US" sz="1200" strike="noStrike" u="none">
              <a:solidFill>
                <a:srgbClr val="000000"/>
              </a:solidFill>
              <a:effectLst/>
              <a:uFillTx/>
              <a:latin typeface="Arial"/>
            </a:endParaRPr>
          </a:p>
        </p:txBody>
      </p:sp>
      <p:pic>
        <p:nvPicPr>
          <p:cNvPr id="128" name="Image 2" descr="E:\remote\2026\team\499\tmp\499b\review-presentation\assets\app-signin.jpeg"/>
          <p:cNvPicPr/>
          <p:nvPr/>
        </p:nvPicPr>
        <p:blipFill>
          <a:blip r:embed="rId3"/>
          <a:stretch/>
        </p:blipFill>
        <p:spPr>
          <a:xfrm>
            <a:off x="10012680" y="1371600"/>
            <a:ext cx="1883520" cy="4205520"/>
          </a:xfrm>
          <a:prstGeom prst="rect">
            <a:avLst/>
          </a:prstGeom>
          <a:noFill/>
          <a:ln w="0">
            <a:noFill/>
          </a:ln>
        </p:spPr>
      </p:pic>
      <p:sp>
        <p:nvSpPr>
          <p:cNvPr id="129" name="Shape 7"/>
          <p:cNvSpPr/>
          <p:nvPr/>
        </p:nvSpPr>
        <p:spPr>
          <a:xfrm>
            <a:off x="10012680" y="1371600"/>
            <a:ext cx="1883520" cy="420552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30" name="Text 8"/>
          <p:cNvSpPr/>
          <p:nvPr/>
        </p:nvSpPr>
        <p:spPr>
          <a:xfrm>
            <a:off x="9921240" y="5650920"/>
            <a:ext cx="206640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Sign in</a:t>
            </a:r>
            <a:endParaRPr b="0" lang="en-US" sz="1200" strike="noStrike" u="none">
              <a:solidFill>
                <a:srgbClr val="000000"/>
              </a:solidFill>
              <a:effectLst/>
              <a:uFillTx/>
              <a:latin typeface="Arial"/>
            </a:endParaRPr>
          </a:p>
        </p:txBody>
      </p:sp>
      <p:sp>
        <p:nvSpPr>
          <p:cNvPr id="131" name="Text 9"/>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32" name="Text 10"/>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2 · Mobile App   8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Mobile App: Driver Journey Built in 499A</a:t>
            </a:r>
            <a:endParaRPr b="0" lang="en-US" sz="3000" strike="noStrike" u="none">
              <a:solidFill>
                <a:srgbClr val="000000"/>
              </a:solidFill>
              <a:effectLst/>
              <a:uFillTx/>
              <a:latin typeface="Arial"/>
            </a:endParaRPr>
          </a:p>
        </p:txBody>
      </p:sp>
      <p:sp>
        <p:nvSpPr>
          <p:cNvPr id="134"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Screenshots from the 499A demo build, connected to the live backend</a:t>
            </a:r>
            <a:endParaRPr b="0" lang="en-US" sz="1500" strike="noStrike" u="none">
              <a:solidFill>
                <a:srgbClr val="000000"/>
              </a:solidFill>
              <a:effectLst/>
              <a:uFillTx/>
              <a:latin typeface="Arial"/>
            </a:endParaRPr>
          </a:p>
        </p:txBody>
      </p:sp>
      <p:pic>
        <p:nvPicPr>
          <p:cNvPr id="135"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pic>
        <p:nvPicPr>
          <p:cNvPr id="136" name="Image 1" descr="E:\remote\2026\team\499\tmp\499b\review-presentation\assets\app-map.jpeg"/>
          <p:cNvPicPr/>
          <p:nvPr/>
        </p:nvPicPr>
        <p:blipFill>
          <a:blip r:embed="rId2"/>
          <a:stretch/>
        </p:blipFill>
        <p:spPr>
          <a:xfrm>
            <a:off x="502920" y="1371600"/>
            <a:ext cx="1842840" cy="4114080"/>
          </a:xfrm>
          <a:prstGeom prst="rect">
            <a:avLst/>
          </a:prstGeom>
          <a:noFill/>
          <a:ln w="0">
            <a:noFill/>
          </a:ln>
        </p:spPr>
      </p:pic>
      <p:sp>
        <p:nvSpPr>
          <p:cNvPr id="137" name="Shape 2"/>
          <p:cNvSpPr/>
          <p:nvPr/>
        </p:nvSpPr>
        <p:spPr>
          <a:xfrm>
            <a:off x="502920" y="1371600"/>
            <a:ext cx="1842840" cy="411408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38" name="Text 3"/>
          <p:cNvSpPr/>
          <p:nvPr/>
        </p:nvSpPr>
        <p:spPr>
          <a:xfrm>
            <a:off x="411480" y="5559480"/>
            <a:ext cx="202572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1. Nearby parking</a:t>
            </a:r>
            <a:endParaRPr b="0" lang="en-US" sz="1200" strike="noStrike" u="none">
              <a:solidFill>
                <a:srgbClr val="000000"/>
              </a:solidFill>
              <a:effectLst/>
              <a:uFillTx/>
              <a:latin typeface="Arial"/>
            </a:endParaRPr>
          </a:p>
        </p:txBody>
      </p:sp>
      <p:pic>
        <p:nvPicPr>
          <p:cNvPr id="139" name="Image 2" descr="E:\remote\2026\team\499\tmp\499b\review-presentation\assets\app-space.jpeg"/>
          <p:cNvPicPr/>
          <p:nvPr/>
        </p:nvPicPr>
        <p:blipFill>
          <a:blip r:embed="rId3"/>
          <a:stretch/>
        </p:blipFill>
        <p:spPr>
          <a:xfrm>
            <a:off x="2788920" y="1371600"/>
            <a:ext cx="1842840" cy="4114080"/>
          </a:xfrm>
          <a:prstGeom prst="rect">
            <a:avLst/>
          </a:prstGeom>
          <a:noFill/>
          <a:ln w="0">
            <a:noFill/>
          </a:ln>
        </p:spPr>
      </p:pic>
      <p:sp>
        <p:nvSpPr>
          <p:cNvPr id="140" name="Shape 4"/>
          <p:cNvSpPr/>
          <p:nvPr/>
        </p:nvSpPr>
        <p:spPr>
          <a:xfrm>
            <a:off x="2788920" y="1371600"/>
            <a:ext cx="1842840" cy="411408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1" name="Text 5"/>
          <p:cNvSpPr/>
          <p:nvPr/>
        </p:nvSpPr>
        <p:spPr>
          <a:xfrm>
            <a:off x="2697480" y="5559480"/>
            <a:ext cx="202572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2. Space details</a:t>
            </a:r>
            <a:endParaRPr b="0" lang="en-US" sz="1200" strike="noStrike" u="none">
              <a:solidFill>
                <a:srgbClr val="000000"/>
              </a:solidFill>
              <a:effectLst/>
              <a:uFillTx/>
              <a:latin typeface="Arial"/>
            </a:endParaRPr>
          </a:p>
        </p:txBody>
      </p:sp>
      <p:pic>
        <p:nvPicPr>
          <p:cNvPr id="142" name="Image 3" descr="E:\remote\2026\team\499\tmp\499b\review-presentation\assets\app-book.jpeg"/>
          <p:cNvPicPr/>
          <p:nvPr/>
        </p:nvPicPr>
        <p:blipFill>
          <a:blip r:embed="rId4"/>
          <a:stretch/>
        </p:blipFill>
        <p:spPr>
          <a:xfrm>
            <a:off x="5074920" y="1371600"/>
            <a:ext cx="1842840" cy="4114080"/>
          </a:xfrm>
          <a:prstGeom prst="rect">
            <a:avLst/>
          </a:prstGeom>
          <a:noFill/>
          <a:ln w="0">
            <a:noFill/>
          </a:ln>
        </p:spPr>
      </p:pic>
      <p:sp>
        <p:nvSpPr>
          <p:cNvPr id="143" name="Shape 6"/>
          <p:cNvSpPr/>
          <p:nvPr/>
        </p:nvSpPr>
        <p:spPr>
          <a:xfrm>
            <a:off x="5074920" y="1371600"/>
            <a:ext cx="1842840" cy="411408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4" name="Text 7"/>
          <p:cNvSpPr/>
          <p:nvPr/>
        </p:nvSpPr>
        <p:spPr>
          <a:xfrm>
            <a:off x="4983480" y="5559480"/>
            <a:ext cx="202572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3. Choose duration</a:t>
            </a:r>
            <a:endParaRPr b="0" lang="en-US" sz="1200" strike="noStrike" u="none">
              <a:solidFill>
                <a:srgbClr val="000000"/>
              </a:solidFill>
              <a:effectLst/>
              <a:uFillTx/>
              <a:latin typeface="Arial"/>
            </a:endParaRPr>
          </a:p>
        </p:txBody>
      </p:sp>
      <p:pic>
        <p:nvPicPr>
          <p:cNvPr id="145" name="Image 4" descr="E:\remote\2026\team\499\tmp\499b\review-presentation\assets\app-confirmed.jpeg"/>
          <p:cNvPicPr/>
          <p:nvPr/>
        </p:nvPicPr>
        <p:blipFill>
          <a:blip r:embed="rId5"/>
          <a:stretch/>
        </p:blipFill>
        <p:spPr>
          <a:xfrm>
            <a:off x="7360920" y="1371600"/>
            <a:ext cx="1842840" cy="4114080"/>
          </a:xfrm>
          <a:prstGeom prst="rect">
            <a:avLst/>
          </a:prstGeom>
          <a:noFill/>
          <a:ln w="0">
            <a:noFill/>
          </a:ln>
        </p:spPr>
      </p:pic>
      <p:sp>
        <p:nvSpPr>
          <p:cNvPr id="146" name="Shape 8"/>
          <p:cNvSpPr/>
          <p:nvPr/>
        </p:nvSpPr>
        <p:spPr>
          <a:xfrm>
            <a:off x="7360920" y="1371600"/>
            <a:ext cx="1842840" cy="411408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47" name="Text 9"/>
          <p:cNvSpPr/>
          <p:nvPr/>
        </p:nvSpPr>
        <p:spPr>
          <a:xfrm>
            <a:off x="7269480" y="5559480"/>
            <a:ext cx="202572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4. Booking confirmed</a:t>
            </a:r>
            <a:endParaRPr b="0" lang="en-US" sz="1200" strike="noStrike" u="none">
              <a:solidFill>
                <a:srgbClr val="000000"/>
              </a:solidFill>
              <a:effectLst/>
              <a:uFillTx/>
              <a:latin typeface="Arial"/>
            </a:endParaRPr>
          </a:p>
        </p:txBody>
      </p:sp>
      <p:pic>
        <p:nvPicPr>
          <p:cNvPr id="148" name="Image 5" descr="E:\remote\2026\team\499\tmp\499b\review-presentation\assets\app-bookings.jpeg"/>
          <p:cNvPicPr/>
          <p:nvPr/>
        </p:nvPicPr>
        <p:blipFill>
          <a:blip r:embed="rId6"/>
          <a:stretch/>
        </p:blipFill>
        <p:spPr>
          <a:xfrm>
            <a:off x="9646920" y="1371600"/>
            <a:ext cx="1842840" cy="4114080"/>
          </a:xfrm>
          <a:prstGeom prst="rect">
            <a:avLst/>
          </a:prstGeom>
          <a:noFill/>
          <a:ln w="0">
            <a:noFill/>
          </a:ln>
        </p:spPr>
      </p:pic>
      <p:sp>
        <p:nvSpPr>
          <p:cNvPr id="149" name="Shape 10"/>
          <p:cNvSpPr/>
          <p:nvPr/>
        </p:nvSpPr>
        <p:spPr>
          <a:xfrm>
            <a:off x="9646920" y="1371600"/>
            <a:ext cx="1842840" cy="411408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0" name="Text 11"/>
          <p:cNvSpPr/>
          <p:nvPr/>
        </p:nvSpPr>
        <p:spPr>
          <a:xfrm>
            <a:off x="9555480" y="5559480"/>
            <a:ext cx="202572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5. My bookings</a:t>
            </a:r>
            <a:endParaRPr b="0" lang="en-US" sz="1200" strike="noStrike" u="none">
              <a:solidFill>
                <a:srgbClr val="000000"/>
              </a:solidFill>
              <a:effectLst/>
              <a:uFillTx/>
              <a:latin typeface="Arial"/>
            </a:endParaRPr>
          </a:p>
        </p:txBody>
      </p:sp>
      <p:sp>
        <p:nvSpPr>
          <p:cNvPr id="151" name="Text 12"/>
          <p:cNvSpPr/>
          <p:nvPr/>
        </p:nvSpPr>
        <p:spPr>
          <a:xfrm>
            <a:off x="457200" y="5897880"/>
            <a:ext cx="11273760" cy="4107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400" strike="noStrike" u="none">
                <a:solidFill>
                  <a:srgbClr val="172033"/>
                </a:solidFill>
                <a:effectLst/>
                <a:uFillTx/>
                <a:latin typeface="Calibri"/>
                <a:ea typeface="Calibri"/>
              </a:rPr>
              <a:t>Working end to end: </a:t>
            </a:r>
            <a:r>
              <a:rPr b="0" lang="en-US" sz="1400" strike="noStrike" u="none">
                <a:solidFill>
                  <a:srgbClr val="172033"/>
                </a:solidFill>
                <a:effectLst/>
                <a:uFillTx/>
                <a:latin typeface="Calibri"/>
                <a:ea typeface="Calibri"/>
              </a:rPr>
              <a:t>current location and map markers, nearby search, booking with price in BDT, booking history with cancel, profile and logout.</a:t>
            </a:r>
            <a:endParaRPr b="0" lang="en-US" sz="1400" strike="noStrike" u="none">
              <a:solidFill>
                <a:srgbClr val="000000"/>
              </a:solidFill>
              <a:effectLst/>
              <a:uFillTx/>
              <a:latin typeface="Arial"/>
            </a:endParaRPr>
          </a:p>
        </p:txBody>
      </p:sp>
      <p:sp>
        <p:nvSpPr>
          <p:cNvPr id="152" name="Text 13"/>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53" name="Text 14"/>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2 · Mobile App   9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Mobile App: Plan for 499B</a:t>
            </a:r>
            <a:endParaRPr b="0" lang="en-US" sz="3000" strike="noStrike" u="none">
              <a:solidFill>
                <a:srgbClr val="000000"/>
              </a:solidFill>
              <a:effectLst/>
              <a:uFillTx/>
              <a:latin typeface="Arial"/>
            </a:endParaRPr>
          </a:p>
        </p:txBody>
      </p:sp>
      <p:pic>
        <p:nvPicPr>
          <p:cNvPr id="155"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pic>
        <p:nvPicPr>
          <p:cNvPr id="156" name="Image 1" descr="E:\remote\2026\team\499\tmp\499b\review-presentation\assets\app-space.jpeg"/>
          <p:cNvPicPr/>
          <p:nvPr/>
        </p:nvPicPr>
        <p:blipFill>
          <a:blip r:embed="rId2"/>
          <a:stretch/>
        </p:blipFill>
        <p:spPr>
          <a:xfrm>
            <a:off x="548640" y="1280160"/>
            <a:ext cx="1924560" cy="4296960"/>
          </a:xfrm>
          <a:prstGeom prst="rect">
            <a:avLst/>
          </a:prstGeom>
          <a:noFill/>
          <a:ln w="0">
            <a:noFill/>
          </a:ln>
        </p:spPr>
      </p:pic>
      <p:sp>
        <p:nvSpPr>
          <p:cNvPr id="157" name="Shape 1"/>
          <p:cNvSpPr/>
          <p:nvPr/>
        </p:nvSpPr>
        <p:spPr>
          <a:xfrm>
            <a:off x="548640" y="1280160"/>
            <a:ext cx="1924560" cy="429696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58" name="Text 2"/>
          <p:cNvSpPr/>
          <p:nvPr/>
        </p:nvSpPr>
        <p:spPr>
          <a:xfrm>
            <a:off x="457200" y="5650920"/>
            <a:ext cx="2107440" cy="31932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Today: availability and price change only on refresh</a:t>
            </a:r>
            <a:endParaRPr b="0" lang="en-US" sz="1200" strike="noStrike" u="none">
              <a:solidFill>
                <a:srgbClr val="000000"/>
              </a:solidFill>
              <a:effectLst/>
              <a:uFillTx/>
              <a:latin typeface="Arial"/>
            </a:endParaRPr>
          </a:p>
        </p:txBody>
      </p:sp>
      <p:graphicFrame>
        <p:nvGraphicFramePr>
          <p:cNvPr id="159" name="Table 0"/>
          <p:cNvGraphicFramePr/>
          <p:nvPr/>
        </p:nvGraphicFramePr>
        <p:xfrm>
          <a:off x="3108960" y="1280160"/>
          <a:ext cx="8622360" cy="3966480"/>
        </p:xfrm>
        <a:graphic>
          <a:graphicData uri="http://schemas.openxmlformats.org/drawingml/2006/table">
            <a:tbl>
              <a:tblPr/>
              <a:tblGrid>
                <a:gridCol w="2194560"/>
                <a:gridCol w="6428160"/>
              </a:tblGrid>
              <a:tr h="566640">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Feature</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400" strike="noStrike" u="none">
                          <a:solidFill>
                            <a:srgbClr val="ffffff"/>
                          </a:solidFill>
                          <a:effectLst/>
                          <a:uFillTx/>
                          <a:latin typeface="Calibri"/>
                          <a:ea typeface="Calibri"/>
                        </a:rPr>
                        <a:t>Change in 499B</a:t>
                      </a:r>
                      <a:endParaRPr b="0" lang="en-US" sz="14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Live availability</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slot counts update over WebSocket, no manual refresh</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Dynamic price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show peak / surge rate; price fixed when the booking is made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Settings module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theme, notification and privacy preferences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Refactoring</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split the large dashboard screen into smaller widgets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Testing</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unit, widget and integration tests</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400" strike="noStrike" u="none">
                          <a:solidFill>
                            <a:srgbClr val="172033"/>
                          </a:solidFill>
                          <a:effectLst/>
                          <a:uFillTx/>
                          <a:latin typeface="Calibri"/>
                          <a:ea typeface="Calibri"/>
                        </a:rPr>
                        <a:t>Security + release</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API keys out of the app, production config, error handling, monitoring</a:t>
                      </a:r>
                      <a:endParaRPr b="0" lang="en-US" sz="14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bl>
          </a:graphicData>
        </a:graphic>
      </p:graphicFrame>
      <p:sp>
        <p:nvSpPr>
          <p:cNvPr id="160" name="Text 3"/>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61" name="Text 4"/>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2 · Mobile App   10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Web Portal: Owner and Authority in 499A</a:t>
            </a:r>
            <a:endParaRPr b="0" lang="en-US" sz="3000" strike="noStrike" u="none">
              <a:solidFill>
                <a:srgbClr val="000000"/>
              </a:solidFill>
              <a:effectLst/>
              <a:uFillTx/>
              <a:latin typeface="Arial"/>
            </a:endParaRPr>
          </a:p>
        </p:txBody>
      </p:sp>
      <p:sp>
        <p:nvSpPr>
          <p:cNvPr id="163"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Next.js 16 · React 19 · TypeScript · Tailwind CSS · shadcn/ui · live at 499-ab-frontend.vercel.app</a:t>
            </a:r>
            <a:endParaRPr b="0" lang="en-US" sz="1500" strike="noStrike" u="none">
              <a:solidFill>
                <a:srgbClr val="000000"/>
              </a:solidFill>
              <a:effectLst/>
              <a:uFillTx/>
              <a:latin typeface="Arial"/>
            </a:endParaRPr>
          </a:p>
        </p:txBody>
      </p:sp>
      <p:pic>
        <p:nvPicPr>
          <p:cNvPr id="164"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pic>
        <p:nvPicPr>
          <p:cNvPr id="165" name="Image 1" descr="E:\remote\2026\team\499\tmp\499b\review-presentation\assets\web-owner.jpg"/>
          <p:cNvPicPr/>
          <p:nvPr/>
        </p:nvPicPr>
        <p:blipFill>
          <a:blip r:embed="rId2"/>
          <a:stretch/>
        </p:blipFill>
        <p:spPr>
          <a:xfrm>
            <a:off x="457200" y="1371600"/>
            <a:ext cx="4708440" cy="3336840"/>
          </a:xfrm>
          <a:prstGeom prst="rect">
            <a:avLst/>
          </a:prstGeom>
          <a:noFill/>
          <a:ln w="0">
            <a:noFill/>
          </a:ln>
        </p:spPr>
      </p:pic>
      <p:sp>
        <p:nvSpPr>
          <p:cNvPr id="166" name="Shape 2"/>
          <p:cNvSpPr/>
          <p:nvPr/>
        </p:nvSpPr>
        <p:spPr>
          <a:xfrm>
            <a:off x="457200" y="1371600"/>
            <a:ext cx="4708440" cy="333684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67" name="Text 3"/>
          <p:cNvSpPr/>
          <p:nvPr/>
        </p:nvSpPr>
        <p:spPr>
          <a:xfrm>
            <a:off x="457200" y="4782240"/>
            <a:ext cx="4708440" cy="291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Owner dashboard</a:t>
            </a:r>
            <a:endParaRPr b="0" lang="en-US" sz="1200" strike="noStrike" u="none">
              <a:solidFill>
                <a:srgbClr val="000000"/>
              </a:solidFill>
              <a:effectLst/>
              <a:uFillTx/>
              <a:latin typeface="Arial"/>
            </a:endParaRPr>
          </a:p>
        </p:txBody>
      </p:sp>
      <p:pic>
        <p:nvPicPr>
          <p:cNvPr id="168" name="Image 2" descr="E:\remote\2026\team\499\tmp\499b\review-presentation\assets\web-command.jpg"/>
          <p:cNvPicPr/>
          <p:nvPr/>
        </p:nvPicPr>
        <p:blipFill>
          <a:blip r:embed="rId3"/>
          <a:stretch/>
        </p:blipFill>
        <p:spPr>
          <a:xfrm>
            <a:off x="5440680" y="1371600"/>
            <a:ext cx="6290280" cy="3336840"/>
          </a:xfrm>
          <a:prstGeom prst="rect">
            <a:avLst/>
          </a:prstGeom>
          <a:noFill/>
          <a:ln w="0">
            <a:noFill/>
          </a:ln>
        </p:spPr>
      </p:pic>
      <p:sp>
        <p:nvSpPr>
          <p:cNvPr id="169" name="Shape 4"/>
          <p:cNvSpPr/>
          <p:nvPr/>
        </p:nvSpPr>
        <p:spPr>
          <a:xfrm>
            <a:off x="5440680" y="1371600"/>
            <a:ext cx="6290280" cy="333684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70" name="Text 5"/>
          <p:cNvSpPr/>
          <p:nvPr/>
        </p:nvSpPr>
        <p:spPr>
          <a:xfrm>
            <a:off x="5440680" y="4782240"/>
            <a:ext cx="6290280" cy="29196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Authority command center</a:t>
            </a:r>
            <a:endParaRPr b="0" lang="en-US" sz="1200" strike="noStrike" u="none">
              <a:solidFill>
                <a:srgbClr val="000000"/>
              </a:solidFill>
              <a:effectLst/>
              <a:uFillTx/>
              <a:latin typeface="Arial"/>
            </a:endParaRPr>
          </a:p>
        </p:txBody>
      </p:sp>
      <p:graphicFrame>
        <p:nvGraphicFramePr>
          <p:cNvPr id="171" name="Table 0"/>
          <p:cNvGraphicFramePr/>
          <p:nvPr/>
        </p:nvGraphicFramePr>
        <p:xfrm>
          <a:off x="457200" y="5166360"/>
          <a:ext cx="11274120" cy="850320"/>
        </p:xfrm>
        <a:graphic>
          <a:graphicData uri="http://schemas.openxmlformats.org/drawingml/2006/table">
            <a:tbl>
              <a:tblPr/>
              <a:tblGrid>
                <a:gridCol w="6309360"/>
                <a:gridCol w="4965120"/>
              </a:tblGrid>
              <a:tr h="347400">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Connected to the API</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Built with demo data (wired in 499B)</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502920">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sign up / login for all roles, token refresh, role-based routing, owner parking lots (GET / POST /spaces)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cameras, revenue, analytics, zones, enforcement log</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bl>
          </a:graphicData>
        </a:graphic>
      </p:graphicFrame>
      <p:sp>
        <p:nvSpPr>
          <p:cNvPr id="172" name="Text 6"/>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73" name="Text 7"/>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3 · Web Frontend   11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Web Portal: Code Quality and Login Flow</a:t>
            </a:r>
            <a:endParaRPr b="0" lang="en-US" sz="3000" strike="noStrike" u="none">
              <a:solidFill>
                <a:srgbClr val="000000"/>
              </a:solidFill>
              <a:effectLst/>
              <a:uFillTx/>
              <a:latin typeface="Arial"/>
            </a:endParaRPr>
          </a:p>
        </p:txBody>
      </p:sp>
      <p:sp>
        <p:nvSpPr>
          <p:cNvPr id="175"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Evidence from the end of 499A</a:t>
            </a:r>
            <a:endParaRPr b="0" lang="en-US" sz="1500" strike="noStrike" u="none">
              <a:solidFill>
                <a:srgbClr val="000000"/>
              </a:solidFill>
              <a:effectLst/>
              <a:uFillTx/>
              <a:latin typeface="Arial"/>
            </a:endParaRPr>
          </a:p>
        </p:txBody>
      </p:sp>
      <p:pic>
        <p:nvPicPr>
          <p:cNvPr id="176"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177" name="Text 2"/>
          <p:cNvSpPr/>
          <p:nvPr/>
        </p:nvSpPr>
        <p:spPr>
          <a:xfrm>
            <a:off x="457200" y="1371600"/>
            <a:ext cx="19195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0f766e"/>
                </a:solidFill>
                <a:effectLst/>
                <a:uFillTx/>
                <a:latin typeface="Arial"/>
                <a:ea typeface="Arial"/>
              </a:rPr>
              <a:t>15 / 15</a:t>
            </a:r>
            <a:endParaRPr b="0" lang="en-US" sz="3400" strike="noStrike" u="none">
              <a:solidFill>
                <a:srgbClr val="000000"/>
              </a:solidFill>
              <a:effectLst/>
              <a:uFillTx/>
              <a:latin typeface="Arial"/>
            </a:endParaRPr>
          </a:p>
        </p:txBody>
      </p:sp>
      <p:sp>
        <p:nvSpPr>
          <p:cNvPr id="178" name="Text 3"/>
          <p:cNvSpPr/>
          <p:nvPr/>
        </p:nvSpPr>
        <p:spPr>
          <a:xfrm>
            <a:off x="2423160" y="1371600"/>
            <a:ext cx="274248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unit tests pass</a:t>
            </a:r>
            <a:endParaRPr b="0" lang="en-US" sz="1400" strike="noStrike" u="none">
              <a:solidFill>
                <a:srgbClr val="000000"/>
              </a:solidFill>
              <a:effectLst/>
              <a:uFillTx/>
              <a:latin typeface="Arial"/>
            </a:endParaRPr>
          </a:p>
        </p:txBody>
      </p:sp>
      <p:sp>
        <p:nvSpPr>
          <p:cNvPr id="179" name="Text 4"/>
          <p:cNvSpPr/>
          <p:nvPr/>
        </p:nvSpPr>
        <p:spPr>
          <a:xfrm>
            <a:off x="457200" y="2514600"/>
            <a:ext cx="19195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0f766e"/>
                </a:solidFill>
                <a:effectLst/>
                <a:uFillTx/>
                <a:latin typeface="Arial"/>
                <a:ea typeface="Arial"/>
              </a:rPr>
              <a:t>96.5%</a:t>
            </a:r>
            <a:endParaRPr b="0" lang="en-US" sz="3400" strike="noStrike" u="none">
              <a:solidFill>
                <a:srgbClr val="000000"/>
              </a:solidFill>
              <a:effectLst/>
              <a:uFillTx/>
              <a:latin typeface="Arial"/>
            </a:endParaRPr>
          </a:p>
        </p:txBody>
      </p:sp>
      <p:sp>
        <p:nvSpPr>
          <p:cNvPr id="180" name="Text 5"/>
          <p:cNvSpPr/>
          <p:nvPr/>
        </p:nvSpPr>
        <p:spPr>
          <a:xfrm>
            <a:off x="2423160" y="2514600"/>
            <a:ext cx="274248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line coverage of the tested modules (API, session, routing)</a:t>
            </a:r>
            <a:endParaRPr b="0" lang="en-US" sz="1400" strike="noStrike" u="none">
              <a:solidFill>
                <a:srgbClr val="000000"/>
              </a:solidFill>
              <a:effectLst/>
              <a:uFillTx/>
              <a:latin typeface="Arial"/>
            </a:endParaRPr>
          </a:p>
        </p:txBody>
      </p:sp>
      <p:sp>
        <p:nvSpPr>
          <p:cNvPr id="181" name="Text 6"/>
          <p:cNvSpPr/>
          <p:nvPr/>
        </p:nvSpPr>
        <p:spPr>
          <a:xfrm>
            <a:off x="457200" y="3657600"/>
            <a:ext cx="191952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400" strike="noStrike" u="none">
                <a:solidFill>
                  <a:srgbClr val="0f766e"/>
                </a:solidFill>
                <a:effectLst/>
                <a:uFillTx/>
                <a:latin typeface="Arial"/>
                <a:ea typeface="Arial"/>
              </a:rPr>
              <a:t>20</a:t>
            </a:r>
            <a:endParaRPr b="0" lang="en-US" sz="3400" strike="noStrike" u="none">
              <a:solidFill>
                <a:srgbClr val="000000"/>
              </a:solidFill>
              <a:effectLst/>
              <a:uFillTx/>
              <a:latin typeface="Arial"/>
            </a:endParaRPr>
          </a:p>
        </p:txBody>
      </p:sp>
      <p:sp>
        <p:nvSpPr>
          <p:cNvPr id="182" name="Text 7"/>
          <p:cNvSpPr/>
          <p:nvPr/>
        </p:nvSpPr>
        <p:spPr>
          <a:xfrm>
            <a:off x="2423160" y="3657600"/>
            <a:ext cx="2742480" cy="639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172033"/>
                </a:solidFill>
                <a:effectLst/>
                <a:uFillTx/>
                <a:latin typeface="Calibri"/>
                <a:ea typeface="Calibri"/>
              </a:rPr>
              <a:t>route entries; production build passes</a:t>
            </a:r>
            <a:endParaRPr b="0" lang="en-US" sz="1400" strike="noStrike" u="none">
              <a:solidFill>
                <a:srgbClr val="000000"/>
              </a:solidFill>
              <a:effectLst/>
              <a:uFillTx/>
              <a:latin typeface="Arial"/>
            </a:endParaRPr>
          </a:p>
        </p:txBody>
      </p:sp>
      <p:sp>
        <p:nvSpPr>
          <p:cNvPr id="183" name="Text 8"/>
          <p:cNvSpPr/>
          <p:nvPr/>
        </p:nvSpPr>
        <p:spPr>
          <a:xfrm>
            <a:off x="457200" y="4846320"/>
            <a:ext cx="4754160" cy="45648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trike="noStrike" u="none">
                <a:solidFill>
                  <a:srgbClr val="64748b"/>
                </a:solidFill>
                <a:effectLst/>
                <a:uFillTx/>
                <a:latin typeface="Calibri"/>
                <a:ea typeface="Calibri"/>
              </a:rPr>
              <a:t>Coverage is for the tested modules, not the whole frontend.</a:t>
            </a:r>
            <a:endParaRPr b="0" lang="en-US" sz="1300" strike="noStrike" u="none">
              <a:solidFill>
                <a:srgbClr val="000000"/>
              </a:solidFill>
              <a:effectLst/>
              <a:uFillTx/>
              <a:latin typeface="Arial"/>
            </a:endParaRPr>
          </a:p>
        </p:txBody>
      </p:sp>
      <p:sp>
        <p:nvSpPr>
          <p:cNvPr id="184" name="Text 9"/>
          <p:cNvSpPr/>
          <p:nvPr/>
        </p:nvSpPr>
        <p:spPr>
          <a:xfrm>
            <a:off x="5577840" y="1371600"/>
            <a:ext cx="6125760" cy="31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trike="noStrike" u="none">
                <a:solidFill>
                  <a:srgbClr val="172033"/>
                </a:solidFill>
                <a:effectLst/>
                <a:uFillTx/>
                <a:latin typeface="Calibri"/>
                <a:ea typeface="Calibri"/>
              </a:rPr>
              <a:t>From sign-in to the right portal</a:t>
            </a:r>
            <a:endParaRPr b="0" lang="en-US" sz="1500" strike="noStrike" u="none">
              <a:solidFill>
                <a:srgbClr val="000000"/>
              </a:solidFill>
              <a:effectLst/>
              <a:uFillTx/>
              <a:latin typeface="Arial"/>
            </a:endParaRPr>
          </a:p>
        </p:txBody>
      </p:sp>
      <p:graphicFrame>
        <p:nvGraphicFramePr>
          <p:cNvPr id="185" name="Table 0"/>
          <p:cNvGraphicFramePr/>
          <p:nvPr/>
        </p:nvGraphicFramePr>
        <p:xfrm>
          <a:off x="5577840" y="1783080"/>
          <a:ext cx="6153480" cy="2943360"/>
        </p:xfrm>
        <a:graphic>
          <a:graphicData uri="http://schemas.openxmlformats.org/drawingml/2006/table">
            <a:tbl>
              <a:tblPr/>
              <a:tblGrid>
                <a:gridCol w="1325880"/>
                <a:gridCol w="4827960"/>
              </a:tblGrid>
              <a:tr h="420480">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Step</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What happens</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1. Input</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email or phone and role are normalised before sending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2. Request</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one fetch layer sends JSON and turns errors into a typed ApiError</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3. Token</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JWT is decoded for role and expiry</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4. Session</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stored in sessionStorage, or localStorage with Remember me</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5. Refresh</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access token renewed within 30 s of expiry</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2048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6. Routing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owner → owner portal, authority → command center</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bl>
          </a:graphicData>
        </a:graphic>
      </p:graphicFrame>
      <p:sp>
        <p:nvSpPr>
          <p:cNvPr id="186" name="Text 10"/>
          <p:cNvSpPr/>
          <p:nvPr/>
        </p:nvSpPr>
        <p:spPr>
          <a:xfrm>
            <a:off x="5577840" y="4846320"/>
            <a:ext cx="6153120" cy="6393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300" strike="noStrike" u="none">
                <a:solidFill>
                  <a:srgbClr val="172033"/>
                </a:solidFill>
                <a:effectLst/>
                <a:uFillTx/>
                <a:latin typeface="Calibri"/>
                <a:ea typeface="Calibri"/>
              </a:rPr>
              <a:t>If a refresh or logout fails, the session is cleared and the user returns to a safe page; no signed-in screen is left open.</a:t>
            </a:r>
            <a:endParaRPr b="0" lang="en-US" sz="1300" strike="noStrike" u="none">
              <a:solidFill>
                <a:srgbClr val="000000"/>
              </a:solidFill>
              <a:effectLst/>
              <a:uFillTx/>
              <a:latin typeface="Arial"/>
            </a:endParaRPr>
          </a:p>
        </p:txBody>
      </p:sp>
      <p:sp>
        <p:nvSpPr>
          <p:cNvPr id="187" name="Text 11"/>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88" name="Text 12"/>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3 · Web Frontend   12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Web Portal: Plan for 499B</a:t>
            </a:r>
            <a:endParaRPr b="0" lang="en-US" sz="3000" strike="noStrike" u="none">
              <a:solidFill>
                <a:srgbClr val="000000"/>
              </a:solidFill>
              <a:effectLst/>
              <a:uFillTx/>
              <a:latin typeface="Arial"/>
            </a:endParaRPr>
          </a:p>
        </p:txBody>
      </p:sp>
      <p:pic>
        <p:nvPicPr>
          <p:cNvPr id="190"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pic>
        <p:nvPicPr>
          <p:cNvPr id="191" name="Image 1" descr="E:\remote\2026\team\499\tmp\499b\review-presentation\assets\web-enforcement.jpg"/>
          <p:cNvPicPr/>
          <p:nvPr/>
        </p:nvPicPr>
        <p:blipFill>
          <a:blip r:embed="rId2"/>
          <a:stretch/>
        </p:blipFill>
        <p:spPr>
          <a:xfrm>
            <a:off x="457200" y="1280160"/>
            <a:ext cx="4205520" cy="2550600"/>
          </a:xfrm>
          <a:prstGeom prst="rect">
            <a:avLst/>
          </a:prstGeom>
          <a:noFill/>
          <a:ln w="0">
            <a:noFill/>
          </a:ln>
        </p:spPr>
      </p:pic>
      <p:sp>
        <p:nvSpPr>
          <p:cNvPr id="192" name="Shape 1"/>
          <p:cNvSpPr/>
          <p:nvPr/>
        </p:nvSpPr>
        <p:spPr>
          <a:xfrm>
            <a:off x="457200" y="1280160"/>
            <a:ext cx="4205520" cy="255060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93" name="Text 2"/>
          <p:cNvSpPr/>
          <p:nvPr/>
        </p:nvSpPr>
        <p:spPr>
          <a:xfrm>
            <a:off x="457200" y="3877200"/>
            <a:ext cx="4205520" cy="273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Enforcement log design (demo data today)</a:t>
            </a:r>
            <a:endParaRPr b="0" lang="en-US" sz="1200" strike="noStrike" u="none">
              <a:solidFill>
                <a:srgbClr val="000000"/>
              </a:solidFill>
              <a:effectLst/>
              <a:uFillTx/>
              <a:latin typeface="Arial"/>
            </a:endParaRPr>
          </a:p>
        </p:txBody>
      </p:sp>
      <p:pic>
        <p:nvPicPr>
          <p:cNvPr id="194" name="Image 2" descr="E:\remote\2026\team\499\tmp\499b\review-presentation\assets\web-cameras.jpg"/>
          <p:cNvPicPr/>
          <p:nvPr/>
        </p:nvPicPr>
        <p:blipFill>
          <a:blip r:embed="rId3"/>
          <a:stretch/>
        </p:blipFill>
        <p:spPr>
          <a:xfrm>
            <a:off x="457200" y="4160520"/>
            <a:ext cx="4205520" cy="1690920"/>
          </a:xfrm>
          <a:prstGeom prst="rect">
            <a:avLst/>
          </a:prstGeom>
          <a:noFill/>
          <a:ln w="0">
            <a:noFill/>
          </a:ln>
        </p:spPr>
      </p:pic>
      <p:sp>
        <p:nvSpPr>
          <p:cNvPr id="195" name="Shape 3"/>
          <p:cNvSpPr/>
          <p:nvPr/>
        </p:nvSpPr>
        <p:spPr>
          <a:xfrm>
            <a:off x="457200" y="4160520"/>
            <a:ext cx="4205520" cy="1690920"/>
          </a:xfrm>
          <a:prstGeom prst="rect">
            <a:avLst/>
          </a:prstGeom>
          <a:noFill/>
          <a:ln w="9525">
            <a:solidFill>
              <a:srgbClr val="d8e1ec"/>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196" name="Text 4"/>
          <p:cNvSpPr/>
          <p:nvPr/>
        </p:nvSpPr>
        <p:spPr>
          <a:xfrm>
            <a:off x="457200" y="5897880"/>
            <a:ext cx="4205520" cy="27360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200" strike="noStrike" u="none">
                <a:solidFill>
                  <a:srgbClr val="64748b"/>
                </a:solidFill>
                <a:effectLst/>
                <a:uFillTx/>
                <a:latin typeface="Calibri"/>
                <a:ea typeface="Calibri"/>
              </a:rPr>
              <a:t>Camera management design (demo data today)</a:t>
            </a:r>
            <a:endParaRPr b="0" lang="en-US" sz="1200" strike="noStrike" u="none">
              <a:solidFill>
                <a:srgbClr val="000000"/>
              </a:solidFill>
              <a:effectLst/>
              <a:uFillTx/>
              <a:latin typeface="Arial"/>
            </a:endParaRPr>
          </a:p>
        </p:txBody>
      </p:sp>
      <p:graphicFrame>
        <p:nvGraphicFramePr>
          <p:cNvPr id="197" name="Table 0"/>
          <p:cNvGraphicFramePr/>
          <p:nvPr/>
        </p:nvGraphicFramePr>
        <p:xfrm>
          <a:off x="4983480" y="1280160"/>
          <a:ext cx="6747840" cy="4533120"/>
        </p:xfrm>
        <a:graphic>
          <a:graphicData uri="http://schemas.openxmlformats.org/drawingml/2006/table">
            <a:tbl>
              <a:tblPr/>
              <a:tblGrid>
                <a:gridCol w="1920240"/>
                <a:gridCol w="4827960"/>
              </a:tblGrid>
              <a:tr h="566640">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Area</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50" strike="noStrike" u="none">
                          <a:solidFill>
                            <a:srgbClr val="ffffff"/>
                          </a:solidFill>
                          <a:effectLst/>
                          <a:uFillTx/>
                          <a:latin typeface="Calibri"/>
                          <a:ea typeface="Calibri"/>
                        </a:rPr>
                        <a:t>Change in 499B</a:t>
                      </a:r>
                      <a:endParaRPr b="0" lang="en-US" sz="135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Command center</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occupancy, zones and analytics from live backend data</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Enforcement log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plate search over LPR records, authority role only</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Camera setup</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camera online/offline status and stream health from live data</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Revenue + pricing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revenue from real bookings; owners set base and peak rates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Live updates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WebSocket / SSE instead of page reloads, with retry</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Accounts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password reset and profile completion</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566640">
                <a:tc>
                  <a:txBody>
                    <a:bodyPr lIns="75960" rIns="7596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Testing</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50" strike="noStrike" u="none">
                          <a:solidFill>
                            <a:srgbClr val="172033"/>
                          </a:solidFill>
                          <a:effectLst/>
                          <a:uFillTx/>
                          <a:latin typeface="Calibri"/>
                          <a:ea typeface="Calibri"/>
                        </a:rPr>
                        <a:t>API contract, end-to-end and accessibility tests</a:t>
                      </a:r>
                      <a:endParaRPr b="0" lang="en-US" sz="135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bl>
          </a:graphicData>
        </a:graphic>
      </p:graphicFrame>
      <p:sp>
        <p:nvSpPr>
          <p:cNvPr id="198" name="Text 5"/>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199" name="Text 6"/>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3 · Web Frontend   13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Complex Engineering Problem and Activities</a:t>
            </a:r>
            <a:endParaRPr b="0" lang="en-US" sz="3000" strike="noStrike" u="none">
              <a:solidFill>
                <a:srgbClr val="000000"/>
              </a:solidFill>
              <a:effectLst/>
              <a:uFillTx/>
              <a:latin typeface="Arial"/>
            </a:endParaRPr>
          </a:p>
        </p:txBody>
      </p:sp>
      <p:sp>
        <p:nvSpPr>
          <p:cNvPr id="201" name="Text 1"/>
          <p:cNvSpPr/>
          <p:nvPr/>
        </p:nvSpPr>
        <p:spPr>
          <a:xfrm>
            <a:off x="457200" y="896040"/>
            <a:ext cx="10423440" cy="29196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500" strike="noStrike" u="none">
                <a:solidFill>
                  <a:srgbClr val="64748b"/>
                </a:solidFill>
                <a:effectLst/>
                <a:uFillTx/>
                <a:latin typeface="Calibri"/>
                <a:ea typeface="Calibri"/>
              </a:rPr>
              <a:t>Required: P1 and at least two of P2–P7; at least two of A1–A5</a:t>
            </a:r>
            <a:endParaRPr b="0" lang="en-US" sz="1500" strike="noStrike" u="none">
              <a:solidFill>
                <a:srgbClr val="000000"/>
              </a:solidFill>
              <a:effectLst/>
              <a:uFillTx/>
              <a:latin typeface="Arial"/>
            </a:endParaRPr>
          </a:p>
        </p:txBody>
      </p:sp>
      <p:pic>
        <p:nvPicPr>
          <p:cNvPr id="202"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graphicFrame>
        <p:nvGraphicFramePr>
          <p:cNvPr id="203" name="Table 0"/>
          <p:cNvGraphicFramePr/>
          <p:nvPr/>
        </p:nvGraphicFramePr>
        <p:xfrm>
          <a:off x="457200" y="1371600"/>
          <a:ext cx="11274120" cy="4572000"/>
        </p:xfrm>
        <a:graphic>
          <a:graphicData uri="http://schemas.openxmlformats.org/drawingml/2006/table">
            <a:tbl>
              <a:tblPr/>
              <a:tblGrid>
                <a:gridCol w="548640"/>
                <a:gridCol w="2194560"/>
                <a:gridCol w="7068240"/>
                <a:gridCol w="1463040"/>
              </a:tblGrid>
              <a:tr h="457200">
                <a:tc>
                  <a:txBody>
                    <a:bodyPr lIns="75960" rIns="75960" anchor="ctr">
                      <a:noAutofit/>
                    </a:bodyPr>
                    <a:p>
                      <a:pPr defTabSz="914400">
                        <a:lnSpc>
                          <a:spcPct val="100000"/>
                        </a:lnSpc>
                        <a:tabLst>
                          <a:tab algn="l" pos="0"/>
                        </a:tabLst>
                      </a:pPr>
                      <a:endParaRPr b="0" lang="en-US" sz="1300" strike="noStrike" u="none">
                        <a:solidFill>
                          <a:schemeClr val="dk1"/>
                        </a:solidFill>
                        <a:effectLst/>
                        <a:uFillTx/>
                        <a:latin typeface="Calibri"/>
                        <a:ea typeface="Calibri"/>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Attribute</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How CityPulse addresses it</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c>
                  <a:txBody>
                    <a:bodyPr lIns="75960" rIns="75960" anchor="ctr">
                      <a:noAutofit/>
                    </a:bodyPr>
                    <a:p>
                      <a:pPr defTabSz="914400">
                        <a:lnSpc>
                          <a:spcPct val="100000"/>
                        </a:lnSpc>
                        <a:tabLst>
                          <a:tab algn="l" pos="0"/>
                        </a:tabLst>
                      </a:pPr>
                      <a:r>
                        <a:rPr b="1" lang="en-US" sz="1300" strike="noStrike" u="none">
                          <a:solidFill>
                            <a:srgbClr val="ffffff"/>
                          </a:solidFill>
                          <a:effectLst/>
                          <a:uFillTx/>
                          <a:latin typeface="Calibri"/>
                          <a:ea typeface="Calibri"/>
                        </a:rPr>
                        <a:t>Evidence</a:t>
                      </a:r>
                      <a:endParaRPr b="0" lang="en-US" sz="1300" strike="noStrike" u="none">
                        <a:solidFill>
                          <a:srgbClr val="ffffff"/>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1a2b4a"/>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P1</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Depth of knowledge</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K3–K6, K8: databases and networks, deep learning, system design, modern tools, research papers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P2</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Conflicting requirements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Accuracy vs. edge hardware; camera vs. bookings; surveillance vs. privacy; revenue vs. driver cost</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P3</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Depth of analysis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Classification vs. detection; cross-lot testing; phased fine-tuning; transfer to Dhaka footage</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P4</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Unfamiliar issues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Two-line Bangla plates; unmarked Dhaka lots; no public local data</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P6</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Stakeholders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Drivers, owners and authorities need different data access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57200">
                <a:tc>
                  <a:txBody>
                    <a:bodyPr lIns="75960" rIns="75960" anchor="ctr">
                      <a:noAutofit/>
                    </a:bodyPr>
                    <a:p>
                      <a:pPr defTabSz="914400">
                        <a:lnSpc>
                          <a:spcPct val="100000"/>
                        </a:lnSpc>
                        <a:tabLst>
                          <a:tab algn="l" pos="0"/>
                        </a:tabLst>
                      </a:pPr>
                      <a:r>
                        <a:rPr b="1" lang="en-US" sz="1300" strike="noStrike" u="none">
                          <a:solidFill>
                            <a:srgbClr val="0f766e"/>
                          </a:solidFill>
                          <a:effectLst/>
                          <a:uFillTx/>
                          <a:latin typeface="Calibri"/>
                          <a:ea typeface="Calibri"/>
                        </a:rPr>
                        <a:t>P7</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Interdependence</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Stream, occupancy, plates, backend, pricing and apps depend on each other</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57200">
                <a:tc>
                  <a:txBody>
                    <a:bodyPr lIns="75960" rIns="75960" anchor="ctr">
                      <a:noAutofit/>
                    </a:bodyPr>
                    <a:p>
                      <a:pPr defTabSz="914400">
                        <a:lnSpc>
                          <a:spcPct val="100000"/>
                        </a:lnSpc>
                        <a:tabLst>
                          <a:tab algn="l" pos="0"/>
                        </a:tabLst>
                      </a:pPr>
                      <a:r>
                        <a:rPr b="1" lang="en-US" sz="1300" strike="noStrike" u="none">
                          <a:solidFill>
                            <a:srgbClr val="1a2b4a"/>
                          </a:solidFill>
                          <a:effectLst/>
                          <a:uFillTx/>
                          <a:latin typeface="Calibri"/>
                          <a:ea typeface="Calibri"/>
                        </a:rPr>
                        <a:t>A1</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Range of resources</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Team of four, 0.8M-image dataset, GPUs, cameras, Raspberry Pi, field data</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r h="457200">
                <a:tc>
                  <a:txBody>
                    <a:bodyPr lIns="75960" rIns="75960" anchor="ctr">
                      <a:noAutofit/>
                    </a:bodyPr>
                    <a:p>
                      <a:pPr defTabSz="914400">
                        <a:lnSpc>
                          <a:spcPct val="100000"/>
                        </a:lnSpc>
                        <a:tabLst>
                          <a:tab algn="l" pos="0"/>
                        </a:tabLst>
                      </a:pPr>
                      <a:r>
                        <a:rPr b="1" lang="en-US" sz="1300" strike="noStrike" u="none">
                          <a:solidFill>
                            <a:srgbClr val="1a2b4a"/>
                          </a:solidFill>
                          <a:effectLst/>
                          <a:uFillTx/>
                          <a:latin typeface="Calibri"/>
                          <a:ea typeface="Calibri"/>
                        </a:rPr>
                        <a:t>A3</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Innovation</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Extends the NSU baseline [4] with 10× data, cross-lot testing and Dhaka fine-tuning</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499A + 499B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1f5f9"/>
                    </a:solidFill>
                  </a:tcPr>
                </a:tc>
              </a:tr>
              <a:tr h="457200">
                <a:tc>
                  <a:txBody>
                    <a:bodyPr lIns="75960" rIns="75960" anchor="ctr">
                      <a:noAutofit/>
                    </a:bodyPr>
                    <a:p>
                      <a:pPr defTabSz="914400">
                        <a:lnSpc>
                          <a:spcPct val="100000"/>
                        </a:lnSpc>
                        <a:tabLst>
                          <a:tab algn="l" pos="0"/>
                        </a:tabLst>
                      </a:pPr>
                      <a:r>
                        <a:rPr b="1" lang="en-US" sz="1300" strike="noStrike" u="none">
                          <a:solidFill>
                            <a:srgbClr val="1a2b4a"/>
                          </a:solidFill>
                          <a:effectLst/>
                          <a:uFillTx/>
                          <a:latin typeface="Calibri"/>
                          <a:ea typeface="Calibri"/>
                        </a:rPr>
                        <a:t>A4</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Impact on society</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Less circling and roadside parking (SDG 11); privacy protected by design</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c>
                  <a:txBody>
                    <a:bodyPr lIns="75960" rIns="75960" anchor="ctr">
                      <a:noAutofit/>
                    </a:bodyPr>
                    <a:p>
                      <a:pPr defTabSz="914400">
                        <a:lnSpc>
                          <a:spcPct val="100000"/>
                        </a:lnSpc>
                        <a:tabLst>
                          <a:tab algn="l" pos="0"/>
                        </a:tabLst>
                      </a:pPr>
                      <a:r>
                        <a:rPr b="0" lang="en-US" sz="1300" strike="noStrike" u="none">
                          <a:solidFill>
                            <a:srgbClr val="172033"/>
                          </a:solidFill>
                          <a:effectLst/>
                          <a:uFillTx/>
                          <a:latin typeface="Calibri"/>
                          <a:ea typeface="Calibri"/>
                        </a:rPr>
                        <a:t>499B</a:t>
                      </a:r>
                      <a:endParaRPr b="0" lang="en-US" sz="1300" strike="noStrike" u="none">
                        <a:solidFill>
                          <a:srgbClr val="000000"/>
                        </a:solidFill>
                        <a:effectLst/>
                        <a:uFillTx/>
                        <a:latin typeface="Arial"/>
                      </a:endParaRPr>
                    </a:p>
                  </a:txBody>
                  <a:tcPr anchor="ctr" marL="75960" marR="75960">
                    <a:lnL w="9360">
                      <a:solidFill>
                        <a:srgbClr val="d8e1ec"/>
                      </a:solidFill>
                      <a:prstDash val="solid"/>
                    </a:lnL>
                    <a:lnR w="9360">
                      <a:solidFill>
                        <a:srgbClr val="d8e1ec"/>
                      </a:solidFill>
                      <a:prstDash val="solid"/>
                    </a:lnR>
                    <a:lnT w="9360">
                      <a:solidFill>
                        <a:srgbClr val="d8e1ec"/>
                      </a:solidFill>
                      <a:prstDash val="solid"/>
                    </a:lnT>
                    <a:lnB w="9360">
                      <a:solidFill>
                        <a:srgbClr val="d8e1ec"/>
                      </a:solidFill>
                      <a:prstDash val="solid"/>
                    </a:lnB>
                    <a:solidFill>
                      <a:srgbClr val="ffffff"/>
                    </a:solidFill>
                  </a:tcPr>
                </a:tc>
              </a:tr>
            </a:tbl>
          </a:graphicData>
        </a:graphic>
      </p:graphicFrame>
      <p:sp>
        <p:nvSpPr>
          <p:cNvPr id="204" name="Text 2"/>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205" name="Text 3"/>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4 · Scope &amp; Plan   14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499B Work Plan</a:t>
            </a:r>
            <a:endParaRPr b="0" lang="en-US" sz="3000" strike="noStrike" u="none">
              <a:solidFill>
                <a:srgbClr val="000000"/>
              </a:solidFill>
              <a:effectLst/>
              <a:uFillTx/>
              <a:latin typeface="Arial"/>
            </a:endParaRPr>
          </a:p>
        </p:txBody>
      </p:sp>
      <p:pic>
        <p:nvPicPr>
          <p:cNvPr id="207"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208" name="Text 1"/>
          <p:cNvSpPr/>
          <p:nvPr/>
        </p:nvSpPr>
        <p:spPr>
          <a:xfrm>
            <a:off x="420624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W1</a:t>
            </a:r>
            <a:endParaRPr b="0" lang="en-US" sz="1000" strike="noStrike" u="none">
              <a:solidFill>
                <a:srgbClr val="000000"/>
              </a:solidFill>
              <a:effectLst/>
              <a:uFillTx/>
              <a:latin typeface="Arial"/>
            </a:endParaRPr>
          </a:p>
        </p:txBody>
      </p:sp>
      <p:sp>
        <p:nvSpPr>
          <p:cNvPr id="209" name="Text 2"/>
          <p:cNvSpPr/>
          <p:nvPr/>
        </p:nvSpPr>
        <p:spPr>
          <a:xfrm>
            <a:off x="483336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W2</a:t>
            </a:r>
            <a:endParaRPr b="0" lang="en-US" sz="1000" strike="noStrike" u="none">
              <a:solidFill>
                <a:srgbClr val="000000"/>
              </a:solidFill>
              <a:effectLst/>
              <a:uFillTx/>
              <a:latin typeface="Arial"/>
            </a:endParaRPr>
          </a:p>
        </p:txBody>
      </p:sp>
      <p:sp>
        <p:nvSpPr>
          <p:cNvPr id="210" name="Shape 3"/>
          <p:cNvSpPr/>
          <p:nvPr/>
        </p:nvSpPr>
        <p:spPr>
          <a:xfrm>
            <a:off x="483336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1" name="Text 4"/>
          <p:cNvSpPr/>
          <p:nvPr/>
        </p:nvSpPr>
        <p:spPr>
          <a:xfrm>
            <a:off x="546048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W3</a:t>
            </a:r>
            <a:endParaRPr b="0" lang="en-US" sz="1000" strike="noStrike" u="none">
              <a:solidFill>
                <a:srgbClr val="000000"/>
              </a:solidFill>
              <a:effectLst/>
              <a:uFillTx/>
              <a:latin typeface="Arial"/>
            </a:endParaRPr>
          </a:p>
        </p:txBody>
      </p:sp>
      <p:sp>
        <p:nvSpPr>
          <p:cNvPr id="212" name="Shape 5"/>
          <p:cNvSpPr/>
          <p:nvPr/>
        </p:nvSpPr>
        <p:spPr>
          <a:xfrm>
            <a:off x="546048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3" name="Text 6"/>
          <p:cNvSpPr/>
          <p:nvPr/>
        </p:nvSpPr>
        <p:spPr>
          <a:xfrm>
            <a:off x="608760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W4</a:t>
            </a:r>
            <a:endParaRPr b="0" lang="en-US" sz="1000" strike="noStrike" u="none">
              <a:solidFill>
                <a:srgbClr val="000000"/>
              </a:solidFill>
              <a:effectLst/>
              <a:uFillTx/>
              <a:latin typeface="Arial"/>
            </a:endParaRPr>
          </a:p>
        </p:txBody>
      </p:sp>
      <p:sp>
        <p:nvSpPr>
          <p:cNvPr id="214" name="Shape 7"/>
          <p:cNvSpPr/>
          <p:nvPr/>
        </p:nvSpPr>
        <p:spPr>
          <a:xfrm>
            <a:off x="608760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5" name="Text 8"/>
          <p:cNvSpPr/>
          <p:nvPr/>
        </p:nvSpPr>
        <p:spPr>
          <a:xfrm>
            <a:off x="671472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W5</a:t>
            </a:r>
            <a:endParaRPr b="0" lang="en-US" sz="1000" strike="noStrike" u="none">
              <a:solidFill>
                <a:srgbClr val="000000"/>
              </a:solidFill>
              <a:effectLst/>
              <a:uFillTx/>
              <a:latin typeface="Arial"/>
            </a:endParaRPr>
          </a:p>
        </p:txBody>
      </p:sp>
      <p:sp>
        <p:nvSpPr>
          <p:cNvPr id="216" name="Shape 9"/>
          <p:cNvSpPr/>
          <p:nvPr/>
        </p:nvSpPr>
        <p:spPr>
          <a:xfrm>
            <a:off x="671472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7" name="Text 10"/>
          <p:cNvSpPr/>
          <p:nvPr/>
        </p:nvSpPr>
        <p:spPr>
          <a:xfrm>
            <a:off x="734184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W6</a:t>
            </a:r>
            <a:endParaRPr b="0" lang="en-US" sz="1000" strike="noStrike" u="none">
              <a:solidFill>
                <a:srgbClr val="000000"/>
              </a:solidFill>
              <a:effectLst/>
              <a:uFillTx/>
              <a:latin typeface="Arial"/>
            </a:endParaRPr>
          </a:p>
        </p:txBody>
      </p:sp>
      <p:sp>
        <p:nvSpPr>
          <p:cNvPr id="218" name="Shape 11"/>
          <p:cNvSpPr/>
          <p:nvPr/>
        </p:nvSpPr>
        <p:spPr>
          <a:xfrm>
            <a:off x="734184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19" name="Text 12"/>
          <p:cNvSpPr/>
          <p:nvPr/>
        </p:nvSpPr>
        <p:spPr>
          <a:xfrm>
            <a:off x="796896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W7</a:t>
            </a:r>
            <a:endParaRPr b="0" lang="en-US" sz="1000" strike="noStrike" u="none">
              <a:solidFill>
                <a:srgbClr val="000000"/>
              </a:solidFill>
              <a:effectLst/>
              <a:uFillTx/>
              <a:latin typeface="Arial"/>
            </a:endParaRPr>
          </a:p>
        </p:txBody>
      </p:sp>
      <p:sp>
        <p:nvSpPr>
          <p:cNvPr id="220" name="Shape 13"/>
          <p:cNvSpPr/>
          <p:nvPr/>
        </p:nvSpPr>
        <p:spPr>
          <a:xfrm>
            <a:off x="796896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1" name="Text 14"/>
          <p:cNvSpPr/>
          <p:nvPr/>
        </p:nvSpPr>
        <p:spPr>
          <a:xfrm>
            <a:off x="859608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W8</a:t>
            </a:r>
            <a:endParaRPr b="0" lang="en-US" sz="1000" strike="noStrike" u="none">
              <a:solidFill>
                <a:srgbClr val="000000"/>
              </a:solidFill>
              <a:effectLst/>
              <a:uFillTx/>
              <a:latin typeface="Arial"/>
            </a:endParaRPr>
          </a:p>
        </p:txBody>
      </p:sp>
      <p:sp>
        <p:nvSpPr>
          <p:cNvPr id="222" name="Shape 15"/>
          <p:cNvSpPr/>
          <p:nvPr/>
        </p:nvSpPr>
        <p:spPr>
          <a:xfrm>
            <a:off x="859608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3" name="Text 16"/>
          <p:cNvSpPr/>
          <p:nvPr/>
        </p:nvSpPr>
        <p:spPr>
          <a:xfrm>
            <a:off x="922320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W9</a:t>
            </a:r>
            <a:endParaRPr b="0" lang="en-US" sz="1000" strike="noStrike" u="none">
              <a:solidFill>
                <a:srgbClr val="000000"/>
              </a:solidFill>
              <a:effectLst/>
              <a:uFillTx/>
              <a:latin typeface="Arial"/>
            </a:endParaRPr>
          </a:p>
        </p:txBody>
      </p:sp>
      <p:sp>
        <p:nvSpPr>
          <p:cNvPr id="224" name="Shape 17"/>
          <p:cNvSpPr/>
          <p:nvPr/>
        </p:nvSpPr>
        <p:spPr>
          <a:xfrm>
            <a:off x="922320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5" name="Text 18"/>
          <p:cNvSpPr/>
          <p:nvPr/>
        </p:nvSpPr>
        <p:spPr>
          <a:xfrm>
            <a:off x="985032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W10</a:t>
            </a:r>
            <a:endParaRPr b="0" lang="en-US" sz="1000" strike="noStrike" u="none">
              <a:solidFill>
                <a:srgbClr val="000000"/>
              </a:solidFill>
              <a:effectLst/>
              <a:uFillTx/>
              <a:latin typeface="Arial"/>
            </a:endParaRPr>
          </a:p>
        </p:txBody>
      </p:sp>
      <p:sp>
        <p:nvSpPr>
          <p:cNvPr id="226" name="Shape 19"/>
          <p:cNvSpPr/>
          <p:nvPr/>
        </p:nvSpPr>
        <p:spPr>
          <a:xfrm>
            <a:off x="985032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7" name="Text 20"/>
          <p:cNvSpPr/>
          <p:nvPr/>
        </p:nvSpPr>
        <p:spPr>
          <a:xfrm>
            <a:off x="1047744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W11</a:t>
            </a:r>
            <a:endParaRPr b="0" lang="en-US" sz="1000" strike="noStrike" u="none">
              <a:solidFill>
                <a:srgbClr val="000000"/>
              </a:solidFill>
              <a:effectLst/>
              <a:uFillTx/>
              <a:latin typeface="Arial"/>
            </a:endParaRPr>
          </a:p>
        </p:txBody>
      </p:sp>
      <p:sp>
        <p:nvSpPr>
          <p:cNvPr id="228" name="Shape 21"/>
          <p:cNvSpPr/>
          <p:nvPr/>
        </p:nvSpPr>
        <p:spPr>
          <a:xfrm>
            <a:off x="1047744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29" name="Text 22"/>
          <p:cNvSpPr/>
          <p:nvPr/>
        </p:nvSpPr>
        <p:spPr>
          <a:xfrm>
            <a:off x="11104560" y="1188720"/>
            <a:ext cx="626400" cy="255240"/>
          </a:xfrm>
          <a:prstGeom prst="rect">
            <a:avLst/>
          </a:prstGeom>
          <a:noFill/>
          <a:ln w="0">
            <a:noFill/>
          </a:ln>
        </p:spPr>
        <p:style>
          <a:lnRef idx="0"/>
          <a:fillRef idx="0"/>
          <a:effectRef idx="0"/>
          <a:fontRef idx="minor"/>
        </p:style>
        <p:txBody>
          <a:bodyPr lIns="0" rIns="0" tIns="0" bIns="0" anchor="t">
            <a:noAutofit/>
          </a:bodyPr>
          <a:p>
            <a:pPr algn="ctr" defTabSz="914400">
              <a:lnSpc>
                <a:spcPct val="100000"/>
              </a:lnSpc>
              <a:tabLst>
                <a:tab algn="l" pos="0"/>
              </a:tabLst>
            </a:pPr>
            <a:r>
              <a:rPr b="0" lang="en-US" sz="1000" strike="noStrike" u="none">
                <a:solidFill>
                  <a:srgbClr val="64748b"/>
                </a:solidFill>
                <a:effectLst/>
                <a:uFillTx/>
                <a:latin typeface="Calibri"/>
                <a:ea typeface="Calibri"/>
              </a:rPr>
              <a:t>W12</a:t>
            </a:r>
            <a:endParaRPr b="0" lang="en-US" sz="1000" strike="noStrike" u="none">
              <a:solidFill>
                <a:srgbClr val="000000"/>
              </a:solidFill>
              <a:effectLst/>
              <a:uFillTx/>
              <a:latin typeface="Arial"/>
            </a:endParaRPr>
          </a:p>
        </p:txBody>
      </p:sp>
      <p:sp>
        <p:nvSpPr>
          <p:cNvPr id="230" name="Shape 23"/>
          <p:cNvSpPr/>
          <p:nvPr/>
        </p:nvSpPr>
        <p:spPr>
          <a:xfrm>
            <a:off x="11104560" y="1481040"/>
            <a:ext cx="360" cy="3063240"/>
          </a:xfrm>
          <a:prstGeom prst="line">
            <a:avLst/>
          </a:prstGeom>
          <a:ln w="9525">
            <a:solidFill>
              <a:srgbClr val="e2e8f0"/>
            </a:solidFill>
            <a:roun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1" name="Text 24"/>
          <p:cNvSpPr/>
          <p:nvPr/>
        </p:nvSpPr>
        <p:spPr>
          <a:xfrm>
            <a:off x="457200" y="155448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1  </a:t>
            </a:r>
            <a:r>
              <a:rPr b="0" lang="en-US" sz="1350" strike="noStrike" u="none">
                <a:solidFill>
                  <a:srgbClr val="172033"/>
                </a:solidFill>
                <a:effectLst/>
                <a:uFillTx/>
                <a:latin typeface="Calibri"/>
                <a:ea typeface="Calibri"/>
              </a:rPr>
              <a:t>Review, data collection</a:t>
            </a:r>
            <a:endParaRPr b="0" lang="en-US" sz="1350" strike="noStrike" u="none">
              <a:solidFill>
                <a:srgbClr val="000000"/>
              </a:solidFill>
              <a:effectLst/>
              <a:uFillTx/>
              <a:latin typeface="Arial"/>
            </a:endParaRPr>
          </a:p>
        </p:txBody>
      </p:sp>
      <p:sp>
        <p:nvSpPr>
          <p:cNvPr id="232" name="Shape 25"/>
          <p:cNvSpPr/>
          <p:nvPr/>
        </p:nvSpPr>
        <p:spPr>
          <a:xfrm>
            <a:off x="4233600" y="162756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33" name="Shape 26"/>
          <p:cNvSpPr/>
          <p:nvPr/>
        </p:nvSpPr>
        <p:spPr>
          <a:xfrm>
            <a:off x="4842360" y="162756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4" name="Text 27"/>
          <p:cNvSpPr/>
          <p:nvPr/>
        </p:nvSpPr>
        <p:spPr>
          <a:xfrm>
            <a:off x="457200" y="205740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2  </a:t>
            </a:r>
            <a:r>
              <a:rPr b="0" lang="en-US" sz="1350" strike="noStrike" u="none">
                <a:solidFill>
                  <a:srgbClr val="172033"/>
                </a:solidFill>
                <a:effectLst/>
                <a:uFillTx/>
                <a:latin typeface="Calibri"/>
                <a:ea typeface="Calibri"/>
              </a:rPr>
              <a:t>Dhaka dataset, live stream</a:t>
            </a:r>
            <a:endParaRPr b="0" lang="en-US" sz="1350" strike="noStrike" u="none">
              <a:solidFill>
                <a:srgbClr val="000000"/>
              </a:solidFill>
              <a:effectLst/>
              <a:uFillTx/>
              <a:latin typeface="Arial"/>
            </a:endParaRPr>
          </a:p>
        </p:txBody>
      </p:sp>
      <p:sp>
        <p:nvSpPr>
          <p:cNvPr id="235" name="Shape 28"/>
          <p:cNvSpPr/>
          <p:nvPr/>
        </p:nvSpPr>
        <p:spPr>
          <a:xfrm>
            <a:off x="5487840" y="213048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36" name="Shape 29"/>
          <p:cNvSpPr/>
          <p:nvPr/>
        </p:nvSpPr>
        <p:spPr>
          <a:xfrm>
            <a:off x="6096600" y="213048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37" name="Text 30"/>
          <p:cNvSpPr/>
          <p:nvPr/>
        </p:nvSpPr>
        <p:spPr>
          <a:xfrm>
            <a:off x="457200" y="256032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3  </a:t>
            </a:r>
            <a:r>
              <a:rPr b="0" lang="en-US" sz="1350" strike="noStrike" u="none">
                <a:solidFill>
                  <a:srgbClr val="172033"/>
                </a:solidFill>
                <a:effectLst/>
                <a:uFillTx/>
                <a:latin typeface="Calibri"/>
                <a:ea typeface="Calibri"/>
              </a:rPr>
              <a:t>Phase 3 fine-tuning</a:t>
            </a:r>
            <a:endParaRPr b="0" lang="en-US" sz="1350" strike="noStrike" u="none">
              <a:solidFill>
                <a:srgbClr val="000000"/>
              </a:solidFill>
              <a:effectLst/>
              <a:uFillTx/>
              <a:latin typeface="Arial"/>
            </a:endParaRPr>
          </a:p>
        </p:txBody>
      </p:sp>
      <p:sp>
        <p:nvSpPr>
          <p:cNvPr id="238" name="Shape 31"/>
          <p:cNvSpPr/>
          <p:nvPr/>
        </p:nvSpPr>
        <p:spPr>
          <a:xfrm>
            <a:off x="6742080" y="263340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39" name="Shape 32"/>
          <p:cNvSpPr/>
          <p:nvPr/>
        </p:nvSpPr>
        <p:spPr>
          <a:xfrm>
            <a:off x="7350840" y="263340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0" name="Text 33"/>
          <p:cNvSpPr/>
          <p:nvPr/>
        </p:nvSpPr>
        <p:spPr>
          <a:xfrm>
            <a:off x="457200" y="306324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4  </a:t>
            </a:r>
            <a:r>
              <a:rPr b="0" lang="en-US" sz="1350" strike="noStrike" u="none">
                <a:solidFill>
                  <a:srgbClr val="172033"/>
                </a:solidFill>
                <a:effectLst/>
                <a:uFillTx/>
                <a:latin typeface="Calibri"/>
                <a:ea typeface="Calibri"/>
              </a:rPr>
              <a:t>Bangla LPR</a:t>
            </a:r>
            <a:endParaRPr b="0" lang="en-US" sz="1350" strike="noStrike" u="none">
              <a:solidFill>
                <a:srgbClr val="000000"/>
              </a:solidFill>
              <a:effectLst/>
              <a:uFillTx/>
              <a:latin typeface="Arial"/>
            </a:endParaRPr>
          </a:p>
        </p:txBody>
      </p:sp>
      <p:sp>
        <p:nvSpPr>
          <p:cNvPr id="241" name="Shape 34"/>
          <p:cNvSpPr/>
          <p:nvPr/>
        </p:nvSpPr>
        <p:spPr>
          <a:xfrm>
            <a:off x="7996320" y="313632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42" name="Shape 35"/>
          <p:cNvSpPr/>
          <p:nvPr/>
        </p:nvSpPr>
        <p:spPr>
          <a:xfrm>
            <a:off x="8605440" y="313632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3" name="Text 36"/>
          <p:cNvSpPr/>
          <p:nvPr/>
        </p:nvSpPr>
        <p:spPr>
          <a:xfrm>
            <a:off x="457200" y="356616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5  </a:t>
            </a:r>
            <a:r>
              <a:rPr b="0" lang="en-US" sz="1350" strike="noStrike" u="none">
                <a:solidFill>
                  <a:srgbClr val="172033"/>
                </a:solidFill>
                <a:effectLst/>
                <a:uFillTx/>
                <a:latin typeface="Calibri"/>
                <a:ea typeface="Calibri"/>
              </a:rPr>
              <a:t>Authority view, pricing</a:t>
            </a:r>
            <a:endParaRPr b="0" lang="en-US" sz="1350" strike="noStrike" u="none">
              <a:solidFill>
                <a:srgbClr val="000000"/>
              </a:solidFill>
              <a:effectLst/>
              <a:uFillTx/>
              <a:latin typeface="Arial"/>
            </a:endParaRPr>
          </a:p>
        </p:txBody>
      </p:sp>
      <p:sp>
        <p:nvSpPr>
          <p:cNvPr id="244" name="Shape 37"/>
          <p:cNvSpPr/>
          <p:nvPr/>
        </p:nvSpPr>
        <p:spPr>
          <a:xfrm>
            <a:off x="9250560" y="363924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45" name="Shape 38"/>
          <p:cNvSpPr/>
          <p:nvPr/>
        </p:nvSpPr>
        <p:spPr>
          <a:xfrm>
            <a:off x="9859680" y="363924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6" name="Text 39"/>
          <p:cNvSpPr/>
          <p:nvPr/>
        </p:nvSpPr>
        <p:spPr>
          <a:xfrm>
            <a:off x="457200" y="4069080"/>
            <a:ext cx="3656880" cy="4107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350" strike="noStrike" u="none">
                <a:solidFill>
                  <a:srgbClr val="172033"/>
                </a:solidFill>
                <a:effectLst/>
                <a:uFillTx/>
                <a:latin typeface="Calibri"/>
                <a:ea typeface="Calibri"/>
              </a:rPr>
              <a:t>Sprint 6  </a:t>
            </a:r>
            <a:r>
              <a:rPr b="0" lang="en-US" sz="1350" strike="noStrike" u="none">
                <a:solidFill>
                  <a:srgbClr val="172033"/>
                </a:solidFill>
                <a:effectLst/>
                <a:uFillTx/>
                <a:latin typeface="Calibri"/>
                <a:ea typeface="Calibri"/>
              </a:rPr>
              <a:t>Evaluation, demo video</a:t>
            </a:r>
            <a:endParaRPr b="0" lang="en-US" sz="1350" strike="noStrike" u="none">
              <a:solidFill>
                <a:srgbClr val="000000"/>
              </a:solidFill>
              <a:effectLst/>
              <a:uFillTx/>
              <a:latin typeface="Arial"/>
            </a:endParaRPr>
          </a:p>
        </p:txBody>
      </p:sp>
      <p:sp>
        <p:nvSpPr>
          <p:cNvPr id="247" name="Shape 40"/>
          <p:cNvSpPr/>
          <p:nvPr/>
        </p:nvSpPr>
        <p:spPr>
          <a:xfrm>
            <a:off x="10504800" y="4142160"/>
            <a:ext cx="589680" cy="273600"/>
          </a:xfrm>
          <a:prstGeom prst="rect">
            <a:avLst/>
          </a:prstGeom>
          <a:solidFill>
            <a:srgbClr val="9fb3c8"/>
          </a:solidFill>
          <a:ln w="9525">
            <a:solidFill>
              <a:srgbClr val="9fb3c8"/>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000000"/>
              </a:solidFill>
              <a:effectLst/>
              <a:uFillTx/>
              <a:latin typeface="Arial"/>
            </a:endParaRPr>
          </a:p>
        </p:txBody>
      </p:sp>
      <p:sp>
        <p:nvSpPr>
          <p:cNvPr id="248" name="Shape 41"/>
          <p:cNvSpPr/>
          <p:nvPr/>
        </p:nvSpPr>
        <p:spPr>
          <a:xfrm>
            <a:off x="11113920" y="4142160"/>
            <a:ext cx="589680" cy="273600"/>
          </a:xfrm>
          <a:prstGeom prst="rect">
            <a:avLst/>
          </a:prstGeom>
          <a:solidFill>
            <a:srgbClr val="1a2b4a"/>
          </a:solidFill>
          <a:ln w="9525">
            <a:solidFill>
              <a:srgbClr val="1a2b4a"/>
            </a:solidFill>
            <a:round/>
          </a:ln>
        </p:spPr>
        <p:style>
          <a:lnRef idx="0"/>
          <a:fillRef idx="0"/>
          <a:effectRef idx="0"/>
          <a:fontRef idx="minor"/>
        </p:style>
        <p:txBody>
          <a:bodyPr lIns="90000" rIns="90000" tIns="45000" bIns="45000" anchor="t">
            <a:noAutofit/>
          </a:bodyPr>
          <a:p>
            <a:pPr>
              <a:lnSpc>
                <a:spcPct val="100000"/>
              </a:lnSpc>
            </a:pPr>
            <a:endParaRPr b="0" lang="en-US" sz="1800" strike="noStrike" u="none">
              <a:solidFill>
                <a:srgbClr val="ffffff"/>
              </a:solidFill>
              <a:effectLst/>
              <a:uFillTx/>
              <a:latin typeface="Arial"/>
            </a:endParaRPr>
          </a:p>
        </p:txBody>
      </p:sp>
      <p:sp>
        <p:nvSpPr>
          <p:cNvPr id="249" name="Text 42"/>
          <p:cNvSpPr/>
          <p:nvPr/>
        </p:nvSpPr>
        <p:spPr>
          <a:xfrm>
            <a:off x="4206240" y="4572000"/>
            <a:ext cx="548568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i="1" lang="en-US" sz="1100" strike="noStrike" u="none">
                <a:solidFill>
                  <a:srgbClr val="64748b"/>
                </a:solidFill>
                <a:effectLst/>
                <a:uFillTx/>
                <a:latin typeface="Calibri"/>
                <a:ea typeface="Calibri"/>
              </a:rPr>
              <a:t>light = study week, dark = build week</a:t>
            </a:r>
            <a:endParaRPr b="0" lang="en-US" sz="1100" strike="noStrike" u="none">
              <a:solidFill>
                <a:srgbClr val="000000"/>
              </a:solidFill>
              <a:effectLst/>
              <a:uFillTx/>
              <a:latin typeface="Arial"/>
            </a:endParaRPr>
          </a:p>
        </p:txBody>
      </p:sp>
      <p:sp>
        <p:nvSpPr>
          <p:cNvPr id="250" name="Text 43"/>
          <p:cNvSpPr/>
          <p:nvPr/>
        </p:nvSpPr>
        <p:spPr>
          <a:xfrm>
            <a:off x="457200" y="4892040"/>
            <a:ext cx="5485680" cy="31932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1" lang="en-US" sz="1500" strike="noStrike" u="none">
                <a:solidFill>
                  <a:srgbClr val="172033"/>
                </a:solidFill>
                <a:effectLst/>
                <a:uFillTx/>
                <a:latin typeface="Calibri"/>
                <a:ea typeface="Calibri"/>
              </a:rPr>
              <a:t>If something goes wrong</a:t>
            </a:r>
            <a:endParaRPr b="0" lang="en-US" sz="1500" strike="noStrike" u="none">
              <a:solidFill>
                <a:srgbClr val="000000"/>
              </a:solidFill>
              <a:effectLst/>
              <a:uFillTx/>
              <a:latin typeface="Arial"/>
            </a:endParaRPr>
          </a:p>
        </p:txBody>
      </p:sp>
      <p:sp>
        <p:nvSpPr>
          <p:cNvPr id="251" name="Text 44"/>
          <p:cNvSpPr/>
          <p:nvPr/>
        </p:nvSpPr>
        <p:spPr>
          <a:xfrm>
            <a:off x="457200" y="5257800"/>
            <a:ext cx="5485680" cy="685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No camera access at a site: record our own footage</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Real-time load: a frame every 2–3 s, push only changed slots</a:t>
            </a:r>
            <a:endParaRPr b="0" lang="en-US" sz="1300" strike="noStrike" u="none">
              <a:solidFill>
                <a:srgbClr val="000000"/>
              </a:solidFill>
              <a:effectLst/>
              <a:uFillTx/>
              <a:latin typeface="Arial"/>
            </a:endParaRPr>
          </a:p>
        </p:txBody>
      </p:sp>
      <p:sp>
        <p:nvSpPr>
          <p:cNvPr id="252" name="Text 45"/>
          <p:cNvSpPr/>
          <p:nvPr/>
        </p:nvSpPr>
        <p:spPr>
          <a:xfrm>
            <a:off x="6126480" y="5257800"/>
            <a:ext cx="5577120" cy="685080"/>
          </a:xfrm>
          <a:prstGeom prst="rect">
            <a:avLst/>
          </a:prstGeom>
          <a:noFill/>
          <a:ln w="0">
            <a:noFill/>
          </a:ln>
        </p:spPr>
        <p:style>
          <a:lnRef idx="0"/>
          <a:fillRef idx="0"/>
          <a:effectRef idx="0"/>
          <a:fontRef idx="minor"/>
        </p:style>
        <p:txBody>
          <a:bodyPr lIns="0" rIns="0" tIns="0" bIns="0" anchor="t">
            <a:noAutofit/>
          </a:bodyPr>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Bangla OCR weak: read the two lines separately, fine-tune</a:t>
            </a:r>
            <a:endParaRPr b="0" lang="en-US" sz="1300" strike="noStrike" u="none">
              <a:solidFill>
                <a:srgbClr val="000000"/>
              </a:solidFill>
              <a:effectLst/>
              <a:uFillTx/>
              <a:latin typeface="Arial"/>
            </a:endParaRPr>
          </a:p>
          <a:p>
            <a:pPr marL="343080" indent="-343080" defTabSz="914400">
              <a:lnSpc>
                <a:spcPct val="100000"/>
              </a:lnSpc>
              <a:spcAft>
                <a:spcPts val="499"/>
              </a:spcAft>
              <a:buClr>
                <a:srgbClr val="172033"/>
              </a:buClr>
              <a:buFont typeface="Symbol" charset="2"/>
              <a:buChar char=""/>
            </a:pPr>
            <a:r>
              <a:rPr b="0" lang="en-US" sz="1300" strike="noStrike" u="none">
                <a:solidFill>
                  <a:srgbClr val="172033"/>
                </a:solidFill>
                <a:effectLst/>
                <a:uFillTx/>
                <a:latin typeface="Calibri"/>
                <a:ea typeface="Calibri"/>
              </a:rPr>
              <a:t>Short on time: drop payments and notifications first</a:t>
            </a:r>
            <a:endParaRPr b="0" lang="en-US" sz="1300" strike="noStrike" u="none">
              <a:solidFill>
                <a:srgbClr val="000000"/>
              </a:solidFill>
              <a:effectLst/>
              <a:uFillTx/>
              <a:latin typeface="Arial"/>
            </a:endParaRPr>
          </a:p>
        </p:txBody>
      </p:sp>
      <p:sp>
        <p:nvSpPr>
          <p:cNvPr id="253" name="Text 46"/>
          <p:cNvSpPr/>
          <p:nvPr/>
        </p:nvSpPr>
        <p:spPr>
          <a:xfrm>
            <a:off x="7132320" y="5943600"/>
            <a:ext cx="4598640" cy="41076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1" lang="en-US" sz="1800" strike="noStrike" u="none">
                <a:solidFill>
                  <a:srgbClr val="0f766e"/>
                </a:solidFill>
                <a:effectLst/>
                <a:uFillTx/>
                <a:latin typeface="Calibri"/>
                <a:ea typeface="Calibri"/>
              </a:rPr>
              <a:t>Thank you. Questions?</a:t>
            </a:r>
            <a:endParaRPr b="0" lang="en-US" sz="1800" strike="noStrike" u="none">
              <a:solidFill>
                <a:srgbClr val="000000"/>
              </a:solidFill>
              <a:effectLst/>
              <a:uFillTx/>
              <a:latin typeface="Arial"/>
            </a:endParaRPr>
          </a:p>
        </p:txBody>
      </p:sp>
      <p:sp>
        <p:nvSpPr>
          <p:cNvPr id="254" name="Text 47"/>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255" name="Text 48"/>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4 · Scope &amp; Plan   15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Text 0"/>
          <p:cNvSpPr/>
          <p:nvPr/>
        </p:nvSpPr>
        <p:spPr>
          <a:xfrm>
            <a:off x="457200" y="320040"/>
            <a:ext cx="10423440" cy="593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3000" strike="noStrike" u="none">
                <a:solidFill>
                  <a:srgbClr val="172033"/>
                </a:solidFill>
                <a:effectLst/>
                <a:uFillTx/>
                <a:latin typeface="Arial"/>
                <a:ea typeface="Arial"/>
              </a:rPr>
              <a:t>References</a:t>
            </a:r>
            <a:endParaRPr b="0" lang="en-US" sz="3000" strike="noStrike" u="none">
              <a:solidFill>
                <a:srgbClr val="000000"/>
              </a:solidFill>
              <a:effectLst/>
              <a:uFillTx/>
              <a:latin typeface="Arial"/>
            </a:endParaRPr>
          </a:p>
        </p:txBody>
      </p:sp>
      <p:pic>
        <p:nvPicPr>
          <p:cNvPr id="257" name="Image 0" descr="E:\remote\2026\team\499\tmp\499b\review-presentation\assets\logo.png"/>
          <p:cNvPicPr/>
          <p:nvPr/>
        </p:nvPicPr>
        <p:blipFill>
          <a:blip r:embed="rId1"/>
          <a:stretch/>
        </p:blipFill>
        <p:spPr>
          <a:xfrm>
            <a:off x="11183040" y="301680"/>
            <a:ext cx="547920" cy="547920"/>
          </a:xfrm>
          <a:prstGeom prst="rect">
            <a:avLst/>
          </a:prstGeom>
          <a:noFill/>
          <a:ln w="0">
            <a:noFill/>
          </a:ln>
        </p:spPr>
      </p:pic>
      <p:sp>
        <p:nvSpPr>
          <p:cNvPr id="258" name="Text 1"/>
          <p:cNvSpPr/>
          <p:nvPr/>
        </p:nvSpPr>
        <p:spPr>
          <a:xfrm>
            <a:off x="457200" y="1188720"/>
            <a:ext cx="11273760" cy="5074200"/>
          </a:xfrm>
          <a:prstGeom prst="rect">
            <a:avLst/>
          </a:prstGeom>
          <a:noFill/>
          <a:ln w="0">
            <a:noFill/>
          </a:ln>
        </p:spPr>
        <p:style>
          <a:lnRef idx="0"/>
          <a:fillRef idx="0"/>
          <a:effectRef idx="0"/>
          <a:fontRef idx="minor"/>
        </p:style>
        <p:txBody>
          <a:bodyPr lIns="0" rIns="0" tIns="0" bIns="0" anchor="t">
            <a:noAutofit/>
          </a:bodyPr>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[1]  World Bank, Dhaka: Improving Living Conditions in the City. Washington, DC: World Bank Group, 2018.</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[2]  Dhaka North City Corporation, “Smart parking: DNCC debuts app in Gulshan,” Press Xpress, Nov. 2023.</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[3]  R. Rahman, “Building a parking solution for Bangladesh,” Future Startup, Jul. 2019.</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[4]  R. R. Prova, T. Shinha, A. B. Pew, and R. M. Rahman, “A real-time parking space occupancy detection using deep learning model,” in Proc. IEEE IEMTRONICS, 2022, doi: 10.1109/IEMTRONICS55184.2022.9795771.</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[5]  A. Ashrafee, A. M. Khan, M. S. Irbaz, and M. A. A. Nasim, “Real-time Bangla license plate recognition system for low resource video-based applications,” arXiv:2108.08339, 2021.</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[6]  N. Hasin, M. A. R. Nishat, M. Islam, K. S. A. Hasan, and A. Newaz, “A robust deep learning framework for Bangla license plate recognition using YOLO and vision-language OCR,” arXiv:2603.10267, 2026.</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[7]  P. R. L. de Almeida, L. S. Oliveira, A. S. Britto Jr., E. J. Silva Jr., and A. L. Koerich, “PKLot – A robust dataset for parking lot classification,” Expert Syst. Appl., vol. 42, no. 11, pp. 4937–4949, 2015.</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[8]  G. Amato, F. Carrara, F. Falchi, C. Gennaro, C. Meghini, and C. Vairo, “Deep learning for decentralized parking lot occupancy detection,” Expert Syst. Appl., vol. 72, pp. 327–334, 2017.</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[9]  M. Sandler, A. Howard, M. Zhu, A. Zhmoginov, and L.-C. Chen, “MobileNetV2: Inverted residuals and linear bottlenecks,” in Proc. IEEE/CVF CVPR, 2018, pp. 4510–4520.</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[10] W. Li, L. Cao, L. Yan, C. Li, X. Feng, and P. Zhao, “Vacant parking slot detection in the around view image based on deep learning,” Sensors, vol. 20, no. 7, p. 2138, 2020.</a:t>
            </a:r>
            <a:endParaRPr b="0" lang="en-US" sz="1300" strike="noStrike" u="none">
              <a:solidFill>
                <a:srgbClr val="000000"/>
              </a:solidFill>
              <a:effectLst/>
              <a:uFillTx/>
              <a:latin typeface="Arial"/>
            </a:endParaRPr>
          </a:p>
          <a:p>
            <a:pPr defTabSz="914400">
              <a:lnSpc>
                <a:spcPct val="100000"/>
              </a:lnSpc>
              <a:spcAft>
                <a:spcPts val="601"/>
              </a:spcAft>
              <a:tabLst>
                <a:tab algn="l" pos="0"/>
              </a:tabLst>
            </a:pPr>
            <a:r>
              <a:rPr b="0" lang="en-US" sz="1300" strike="noStrike" u="none">
                <a:solidFill>
                  <a:srgbClr val="172033"/>
                </a:solidFill>
                <a:effectLst/>
                <a:uFillTx/>
                <a:latin typeface="Calibri"/>
                <a:ea typeface="Calibri"/>
              </a:rPr>
              <a:t>[11] G. Jocher, A. Chaurasia, and J. Qiu, Ultralytics YOLOv8, 2023. [Online]. Available: https://github.com/ultralytics/ultralytics</a:t>
            </a:r>
            <a:endParaRPr b="0" lang="en-US" sz="1300" strike="noStrike" u="none">
              <a:solidFill>
                <a:srgbClr val="000000"/>
              </a:solidFill>
              <a:effectLst/>
              <a:uFillTx/>
              <a:latin typeface="Arial"/>
            </a:endParaRPr>
          </a:p>
        </p:txBody>
      </p:sp>
      <p:sp>
        <p:nvSpPr>
          <p:cNvPr id="259" name="Text 2"/>
          <p:cNvSpPr/>
          <p:nvPr/>
        </p:nvSpPr>
        <p:spPr>
          <a:xfrm>
            <a:off x="457200" y="6446520"/>
            <a:ext cx="6948720" cy="255240"/>
          </a:xfrm>
          <a:prstGeom prst="rect">
            <a:avLst/>
          </a:prstGeom>
          <a:noFill/>
          <a:ln w="0">
            <a:noFill/>
          </a:ln>
        </p:spPr>
        <p:style>
          <a:lnRef idx="0"/>
          <a:fillRef idx="0"/>
          <a:effectRef idx="0"/>
          <a:fontRef idx="minor"/>
        </p:style>
        <p:txBody>
          <a:bodyPr lIns="0" rIns="0" tIns="0" bIns="0" anchor="t">
            <a:noAutofit/>
          </a:bodyPr>
          <a:p>
            <a:pPr defTabSz="914400">
              <a:lnSpc>
                <a:spcPct val="100000"/>
              </a:lnSpc>
              <a:tabLst>
                <a:tab algn="l" pos="0"/>
              </a:tabLst>
            </a:pPr>
            <a:r>
              <a:rPr b="0" lang="en-US" sz="1000" strike="noStrike" u="none">
                <a:solidFill>
                  <a:srgbClr val="64748b"/>
                </a:solidFill>
                <a:effectLst/>
                <a:uFillTx/>
                <a:latin typeface="Calibri"/>
                <a:ea typeface="Calibri"/>
              </a:rPr>
              <a:t>Group 03  ·  Md. Rahad Hossain  ·  Md. Yousuf  ·  MD. Rokib Hasan Oli  ·  Safayat Ibrahim</a:t>
            </a:r>
            <a:endParaRPr b="0" lang="en-US" sz="1000" strike="noStrike" u="none">
              <a:solidFill>
                <a:srgbClr val="000000"/>
              </a:solidFill>
              <a:effectLst/>
              <a:uFillTx/>
              <a:latin typeface="Arial"/>
            </a:endParaRPr>
          </a:p>
        </p:txBody>
      </p:sp>
      <p:sp>
        <p:nvSpPr>
          <p:cNvPr id="260" name="Text 3"/>
          <p:cNvSpPr/>
          <p:nvPr/>
        </p:nvSpPr>
        <p:spPr>
          <a:xfrm>
            <a:off x="7159680" y="6446520"/>
            <a:ext cx="4571280" cy="255240"/>
          </a:xfrm>
          <a:prstGeom prst="rect">
            <a:avLst/>
          </a:prstGeom>
          <a:noFill/>
          <a:ln w="0">
            <a:noFill/>
          </a:ln>
        </p:spPr>
        <p:style>
          <a:lnRef idx="0"/>
          <a:fillRef idx="0"/>
          <a:effectRef idx="0"/>
          <a:fontRef idx="minor"/>
        </p:style>
        <p:txBody>
          <a:bodyPr lIns="0" rIns="0" tIns="0" bIns="0" anchor="t">
            <a:noAutofit/>
          </a:bodyPr>
          <a:p>
            <a:pPr algn="r" defTabSz="914400">
              <a:lnSpc>
                <a:spcPct val="100000"/>
              </a:lnSpc>
              <a:tabLst>
                <a:tab algn="l" pos="0"/>
              </a:tabLst>
            </a:pPr>
            <a:r>
              <a:rPr b="0" lang="en-US" sz="1000" strike="noStrike" u="none">
                <a:solidFill>
                  <a:srgbClr val="64748b"/>
                </a:solidFill>
                <a:effectLst/>
                <a:uFillTx/>
                <a:latin typeface="Calibri"/>
                <a:ea typeface="Calibri"/>
              </a:rPr>
              <a:t>CSE499B · Section 15  ·  Part 4 · Scope &amp; Plan   16 / 16</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LibreOffice/25.2.7.2$Windows_X86_64 LibreOffice_project/5cbfd1ab6520636bb5f7b99185aa69bd7456825d</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2026-10-07T00:20:47Z</dcterms:created>
  <dc:creator>Group 03</dc:creator>
  <dc:description/>
  <dc:language>en-US</dc:language>
  <cp:lastModifiedBy/>
  <cp:lastPrinted>2026-10-07T06:29:37Z</cp:lastPrinted>
  <dcterms:modified xsi:type="dcterms:W3CDTF">2026-10-07T06:29:59Z</dcterms:modified>
  <cp:revision>3</cp:revision>
  <dc:subject>PptxGenJS Presentation</dc:subject>
  <dc:title>CityPulse — CSE499B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16</vt:i4>
  </property>
  <property fmtid="{D5CDD505-2E9C-101B-9397-08002B2CF9AE}" pid="3" name="PresentationFormat">
    <vt:lpwstr>On-screen Show (16:9)</vt:lpwstr>
  </property>
  <property fmtid="{D5CDD505-2E9C-101B-9397-08002B2CF9AE}" pid="4" name="Slides">
    <vt:i4>16</vt:i4>
  </property>
</Properties>
</file>