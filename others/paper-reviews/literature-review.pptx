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6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Inter Bold" charset="1" panose="02000503000000020004"/>
      <p:regular r:id="rId19"/>
    </p:embeddedFont>
    <p:embeddedFont>
      <p:font typeface="Inter" charset="1" panose="02000503000000020004"/>
      <p:regular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notesMasters/notesMaster1.xml" Type="http://schemas.openxmlformats.org/officeDocument/2006/relationships/notesMaster"/><Relationship Id="rId17" Target="theme/theme2.xml" Type="http://schemas.openxmlformats.org/officeDocument/2006/relationships/theme"/><Relationship Id="rId18" Target="notesSlides/notesSlide1.xml" Type="http://schemas.openxmlformats.org/officeDocument/2006/relationships/notesSlide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notesSlides/notesSlide2.xml" Type="http://schemas.openxmlformats.org/officeDocument/2006/relationships/notesSlide"/><Relationship Id="rId22" Target="notesSlides/notesSlide3.xml" Type="http://schemas.openxmlformats.org/officeDocument/2006/relationships/notesSlide"/><Relationship Id="rId23" Target="notesSlides/notesSlide4.xml" Type="http://schemas.openxmlformats.org/officeDocument/2006/relationships/notesSlide"/><Relationship Id="rId24" Target="notesSlides/notesSlide5.xml" Type="http://schemas.openxmlformats.org/officeDocument/2006/relationships/notesSlide"/><Relationship Id="rId25" Target="notesSlides/notesSlide6.xml" Type="http://schemas.openxmlformats.org/officeDocument/2006/relationships/notesSlide"/><Relationship Id="rId26" Target="notesSlides/notesSlide7.xml" Type="http://schemas.openxmlformats.org/officeDocument/2006/relationships/notesSlide"/><Relationship Id="rId27" Target="notesSlides/notesSlide8.xml" Type="http://schemas.openxmlformats.org/officeDocument/2006/relationships/notesSlide"/><Relationship Id="rId28" Target="notesSlides/notesSlide9.xml" Type="http://schemas.openxmlformats.org/officeDocument/2006/relationships/notesSlide"/><Relationship Id="rId29" Target="notesSlides/notesSlide10.xml" Type="http://schemas.openxmlformats.org/officeDocument/2006/relationships/notesSlide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10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2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5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https://gamma.app/?utm_source=made-with-gamma" TargetMode="External" Type="http://schemas.openxmlformats.org/officeDocument/2006/relationships/hyperlink"/><Relationship Id="rId4" Target="../media/image6.png" Type="http://schemas.openxmlformats.org/officeDocument/2006/relationships/image"/><Relationship Id="rId5" Target="../media/image7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8.png" Type="http://schemas.openxmlformats.org/officeDocument/2006/relationships/image"/><Relationship Id="rId4" Target="../media/image9.svg" Type="http://schemas.openxmlformats.org/officeDocument/2006/relationships/image"/><Relationship Id="rId5" Target="../media/image10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Relationship Id="rId3" Target="../media/image11.jpe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Relationship Id="rId3" Target="../media/image12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Relationship Id="rId3" Target="../media/image13.jpeg" Type="http://schemas.openxmlformats.org/officeDocument/2006/relationships/image"/><Relationship Id="rId4" Target="../media/image11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6F4F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0"/>
            <a:ext cx="6858000" cy="10287000"/>
            <a:chOff x="0" y="0"/>
            <a:chExt cx="9144000" cy="13716000"/>
          </a:xfrm>
        </p:grpSpPr>
        <p:sp>
          <p:nvSpPr>
            <p:cNvPr name="Freeform 7" id="7" descr="preencoded.png"/>
            <p:cNvSpPr/>
            <p:nvPr/>
          </p:nvSpPr>
          <p:spPr>
            <a:xfrm flipH="false" flipV="false" rot="0">
              <a:off x="0" y="0"/>
              <a:ext cx="914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7850238" y="2919565"/>
            <a:ext cx="9445523" cy="1790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64"/>
              </a:lnSpc>
            </a:pPr>
            <a:r>
              <a:rPr lang="en-US" sz="5500" b="true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Real-Time Parking Space Occupancy Detection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7850238" y="5050031"/>
            <a:ext cx="9445523" cy="14466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11"/>
              </a:lnSpc>
            </a:pPr>
            <a:r>
              <a:rPr lang="en-US" sz="22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A deep learning approach for decentralized, real-time parking occupancy detection using standard CCTV cameras — deployable on low-powered embedded devices.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8020345" y="6833892"/>
            <a:ext cx="3608337" cy="429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13"/>
              </a:lnSpc>
            </a:pPr>
            <a:r>
              <a:rPr lang="en-US" sz="1700">
                <a:solidFill>
                  <a:srgbClr val="4950BC"/>
                </a:solidFill>
                <a:latin typeface="Inter"/>
                <a:ea typeface="Inter"/>
                <a:cs typeface="Inter"/>
                <a:sym typeface="Inter"/>
              </a:rPr>
              <a:t>IEMTRONICS 2022 · IEEE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1196190" y="6833892"/>
            <a:ext cx="4917129" cy="429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13"/>
              </a:lnSpc>
            </a:pPr>
            <a:r>
              <a:rPr lang="en-US" sz="1700">
                <a:solidFill>
                  <a:srgbClr val="4950BC"/>
                </a:solidFill>
                <a:latin typeface="Inter"/>
                <a:ea typeface="Inter"/>
                <a:cs typeface="Inter"/>
                <a:sym typeface="Inter"/>
              </a:rPr>
              <a:t>NORTH SOUTH UNIVERSITY, DHAKA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6F4F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992238" y="821379"/>
            <a:ext cx="2575027" cy="521646"/>
            <a:chOff x="0" y="0"/>
            <a:chExt cx="3433369" cy="69552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433445" cy="695579"/>
            </a:xfrm>
            <a:custGeom>
              <a:avLst/>
              <a:gdLst/>
              <a:ahLst/>
              <a:cxnLst/>
              <a:rect r="r" b="b" t="t" l="l"/>
              <a:pathLst>
                <a:path h="695579" w="3433445">
                  <a:moveTo>
                    <a:pt x="0" y="125095"/>
                  </a:moveTo>
                  <a:cubicBezTo>
                    <a:pt x="0" y="56007"/>
                    <a:pt x="56007" y="0"/>
                    <a:pt x="125095" y="0"/>
                  </a:cubicBezTo>
                  <a:lnTo>
                    <a:pt x="3308350" y="0"/>
                  </a:lnTo>
                  <a:cubicBezTo>
                    <a:pt x="3377438" y="0"/>
                    <a:pt x="3433445" y="56007"/>
                    <a:pt x="3433445" y="125095"/>
                  </a:cubicBezTo>
                  <a:lnTo>
                    <a:pt x="3433445" y="570484"/>
                  </a:lnTo>
                  <a:cubicBezTo>
                    <a:pt x="3433445" y="639572"/>
                    <a:pt x="3377438" y="695579"/>
                    <a:pt x="3308350" y="695579"/>
                  </a:cubicBezTo>
                  <a:lnTo>
                    <a:pt x="125095" y="695579"/>
                  </a:lnTo>
                  <a:cubicBezTo>
                    <a:pt x="56007" y="695579"/>
                    <a:pt x="0" y="639572"/>
                    <a:pt x="0" y="570484"/>
                  </a:cubicBezTo>
                  <a:close/>
                </a:path>
              </a:pathLst>
            </a:custGeom>
            <a:solidFill>
              <a:srgbClr val="DADBF1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159669" y="847877"/>
            <a:ext cx="3154556" cy="4115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92"/>
              </a:lnSpc>
            </a:pPr>
            <a:r>
              <a:rPr lang="en-US" sz="17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LITERATURE REVIEW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92238" y="1433808"/>
            <a:ext cx="16303523" cy="8911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39"/>
              </a:lnSpc>
            </a:pPr>
            <a:r>
              <a:rPr lang="en-US" sz="5400" b="true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Evolution of Parking Occupancy Detection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92238" y="2660894"/>
            <a:ext cx="16303523" cy="962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26"/>
              </a:lnSpc>
            </a:pPr>
            <a:r>
              <a:rPr lang="en-US" sz="21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Research has progressed from classical classifiers to deep CNN architectures, each addressing limitations in accuracy, scalability, and environmental robustness.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992238" y="6698752"/>
            <a:ext cx="16303523" cy="38100"/>
            <a:chOff x="0" y="0"/>
            <a:chExt cx="21738031" cy="50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738082" cy="50800"/>
            </a:xfrm>
            <a:custGeom>
              <a:avLst/>
              <a:gdLst/>
              <a:ahLst/>
              <a:cxnLst/>
              <a:rect r="r" b="b" t="t" l="l"/>
              <a:pathLst>
                <a:path h="50800" w="21738082">
                  <a:moveTo>
                    <a:pt x="0" y="25400"/>
                  </a:moveTo>
                  <a:cubicBezTo>
                    <a:pt x="0" y="11430"/>
                    <a:pt x="11430" y="0"/>
                    <a:pt x="25400" y="0"/>
                  </a:cubicBezTo>
                  <a:lnTo>
                    <a:pt x="21712682" y="0"/>
                  </a:lnTo>
                  <a:cubicBezTo>
                    <a:pt x="21726652" y="0"/>
                    <a:pt x="21738082" y="11430"/>
                    <a:pt x="21738082" y="25400"/>
                  </a:cubicBezTo>
                  <a:cubicBezTo>
                    <a:pt x="21738082" y="39370"/>
                    <a:pt x="21726652" y="50800"/>
                    <a:pt x="21712682" y="50800"/>
                  </a:cubicBezTo>
                  <a:lnTo>
                    <a:pt x="25400" y="50800"/>
                  </a:lnTo>
                  <a:cubicBezTo>
                    <a:pt x="11430" y="50800"/>
                    <a:pt x="0" y="39370"/>
                    <a:pt x="0" y="25400"/>
                  </a:cubicBezTo>
                  <a:close/>
                </a:path>
              </a:pathLst>
            </a:custGeom>
            <a:solidFill>
              <a:srgbClr val="C0C1D7"/>
            </a:solid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4130878" y="6140720"/>
            <a:ext cx="38100" cy="558108"/>
            <a:chOff x="0" y="0"/>
            <a:chExt cx="50800" cy="744144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0800" cy="744093"/>
            </a:xfrm>
            <a:custGeom>
              <a:avLst/>
              <a:gdLst/>
              <a:ahLst/>
              <a:cxnLst/>
              <a:rect r="r" b="b" t="t" l="l"/>
              <a:pathLst>
                <a:path h="744093" w="50800">
                  <a:moveTo>
                    <a:pt x="0" y="25400"/>
                  </a:moveTo>
                  <a:cubicBezTo>
                    <a:pt x="0" y="11430"/>
                    <a:pt x="11430" y="0"/>
                    <a:pt x="25400" y="0"/>
                  </a:cubicBezTo>
                  <a:cubicBezTo>
                    <a:pt x="39370" y="0"/>
                    <a:pt x="50800" y="11430"/>
                    <a:pt x="50800" y="25400"/>
                  </a:cubicBezTo>
                  <a:lnTo>
                    <a:pt x="50800" y="718693"/>
                  </a:lnTo>
                  <a:cubicBezTo>
                    <a:pt x="50800" y="732663"/>
                    <a:pt x="39370" y="744093"/>
                    <a:pt x="25400" y="744093"/>
                  </a:cubicBezTo>
                  <a:cubicBezTo>
                    <a:pt x="11430" y="744093"/>
                    <a:pt x="0" y="732663"/>
                    <a:pt x="0" y="718693"/>
                  </a:cubicBezTo>
                  <a:close/>
                </a:path>
              </a:pathLst>
            </a:custGeom>
            <a:solidFill>
              <a:srgbClr val="C0C1D7"/>
            </a:solid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4045296" y="6594053"/>
            <a:ext cx="209255" cy="209255"/>
            <a:chOff x="0" y="0"/>
            <a:chExt cx="279006" cy="27900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79019" cy="279019"/>
            </a:xfrm>
            <a:custGeom>
              <a:avLst/>
              <a:gdLst/>
              <a:ahLst/>
              <a:cxnLst/>
              <a:rect r="r" b="b" t="t" l="l"/>
              <a:pathLst>
                <a:path h="279019" w="279019">
                  <a:moveTo>
                    <a:pt x="0" y="139446"/>
                  </a:moveTo>
                  <a:cubicBezTo>
                    <a:pt x="0" y="62484"/>
                    <a:pt x="62484" y="0"/>
                    <a:pt x="139446" y="0"/>
                  </a:cubicBezTo>
                  <a:cubicBezTo>
                    <a:pt x="216408" y="0"/>
                    <a:pt x="279019" y="62484"/>
                    <a:pt x="279019" y="139446"/>
                  </a:cubicBezTo>
                  <a:cubicBezTo>
                    <a:pt x="279019" y="216408"/>
                    <a:pt x="216535" y="279019"/>
                    <a:pt x="139446" y="279019"/>
                  </a:cubicBezTo>
                  <a:cubicBezTo>
                    <a:pt x="62357" y="279019"/>
                    <a:pt x="0" y="216535"/>
                    <a:pt x="0" y="139446"/>
                  </a:cubicBezTo>
                  <a:close/>
                </a:path>
              </a:pathLst>
            </a:custGeom>
            <a:solidFill>
              <a:srgbClr val="4950BC"/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1271292" y="3922366"/>
            <a:ext cx="5757272" cy="4455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69"/>
              </a:lnSpc>
            </a:pPr>
            <a:r>
              <a:rPr lang="en-US" sz="2700" b="true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Classical ML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71292" y="4456509"/>
            <a:ext cx="5757272" cy="14049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26"/>
              </a:lnSpc>
            </a:pPr>
            <a:r>
              <a:rPr lang="en-US" sz="21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SVM, Bayesian classifiers with hand-crafted features — limited under shadows and lighting changes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7460161" y="6698675"/>
            <a:ext cx="38100" cy="558108"/>
            <a:chOff x="0" y="0"/>
            <a:chExt cx="50800" cy="744144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50800" cy="744093"/>
            </a:xfrm>
            <a:custGeom>
              <a:avLst/>
              <a:gdLst/>
              <a:ahLst/>
              <a:cxnLst/>
              <a:rect r="r" b="b" t="t" l="l"/>
              <a:pathLst>
                <a:path h="744093" w="50800">
                  <a:moveTo>
                    <a:pt x="0" y="25400"/>
                  </a:moveTo>
                  <a:cubicBezTo>
                    <a:pt x="0" y="11430"/>
                    <a:pt x="11430" y="0"/>
                    <a:pt x="25400" y="0"/>
                  </a:cubicBezTo>
                  <a:cubicBezTo>
                    <a:pt x="39370" y="0"/>
                    <a:pt x="50800" y="11430"/>
                    <a:pt x="50800" y="25400"/>
                  </a:cubicBezTo>
                  <a:lnTo>
                    <a:pt x="50800" y="718693"/>
                  </a:lnTo>
                  <a:cubicBezTo>
                    <a:pt x="50800" y="732663"/>
                    <a:pt x="39370" y="744093"/>
                    <a:pt x="25400" y="744093"/>
                  </a:cubicBezTo>
                  <a:cubicBezTo>
                    <a:pt x="11430" y="744093"/>
                    <a:pt x="0" y="732663"/>
                    <a:pt x="0" y="718693"/>
                  </a:cubicBezTo>
                  <a:close/>
                </a:path>
              </a:pathLst>
            </a:custGeom>
            <a:solidFill>
              <a:srgbClr val="C0C1D7"/>
            </a:soli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7374579" y="6594053"/>
            <a:ext cx="209255" cy="209255"/>
            <a:chOff x="0" y="0"/>
            <a:chExt cx="279006" cy="279006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79019" cy="279019"/>
            </a:xfrm>
            <a:custGeom>
              <a:avLst/>
              <a:gdLst/>
              <a:ahLst/>
              <a:cxnLst/>
              <a:rect r="r" b="b" t="t" l="l"/>
              <a:pathLst>
                <a:path h="279019" w="279019">
                  <a:moveTo>
                    <a:pt x="0" y="139446"/>
                  </a:moveTo>
                  <a:cubicBezTo>
                    <a:pt x="0" y="62484"/>
                    <a:pt x="62484" y="0"/>
                    <a:pt x="139446" y="0"/>
                  </a:cubicBezTo>
                  <a:cubicBezTo>
                    <a:pt x="216408" y="0"/>
                    <a:pt x="279019" y="62484"/>
                    <a:pt x="279019" y="139446"/>
                  </a:cubicBezTo>
                  <a:cubicBezTo>
                    <a:pt x="279019" y="216408"/>
                    <a:pt x="216535" y="279019"/>
                    <a:pt x="139446" y="279019"/>
                  </a:cubicBezTo>
                  <a:cubicBezTo>
                    <a:pt x="62357" y="279019"/>
                    <a:pt x="0" y="216535"/>
                    <a:pt x="0" y="139446"/>
                  </a:cubicBezTo>
                  <a:close/>
                </a:path>
              </a:pathLst>
            </a:custGeom>
            <a:solidFill>
              <a:srgbClr val="4950BC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4600575" y="7526531"/>
            <a:ext cx="5757272" cy="4455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69"/>
              </a:lnSpc>
            </a:pPr>
            <a:r>
              <a:rPr lang="en-US" sz="2700" b="true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Temporal &amp; 3D Methods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4600575" y="8060684"/>
            <a:ext cx="5757272" cy="14049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26"/>
              </a:lnSpc>
            </a:pPr>
            <a:r>
              <a:rPr lang="en-US" sz="21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Background subtraction, 3D Bayesian frameworks — improved accuracy but high complexity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10789596" y="6140720"/>
            <a:ext cx="38100" cy="558108"/>
            <a:chOff x="0" y="0"/>
            <a:chExt cx="50800" cy="744144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50800" cy="744093"/>
            </a:xfrm>
            <a:custGeom>
              <a:avLst/>
              <a:gdLst/>
              <a:ahLst/>
              <a:cxnLst/>
              <a:rect r="r" b="b" t="t" l="l"/>
              <a:pathLst>
                <a:path h="744093" w="50800">
                  <a:moveTo>
                    <a:pt x="0" y="25400"/>
                  </a:moveTo>
                  <a:cubicBezTo>
                    <a:pt x="0" y="11430"/>
                    <a:pt x="11430" y="0"/>
                    <a:pt x="25400" y="0"/>
                  </a:cubicBezTo>
                  <a:cubicBezTo>
                    <a:pt x="39370" y="0"/>
                    <a:pt x="50800" y="11430"/>
                    <a:pt x="50800" y="25400"/>
                  </a:cubicBezTo>
                  <a:lnTo>
                    <a:pt x="50800" y="718693"/>
                  </a:lnTo>
                  <a:cubicBezTo>
                    <a:pt x="50800" y="732663"/>
                    <a:pt x="39370" y="744093"/>
                    <a:pt x="25400" y="744093"/>
                  </a:cubicBezTo>
                  <a:cubicBezTo>
                    <a:pt x="11430" y="744093"/>
                    <a:pt x="0" y="732663"/>
                    <a:pt x="0" y="718693"/>
                  </a:cubicBezTo>
                  <a:close/>
                </a:path>
              </a:pathLst>
            </a:custGeom>
            <a:solidFill>
              <a:srgbClr val="C0C1D7"/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10704014" y="6594053"/>
            <a:ext cx="209255" cy="209255"/>
            <a:chOff x="0" y="0"/>
            <a:chExt cx="279006" cy="279006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79019" cy="279019"/>
            </a:xfrm>
            <a:custGeom>
              <a:avLst/>
              <a:gdLst/>
              <a:ahLst/>
              <a:cxnLst/>
              <a:rect r="r" b="b" t="t" l="l"/>
              <a:pathLst>
                <a:path h="279019" w="279019">
                  <a:moveTo>
                    <a:pt x="0" y="139446"/>
                  </a:moveTo>
                  <a:cubicBezTo>
                    <a:pt x="0" y="62484"/>
                    <a:pt x="62484" y="0"/>
                    <a:pt x="139446" y="0"/>
                  </a:cubicBezTo>
                  <a:cubicBezTo>
                    <a:pt x="216408" y="0"/>
                    <a:pt x="279019" y="62484"/>
                    <a:pt x="279019" y="139446"/>
                  </a:cubicBezTo>
                  <a:cubicBezTo>
                    <a:pt x="279019" y="216408"/>
                    <a:pt x="216535" y="279019"/>
                    <a:pt x="139446" y="279019"/>
                  </a:cubicBezTo>
                  <a:cubicBezTo>
                    <a:pt x="62357" y="279019"/>
                    <a:pt x="0" y="216535"/>
                    <a:pt x="0" y="139446"/>
                  </a:cubicBezTo>
                  <a:close/>
                </a:path>
              </a:pathLst>
            </a:custGeom>
            <a:solidFill>
              <a:srgbClr val="4950BC"/>
            </a:solidFill>
          </p:spPr>
        </p:sp>
      </p:grpSp>
      <p:sp>
        <p:nvSpPr>
          <p:cNvPr name="TextBox 29" id="29"/>
          <p:cNvSpPr txBox="true"/>
          <p:nvPr/>
        </p:nvSpPr>
        <p:spPr>
          <a:xfrm rot="0">
            <a:off x="7930010" y="3922366"/>
            <a:ext cx="5757272" cy="4455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69"/>
              </a:lnSpc>
            </a:pPr>
            <a:r>
              <a:rPr lang="en-US" sz="2700" b="true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Texture-Based SVM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7930010" y="4456509"/>
            <a:ext cx="5757272" cy="14049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26"/>
              </a:lnSpc>
            </a:pPr>
            <a:r>
              <a:rPr lang="en-US" sz="21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LBP variants on ~700K images — better aggregation but still feature-engineering dependent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14118879" y="6698675"/>
            <a:ext cx="38100" cy="558108"/>
            <a:chOff x="0" y="0"/>
            <a:chExt cx="50800" cy="744144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50800" cy="744093"/>
            </a:xfrm>
            <a:custGeom>
              <a:avLst/>
              <a:gdLst/>
              <a:ahLst/>
              <a:cxnLst/>
              <a:rect r="r" b="b" t="t" l="l"/>
              <a:pathLst>
                <a:path h="744093" w="50800">
                  <a:moveTo>
                    <a:pt x="0" y="25400"/>
                  </a:moveTo>
                  <a:cubicBezTo>
                    <a:pt x="0" y="11430"/>
                    <a:pt x="11430" y="0"/>
                    <a:pt x="25400" y="0"/>
                  </a:cubicBezTo>
                  <a:cubicBezTo>
                    <a:pt x="39370" y="0"/>
                    <a:pt x="50800" y="11430"/>
                    <a:pt x="50800" y="25400"/>
                  </a:cubicBezTo>
                  <a:lnTo>
                    <a:pt x="50800" y="718693"/>
                  </a:lnTo>
                  <a:cubicBezTo>
                    <a:pt x="50800" y="732663"/>
                    <a:pt x="39370" y="744093"/>
                    <a:pt x="25400" y="744093"/>
                  </a:cubicBezTo>
                  <a:cubicBezTo>
                    <a:pt x="11430" y="744093"/>
                    <a:pt x="0" y="732663"/>
                    <a:pt x="0" y="718693"/>
                  </a:cubicBezTo>
                  <a:close/>
                </a:path>
              </a:pathLst>
            </a:custGeom>
            <a:solidFill>
              <a:srgbClr val="C0C1D7"/>
            </a:solid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14033306" y="6594053"/>
            <a:ext cx="209255" cy="209255"/>
            <a:chOff x="0" y="0"/>
            <a:chExt cx="279006" cy="279006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279019" cy="279019"/>
            </a:xfrm>
            <a:custGeom>
              <a:avLst/>
              <a:gdLst/>
              <a:ahLst/>
              <a:cxnLst/>
              <a:rect r="r" b="b" t="t" l="l"/>
              <a:pathLst>
                <a:path h="279019" w="279019">
                  <a:moveTo>
                    <a:pt x="0" y="139446"/>
                  </a:moveTo>
                  <a:cubicBezTo>
                    <a:pt x="0" y="62484"/>
                    <a:pt x="62484" y="0"/>
                    <a:pt x="139446" y="0"/>
                  </a:cubicBezTo>
                  <a:cubicBezTo>
                    <a:pt x="216408" y="0"/>
                    <a:pt x="279019" y="62484"/>
                    <a:pt x="279019" y="139446"/>
                  </a:cubicBezTo>
                  <a:cubicBezTo>
                    <a:pt x="279019" y="216408"/>
                    <a:pt x="216535" y="279019"/>
                    <a:pt x="139446" y="279019"/>
                  </a:cubicBezTo>
                  <a:cubicBezTo>
                    <a:pt x="62357" y="279019"/>
                    <a:pt x="0" y="216535"/>
                    <a:pt x="0" y="139446"/>
                  </a:cubicBezTo>
                  <a:close/>
                </a:path>
              </a:pathLst>
            </a:custGeom>
            <a:solidFill>
              <a:srgbClr val="4950BC"/>
            </a:solidFill>
          </p:spPr>
        </p:sp>
      </p:grpSp>
      <p:sp>
        <p:nvSpPr>
          <p:cNvPr name="TextBox 35" id="35"/>
          <p:cNvSpPr txBox="true"/>
          <p:nvPr/>
        </p:nvSpPr>
        <p:spPr>
          <a:xfrm rot="0">
            <a:off x="11259293" y="7526531"/>
            <a:ext cx="5757272" cy="4455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69"/>
              </a:lnSpc>
            </a:pPr>
            <a:r>
              <a:rPr lang="en-US" sz="2700" b="true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Deep CNN (This Work)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1259293" y="8060684"/>
            <a:ext cx="5757272" cy="962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26"/>
              </a:lnSpc>
            </a:pPr>
            <a:r>
              <a:rPr lang="en-US" sz="21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Mini-AlexNet / Mini-LeNet — generic, robust, deployable on Raspberry Pi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6F4F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992238" y="1647082"/>
            <a:ext cx="2614612" cy="532800"/>
            <a:chOff x="0" y="0"/>
            <a:chExt cx="3486150" cy="7104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486150" cy="710438"/>
            </a:xfrm>
            <a:custGeom>
              <a:avLst/>
              <a:gdLst/>
              <a:ahLst/>
              <a:cxnLst/>
              <a:rect r="r" b="b" t="t" l="l"/>
              <a:pathLst>
                <a:path h="710438" w="3486150">
                  <a:moveTo>
                    <a:pt x="0" y="127000"/>
                  </a:moveTo>
                  <a:cubicBezTo>
                    <a:pt x="0" y="56896"/>
                    <a:pt x="56896" y="0"/>
                    <a:pt x="127000" y="0"/>
                  </a:cubicBezTo>
                  <a:lnTo>
                    <a:pt x="3359150" y="0"/>
                  </a:lnTo>
                  <a:cubicBezTo>
                    <a:pt x="3429254" y="0"/>
                    <a:pt x="3486150" y="56896"/>
                    <a:pt x="3486150" y="127000"/>
                  </a:cubicBezTo>
                  <a:lnTo>
                    <a:pt x="3486150" y="583438"/>
                  </a:lnTo>
                  <a:cubicBezTo>
                    <a:pt x="3486150" y="653542"/>
                    <a:pt x="3429254" y="710438"/>
                    <a:pt x="3359150" y="710438"/>
                  </a:cubicBezTo>
                  <a:lnTo>
                    <a:pt x="127000" y="710438"/>
                  </a:lnTo>
                  <a:cubicBezTo>
                    <a:pt x="56896" y="710438"/>
                    <a:pt x="0" y="653542"/>
                    <a:pt x="0" y="583438"/>
                  </a:cubicBezTo>
                  <a:close/>
                </a:path>
              </a:pathLst>
            </a:custGeom>
            <a:solidFill>
              <a:srgbClr val="DADBF1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162345" y="1665389"/>
            <a:ext cx="3188789" cy="429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13"/>
              </a:lnSpc>
            </a:pPr>
            <a:r>
              <a:rPr lang="en-US" sz="17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LITERATURE REVIEW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92238" y="2274246"/>
            <a:ext cx="16303523" cy="905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64"/>
              </a:lnSpc>
            </a:pPr>
            <a:r>
              <a:rPr lang="en-US" sz="5500" b="true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Classical Machine Learning Approaches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992238" y="4704455"/>
            <a:ext cx="5103609" cy="2835326"/>
            <a:chOff x="0" y="0"/>
            <a:chExt cx="6804812" cy="3780434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6804787" cy="3780409"/>
            </a:xfrm>
            <a:custGeom>
              <a:avLst/>
              <a:gdLst/>
              <a:ahLst/>
              <a:cxnLst/>
              <a:rect r="r" b="b" t="t" l="l"/>
              <a:pathLst>
                <a:path h="3780409" w="6804787">
                  <a:moveTo>
                    <a:pt x="0" y="0"/>
                  </a:moveTo>
                  <a:lnTo>
                    <a:pt x="6804787" y="0"/>
                  </a:lnTo>
                  <a:lnTo>
                    <a:pt x="6804787" y="3780409"/>
                  </a:lnTo>
                  <a:lnTo>
                    <a:pt x="0" y="37804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7" r="0" b="-38"/>
              </a:stretch>
            </a:blip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9499406" y="3878466"/>
            <a:ext cx="7805890" cy="4524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9"/>
              </a:lnSpc>
            </a:pPr>
            <a:r>
              <a:rPr lang="en-US" sz="2700" b="true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Key Limitations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499406" y="4528690"/>
            <a:ext cx="7805890" cy="40121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0860" indent="-265430" lvl="1">
              <a:lnSpc>
                <a:spcPts val="3511"/>
              </a:lnSpc>
              <a:buFont typeface="Arial"/>
              <a:buChar char="•"/>
            </a:pPr>
            <a:r>
              <a:rPr lang="en-US" b="true" sz="2200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SVM + visual features</a:t>
            </a:r>
            <a:r>
              <a:rPr lang="en-US" sz="22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 [6]: Low accuracy under shadows and varying weather</a:t>
            </a:r>
          </a:p>
          <a:p>
            <a:pPr algn="l" marL="530860" indent="-265430" lvl="1">
              <a:lnSpc>
                <a:spcPts val="3511"/>
              </a:lnSpc>
              <a:buFont typeface="Arial"/>
              <a:buChar char="•"/>
            </a:pPr>
            <a:r>
              <a:rPr lang="en-US" b="true" sz="2200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SVM + neighbor correlation</a:t>
            </a:r>
            <a:r>
              <a:rPr lang="en-US" sz="22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 [3]: Color histograms of adjacent spots; light changes unaddressed</a:t>
            </a:r>
          </a:p>
          <a:p>
            <a:pPr algn="l" marL="530860" indent="-265430" lvl="1">
              <a:lnSpc>
                <a:spcPts val="3511"/>
              </a:lnSpc>
              <a:buFont typeface="Arial"/>
              <a:buChar char="•"/>
            </a:pPr>
            <a:r>
              <a:rPr lang="en-US" b="true" sz="2200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Bayesian classifier</a:t>
            </a:r>
            <a:r>
              <a:rPr lang="en-US" sz="22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 [7]: Corners, edges, wavelet features; partial improvement on lighting</a:t>
            </a:r>
          </a:p>
          <a:p>
            <a:pPr algn="l" marL="530860" indent="-265430" lvl="1">
              <a:lnSpc>
                <a:spcPts val="3511"/>
              </a:lnSpc>
              <a:buFont typeface="Arial"/>
              <a:buChar char="•"/>
            </a:pPr>
            <a:r>
              <a:rPr lang="en-US" b="true" sz="2200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3D Bayesian framework</a:t>
            </a:r>
            <a:r>
              <a:rPr lang="en-US" sz="22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 [8]: Models spots in 3D space; better accuracy but computationally heavy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6F4F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992238" y="1954263"/>
            <a:ext cx="2614612" cy="532800"/>
            <a:chOff x="0" y="0"/>
            <a:chExt cx="3486150" cy="7104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486150" cy="710438"/>
            </a:xfrm>
            <a:custGeom>
              <a:avLst/>
              <a:gdLst/>
              <a:ahLst/>
              <a:cxnLst/>
              <a:rect r="r" b="b" t="t" l="l"/>
              <a:pathLst>
                <a:path h="710438" w="3486150">
                  <a:moveTo>
                    <a:pt x="0" y="127000"/>
                  </a:moveTo>
                  <a:cubicBezTo>
                    <a:pt x="0" y="56896"/>
                    <a:pt x="56896" y="0"/>
                    <a:pt x="127000" y="0"/>
                  </a:cubicBezTo>
                  <a:lnTo>
                    <a:pt x="3359150" y="0"/>
                  </a:lnTo>
                  <a:cubicBezTo>
                    <a:pt x="3429254" y="0"/>
                    <a:pt x="3486150" y="56896"/>
                    <a:pt x="3486150" y="127000"/>
                  </a:cubicBezTo>
                  <a:lnTo>
                    <a:pt x="3486150" y="583438"/>
                  </a:lnTo>
                  <a:cubicBezTo>
                    <a:pt x="3486150" y="653542"/>
                    <a:pt x="3429254" y="710438"/>
                    <a:pt x="3359150" y="710438"/>
                  </a:cubicBezTo>
                  <a:lnTo>
                    <a:pt x="127000" y="710438"/>
                  </a:lnTo>
                  <a:cubicBezTo>
                    <a:pt x="56896" y="710438"/>
                    <a:pt x="0" y="653542"/>
                    <a:pt x="0" y="583438"/>
                  </a:cubicBezTo>
                  <a:close/>
                </a:path>
              </a:pathLst>
            </a:custGeom>
            <a:solidFill>
              <a:srgbClr val="DADBF1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162345" y="1972570"/>
            <a:ext cx="3188789" cy="429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13"/>
              </a:lnSpc>
            </a:pPr>
            <a:r>
              <a:rPr lang="en-US" sz="17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LITERATURE REVIEW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92238" y="2581427"/>
            <a:ext cx="16303523" cy="905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64"/>
              </a:lnSpc>
            </a:pPr>
            <a:r>
              <a:rPr lang="en-US" sz="5500" b="true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Temporal Analysis &amp; Hybrid Methods</a:t>
            </a:r>
          </a:p>
        </p:txBody>
      </p:sp>
      <p:sp>
        <p:nvSpPr>
          <p:cNvPr name="Freeform 10" id="10" descr="preencoded.png"/>
          <p:cNvSpPr/>
          <p:nvPr/>
        </p:nvSpPr>
        <p:spPr>
          <a:xfrm flipH="false" flipV="false" rot="0">
            <a:off x="992238" y="3911651"/>
            <a:ext cx="5245446" cy="4420943"/>
          </a:xfrm>
          <a:custGeom>
            <a:avLst/>
            <a:gdLst/>
            <a:ahLst/>
            <a:cxnLst/>
            <a:rect r="r" b="b" t="t" l="l"/>
            <a:pathLst>
              <a:path h="4420943" w="5245446">
                <a:moveTo>
                  <a:pt x="0" y="0"/>
                </a:moveTo>
                <a:lnTo>
                  <a:pt x="5245446" y="0"/>
                </a:lnTo>
                <a:lnTo>
                  <a:pt x="5245446" y="4420943"/>
                </a:lnTo>
                <a:lnTo>
                  <a:pt x="0" y="442094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-65" r="0" b="-65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1466250" y="4223747"/>
            <a:ext cx="4449813" cy="895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9"/>
              </a:lnSpc>
            </a:pPr>
            <a:r>
              <a:rPr lang="en-US" sz="2700" b="true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Background Subtraction [4]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466250" y="5203479"/>
            <a:ext cx="4449813" cy="28074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11"/>
              </a:lnSpc>
            </a:pPr>
            <a:r>
              <a:rPr lang="en-US" sz="22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Gaussian-based frame differencing detects entering/leaving vehicles. Suffers from transient occlusions and cannot handle static obstacles.</a:t>
            </a:r>
          </a:p>
        </p:txBody>
      </p:sp>
      <p:sp>
        <p:nvSpPr>
          <p:cNvPr name="Freeform 13" id="13" descr="preencoded.png"/>
          <p:cNvSpPr/>
          <p:nvPr/>
        </p:nvSpPr>
        <p:spPr>
          <a:xfrm flipH="false" flipV="false" rot="0">
            <a:off x="6521206" y="3911651"/>
            <a:ext cx="5245446" cy="4420943"/>
          </a:xfrm>
          <a:custGeom>
            <a:avLst/>
            <a:gdLst/>
            <a:ahLst/>
            <a:cxnLst/>
            <a:rect r="r" b="b" t="t" l="l"/>
            <a:pathLst>
              <a:path h="4420943" w="5245446">
                <a:moveTo>
                  <a:pt x="0" y="0"/>
                </a:moveTo>
                <a:lnTo>
                  <a:pt x="5245446" y="0"/>
                </a:lnTo>
                <a:lnTo>
                  <a:pt x="5245446" y="4420943"/>
                </a:lnTo>
                <a:lnTo>
                  <a:pt x="0" y="442094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-65" r="0" b="-65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6995217" y="4223747"/>
            <a:ext cx="4449813" cy="895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9"/>
              </a:lnSpc>
            </a:pPr>
            <a:r>
              <a:rPr lang="en-US" sz="2700" b="true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Inter-Space Occlusion Handling [10]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995217" y="5203479"/>
            <a:ext cx="4449813" cy="23538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11"/>
              </a:lnSpc>
            </a:pPr>
            <a:r>
              <a:rPr lang="en-US" sz="22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Tracks entry/exit events to resolve spots hidden by neighboring vehicles. Requires temporal continuity and event modeling.</a:t>
            </a:r>
          </a:p>
        </p:txBody>
      </p:sp>
      <p:sp>
        <p:nvSpPr>
          <p:cNvPr name="Freeform 16" id="16" descr="preencoded.png"/>
          <p:cNvSpPr/>
          <p:nvPr/>
        </p:nvSpPr>
        <p:spPr>
          <a:xfrm flipH="false" flipV="false" rot="0">
            <a:off x="12050163" y="3911651"/>
            <a:ext cx="5245446" cy="4420943"/>
          </a:xfrm>
          <a:custGeom>
            <a:avLst/>
            <a:gdLst/>
            <a:ahLst/>
            <a:cxnLst/>
            <a:rect r="r" b="b" t="t" l="l"/>
            <a:pathLst>
              <a:path h="4420943" w="5245446">
                <a:moveTo>
                  <a:pt x="0" y="0"/>
                </a:moveTo>
                <a:lnTo>
                  <a:pt x="5245446" y="0"/>
                </a:lnTo>
                <a:lnTo>
                  <a:pt x="5245446" y="4420943"/>
                </a:lnTo>
                <a:lnTo>
                  <a:pt x="0" y="442094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-65" r="0" b="-65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12524184" y="4223747"/>
            <a:ext cx="4449813" cy="895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9"/>
              </a:lnSpc>
            </a:pPr>
            <a:r>
              <a:rPr lang="en-US" sz="2700" b="true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Sensor-Fusion Approaches [11][12]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524184" y="5203479"/>
            <a:ext cx="4449813" cy="19002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11"/>
              </a:lnSpc>
            </a:pPr>
            <a:r>
              <a:rPr lang="en-US" sz="22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Vehicle navigation systems and smartphone sensors supplement vision. Adds hardware cost and integration complexity.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6F4F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992238" y="1036444"/>
            <a:ext cx="2614612" cy="532800"/>
            <a:chOff x="0" y="0"/>
            <a:chExt cx="3486150" cy="7104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486150" cy="710438"/>
            </a:xfrm>
            <a:custGeom>
              <a:avLst/>
              <a:gdLst/>
              <a:ahLst/>
              <a:cxnLst/>
              <a:rect r="r" b="b" t="t" l="l"/>
              <a:pathLst>
                <a:path h="710438" w="3486150">
                  <a:moveTo>
                    <a:pt x="0" y="127000"/>
                  </a:moveTo>
                  <a:cubicBezTo>
                    <a:pt x="0" y="56896"/>
                    <a:pt x="56896" y="0"/>
                    <a:pt x="127000" y="0"/>
                  </a:cubicBezTo>
                  <a:lnTo>
                    <a:pt x="3359150" y="0"/>
                  </a:lnTo>
                  <a:cubicBezTo>
                    <a:pt x="3429254" y="0"/>
                    <a:pt x="3486150" y="56896"/>
                    <a:pt x="3486150" y="127000"/>
                  </a:cubicBezTo>
                  <a:lnTo>
                    <a:pt x="3486150" y="583438"/>
                  </a:lnTo>
                  <a:cubicBezTo>
                    <a:pt x="3486150" y="653542"/>
                    <a:pt x="3429254" y="710438"/>
                    <a:pt x="3359150" y="710438"/>
                  </a:cubicBezTo>
                  <a:lnTo>
                    <a:pt x="127000" y="710438"/>
                  </a:lnTo>
                  <a:cubicBezTo>
                    <a:pt x="56896" y="710438"/>
                    <a:pt x="0" y="653542"/>
                    <a:pt x="0" y="583438"/>
                  </a:cubicBezTo>
                  <a:close/>
                </a:path>
              </a:pathLst>
            </a:custGeom>
            <a:solidFill>
              <a:srgbClr val="DADBF1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162345" y="1054741"/>
            <a:ext cx="3188789" cy="429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13"/>
              </a:lnSpc>
            </a:pPr>
            <a:r>
              <a:rPr lang="en-US" sz="17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LITERATURE REVIEW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92238" y="1663598"/>
            <a:ext cx="16303523" cy="905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64"/>
              </a:lnSpc>
            </a:pPr>
            <a:r>
              <a:rPr lang="en-US" sz="5500" b="true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Texture-Based SVM: The LBP Family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92238" y="3267818"/>
            <a:ext cx="7805890" cy="4524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9"/>
              </a:lnSpc>
            </a:pPr>
            <a:r>
              <a:rPr lang="en-US" sz="2700" b="true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Approach Overview [5][17][18][19]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92238" y="3918052"/>
            <a:ext cx="7805890" cy="19002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11"/>
              </a:lnSpc>
            </a:pPr>
            <a:r>
              <a:rPr lang="en-US" sz="22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Trains SVM classifiers on Local Binary Pattern texture features extracted from ~700,000 images across three cameras. Confidence aggregation via max/min functions improves detection.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92238" y="5987653"/>
            <a:ext cx="7805890" cy="16448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0860" indent="-265430" lvl="1">
              <a:lnSpc>
                <a:spcPts val="3511"/>
              </a:lnSpc>
              <a:buFont typeface="Arial"/>
              <a:buChar char="•"/>
            </a:pPr>
            <a:r>
              <a:rPr lang="en-US" b="true" sz="2200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LBP</a:t>
            </a:r>
            <a:r>
              <a:rPr lang="en-US" sz="22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 — Classical 256-dim texture descriptor</a:t>
            </a:r>
          </a:p>
          <a:p>
            <a:pPr algn="l" marL="530860" indent="-265430" lvl="1">
              <a:lnSpc>
                <a:spcPts val="3511"/>
              </a:lnSpc>
              <a:buFont typeface="Arial"/>
              <a:buChar char="•"/>
            </a:pPr>
            <a:r>
              <a:rPr lang="en-US" b="true" sz="2200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LBPu</a:t>
            </a:r>
            <a:r>
              <a:rPr lang="en-US" sz="22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 — Uniform patterns, 59-dim</a:t>
            </a:r>
          </a:p>
          <a:p>
            <a:pPr algn="l" marL="530860" indent="-265430" lvl="1">
              <a:lnSpc>
                <a:spcPts val="3511"/>
              </a:lnSpc>
              <a:buFont typeface="Arial"/>
              <a:buChar char="•"/>
            </a:pPr>
            <a:r>
              <a:rPr lang="en-US" b="true" sz="2200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LBPuri</a:t>
            </a:r>
            <a:r>
              <a:rPr lang="en-US" sz="22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 — Uniform + rotation invariant, 10-dim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92238" y="7801870"/>
            <a:ext cx="7805890" cy="992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11"/>
              </a:lnSpc>
            </a:pPr>
            <a:r>
              <a:rPr lang="en-US" sz="22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Best among SVM variants but still outperformed by CNN on cross-dataset generalization.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9499406" y="3312766"/>
            <a:ext cx="7805890" cy="5618712"/>
            <a:chOff x="0" y="0"/>
            <a:chExt cx="10407853" cy="7491616"/>
          </a:xfrm>
        </p:grpSpPr>
        <p:sp>
          <p:nvSpPr>
            <p:cNvPr name="Freeform 15" id="15" descr="preencoded.png"/>
            <p:cNvSpPr/>
            <p:nvPr/>
          </p:nvSpPr>
          <p:spPr>
            <a:xfrm flipH="false" flipV="false" rot="0">
              <a:off x="0" y="0"/>
              <a:ext cx="10407904" cy="7491603"/>
            </a:xfrm>
            <a:custGeom>
              <a:avLst/>
              <a:gdLst/>
              <a:ahLst/>
              <a:cxnLst/>
              <a:rect r="r" b="b" t="t" l="l"/>
              <a:pathLst>
                <a:path h="7491603" w="10407904">
                  <a:moveTo>
                    <a:pt x="0" y="0"/>
                  </a:moveTo>
                  <a:lnTo>
                    <a:pt x="10407904" y="0"/>
                  </a:lnTo>
                  <a:lnTo>
                    <a:pt x="10407904" y="7491603"/>
                  </a:lnTo>
                  <a:lnTo>
                    <a:pt x="0" y="74916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0" t="0" r="-19" b="0"/>
              </a:stretch>
            </a:blipFill>
          </p:spPr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6F4F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6058359" y="9688982"/>
            <a:ext cx="2143687" cy="512064"/>
            <a:chOff x="0" y="0"/>
            <a:chExt cx="2858249" cy="682752"/>
          </a:xfrm>
        </p:grpSpPr>
        <p:sp>
          <p:nvSpPr>
            <p:cNvPr name="Freeform 7" id="7" descr="preencoded.png">
              <a:hlinkClick r:id="rId3" tooltip="https://gamma.app/?utm_source=made-with-gamma"/>
            </p:cNvPr>
            <p:cNvSpPr/>
            <p:nvPr/>
          </p:nvSpPr>
          <p:spPr>
            <a:xfrm flipH="false" flipV="false" rot="0">
              <a:off x="0" y="0"/>
              <a:ext cx="2858262" cy="682752"/>
            </a:xfrm>
            <a:custGeom>
              <a:avLst/>
              <a:gdLst/>
              <a:ahLst/>
              <a:cxnLst/>
              <a:rect r="r" b="b" t="t" l="l"/>
              <a:pathLst>
                <a:path h="682752" w="2858262">
                  <a:moveTo>
                    <a:pt x="0" y="0"/>
                  </a:moveTo>
                  <a:lnTo>
                    <a:pt x="2858262" y="0"/>
                  </a:lnTo>
                  <a:lnTo>
                    <a:pt x="2858262" y="682752"/>
                  </a:lnTo>
                  <a:lnTo>
                    <a:pt x="0" y="6827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11430000" y="0"/>
            <a:ext cx="6858000" cy="10287000"/>
            <a:chOff x="0" y="0"/>
            <a:chExt cx="9144000" cy="13716000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914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992238" y="1061742"/>
            <a:ext cx="2492578" cy="499767"/>
            <a:chOff x="0" y="0"/>
            <a:chExt cx="3323438" cy="66635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3323336" cy="666242"/>
            </a:xfrm>
            <a:custGeom>
              <a:avLst/>
              <a:gdLst/>
              <a:ahLst/>
              <a:cxnLst/>
              <a:rect r="r" b="b" t="t" l="l"/>
              <a:pathLst>
                <a:path h="666242" w="3323336">
                  <a:moveTo>
                    <a:pt x="0" y="121031"/>
                  </a:moveTo>
                  <a:cubicBezTo>
                    <a:pt x="0" y="54229"/>
                    <a:pt x="54229" y="0"/>
                    <a:pt x="121031" y="0"/>
                  </a:cubicBezTo>
                  <a:lnTo>
                    <a:pt x="3202305" y="0"/>
                  </a:lnTo>
                  <a:cubicBezTo>
                    <a:pt x="3269107" y="0"/>
                    <a:pt x="3323336" y="54229"/>
                    <a:pt x="3323336" y="121031"/>
                  </a:cubicBezTo>
                  <a:lnTo>
                    <a:pt x="3323336" y="545211"/>
                  </a:lnTo>
                  <a:cubicBezTo>
                    <a:pt x="3323336" y="612013"/>
                    <a:pt x="3269107" y="666242"/>
                    <a:pt x="3202305" y="666242"/>
                  </a:cubicBezTo>
                  <a:lnTo>
                    <a:pt x="121031" y="666242"/>
                  </a:lnTo>
                  <a:cubicBezTo>
                    <a:pt x="54229" y="666369"/>
                    <a:pt x="0" y="612140"/>
                    <a:pt x="0" y="545338"/>
                  </a:cubicBezTo>
                  <a:close/>
                </a:path>
              </a:pathLst>
            </a:custGeom>
            <a:solidFill>
              <a:srgbClr val="DADBF1"/>
            </a:solid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1154306" y="1085555"/>
            <a:ext cx="3082823" cy="3949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2"/>
              </a:lnSpc>
            </a:pPr>
            <a:r>
              <a:rPr lang="en-US" sz="17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LITERATURE REVIEW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92238" y="1635919"/>
            <a:ext cx="9445523" cy="17177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14"/>
              </a:lnSpc>
            </a:pPr>
            <a:r>
              <a:rPr lang="en-US" sz="5299" b="true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Deep Learning: The Turning Point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987476" y="3735286"/>
            <a:ext cx="4603556" cy="3256655"/>
            <a:chOff x="0" y="0"/>
            <a:chExt cx="6138075" cy="434220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138037" cy="4342257"/>
            </a:xfrm>
            <a:custGeom>
              <a:avLst/>
              <a:gdLst/>
              <a:ahLst/>
              <a:cxnLst/>
              <a:rect r="r" b="b" t="t" l="l"/>
              <a:pathLst>
                <a:path h="4342257" w="6138037">
                  <a:moveTo>
                    <a:pt x="0" y="151765"/>
                  </a:moveTo>
                  <a:cubicBezTo>
                    <a:pt x="0" y="67945"/>
                    <a:pt x="67945" y="0"/>
                    <a:pt x="151765" y="0"/>
                  </a:cubicBezTo>
                  <a:lnTo>
                    <a:pt x="5986272" y="0"/>
                  </a:lnTo>
                  <a:cubicBezTo>
                    <a:pt x="6070092" y="0"/>
                    <a:pt x="6138037" y="67945"/>
                    <a:pt x="6138037" y="151765"/>
                  </a:cubicBezTo>
                  <a:lnTo>
                    <a:pt x="6138037" y="4190492"/>
                  </a:lnTo>
                  <a:cubicBezTo>
                    <a:pt x="6138037" y="4274312"/>
                    <a:pt x="6070092" y="4342257"/>
                    <a:pt x="5986272" y="4342257"/>
                  </a:cubicBezTo>
                  <a:lnTo>
                    <a:pt x="151765" y="4342257"/>
                  </a:lnTo>
                  <a:cubicBezTo>
                    <a:pt x="67945" y="4342257"/>
                    <a:pt x="0" y="4274312"/>
                    <a:pt x="0" y="4190492"/>
                  </a:cubicBezTo>
                  <a:close/>
                </a:path>
              </a:pathLst>
            </a:custGeom>
            <a:solidFill>
              <a:srgbClr val="DADBF1"/>
            </a:solidFill>
            <a:ln w="9526" cap="sq">
              <a:solidFill>
                <a:srgbClr val="C0C1D7"/>
              </a:solidFill>
              <a:prstDash val="solid"/>
              <a:miter/>
            </a:ln>
          </p:spPr>
        </p:sp>
      </p:grpSp>
      <p:sp>
        <p:nvSpPr>
          <p:cNvPr name="TextBox 16" id="16"/>
          <p:cNvSpPr txBox="true"/>
          <p:nvPr/>
        </p:nvSpPr>
        <p:spPr>
          <a:xfrm rot="0">
            <a:off x="1271883" y="4010177"/>
            <a:ext cx="4034733" cy="4317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4"/>
              </a:lnSpc>
            </a:pPr>
            <a:r>
              <a:rPr lang="en-US" sz="2600" b="true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AlexNet [15]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71883" y="4529738"/>
            <a:ext cx="4034733" cy="21778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76"/>
              </a:lnSpc>
            </a:pPr>
            <a:r>
              <a:rPr lang="en-US" sz="21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Landmark CNN for ImageNet (1,000 classes). Inspiration for lightweight variants. High accuracy but computationally expensive.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5838977" y="3735286"/>
            <a:ext cx="4603556" cy="3256655"/>
            <a:chOff x="0" y="0"/>
            <a:chExt cx="6138075" cy="434220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6138037" cy="4342257"/>
            </a:xfrm>
            <a:custGeom>
              <a:avLst/>
              <a:gdLst/>
              <a:ahLst/>
              <a:cxnLst/>
              <a:rect r="r" b="b" t="t" l="l"/>
              <a:pathLst>
                <a:path h="4342257" w="6138037">
                  <a:moveTo>
                    <a:pt x="0" y="151765"/>
                  </a:moveTo>
                  <a:cubicBezTo>
                    <a:pt x="0" y="67945"/>
                    <a:pt x="67945" y="0"/>
                    <a:pt x="151765" y="0"/>
                  </a:cubicBezTo>
                  <a:lnTo>
                    <a:pt x="5986272" y="0"/>
                  </a:lnTo>
                  <a:cubicBezTo>
                    <a:pt x="6070092" y="0"/>
                    <a:pt x="6138037" y="67945"/>
                    <a:pt x="6138037" y="151765"/>
                  </a:cubicBezTo>
                  <a:lnTo>
                    <a:pt x="6138037" y="4190492"/>
                  </a:lnTo>
                  <a:cubicBezTo>
                    <a:pt x="6138037" y="4274312"/>
                    <a:pt x="6070092" y="4342257"/>
                    <a:pt x="5986272" y="4342257"/>
                  </a:cubicBezTo>
                  <a:lnTo>
                    <a:pt x="151765" y="4342257"/>
                  </a:lnTo>
                  <a:cubicBezTo>
                    <a:pt x="67945" y="4342257"/>
                    <a:pt x="0" y="4274312"/>
                    <a:pt x="0" y="4190492"/>
                  </a:cubicBezTo>
                  <a:close/>
                </a:path>
              </a:pathLst>
            </a:custGeom>
            <a:solidFill>
              <a:srgbClr val="DADBF1"/>
            </a:solidFill>
            <a:ln w="9526" cap="sq">
              <a:solidFill>
                <a:srgbClr val="C0C1D7"/>
              </a:solidFill>
              <a:prstDash val="solid"/>
              <a:miter/>
            </a:ln>
          </p:spPr>
        </p:sp>
      </p:grpSp>
      <p:sp>
        <p:nvSpPr>
          <p:cNvPr name="TextBox 20" id="20"/>
          <p:cNvSpPr txBox="true"/>
          <p:nvPr/>
        </p:nvSpPr>
        <p:spPr>
          <a:xfrm rot="0">
            <a:off x="6123384" y="4010177"/>
            <a:ext cx="4034733" cy="4317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4"/>
              </a:lnSpc>
            </a:pPr>
            <a:r>
              <a:rPr lang="en-US" sz="2600" b="true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LeNet [16]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123384" y="4529738"/>
            <a:ext cx="4034733" cy="17555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76"/>
              </a:lnSpc>
            </a:pPr>
            <a:r>
              <a:rPr lang="en-US" sz="21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Early CNN for digit recognition. Gaussian RBF output layer. Compact architecture suitable for binary tasks.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987476" y="7239895"/>
            <a:ext cx="9455048" cy="1989982"/>
            <a:chOff x="0" y="0"/>
            <a:chExt cx="12606731" cy="2653309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2606655" cy="2653284"/>
            </a:xfrm>
            <a:custGeom>
              <a:avLst/>
              <a:gdLst/>
              <a:ahLst/>
              <a:cxnLst/>
              <a:rect r="r" b="b" t="t" l="l"/>
              <a:pathLst>
                <a:path h="2653284" w="12606655">
                  <a:moveTo>
                    <a:pt x="0" y="152019"/>
                  </a:moveTo>
                  <a:cubicBezTo>
                    <a:pt x="0" y="68072"/>
                    <a:pt x="68072" y="0"/>
                    <a:pt x="152019" y="0"/>
                  </a:cubicBezTo>
                  <a:lnTo>
                    <a:pt x="12454636" y="0"/>
                  </a:lnTo>
                  <a:cubicBezTo>
                    <a:pt x="12538583" y="0"/>
                    <a:pt x="12606655" y="68072"/>
                    <a:pt x="12606655" y="152019"/>
                  </a:cubicBezTo>
                  <a:lnTo>
                    <a:pt x="12606655" y="2501265"/>
                  </a:lnTo>
                  <a:cubicBezTo>
                    <a:pt x="12606655" y="2585212"/>
                    <a:pt x="12538583" y="2653284"/>
                    <a:pt x="12454636" y="2653284"/>
                  </a:cubicBezTo>
                  <a:lnTo>
                    <a:pt x="152019" y="2653284"/>
                  </a:lnTo>
                  <a:cubicBezTo>
                    <a:pt x="68072" y="2653284"/>
                    <a:pt x="0" y="2585212"/>
                    <a:pt x="0" y="2501265"/>
                  </a:cubicBezTo>
                  <a:close/>
                </a:path>
              </a:pathLst>
            </a:custGeom>
            <a:solidFill>
              <a:srgbClr val="DADBF1"/>
            </a:solidFill>
            <a:ln w="9526" cap="sq">
              <a:solidFill>
                <a:srgbClr val="C0C1D7"/>
              </a:solidFill>
              <a:prstDash val="solid"/>
              <a:miter/>
            </a:ln>
          </p:spPr>
        </p:sp>
      </p:grpSp>
      <p:sp>
        <p:nvSpPr>
          <p:cNvPr name="TextBox 24" id="24"/>
          <p:cNvSpPr txBox="true"/>
          <p:nvPr/>
        </p:nvSpPr>
        <p:spPr>
          <a:xfrm rot="0">
            <a:off x="1271883" y="7514777"/>
            <a:ext cx="8886234" cy="4317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4"/>
              </a:lnSpc>
            </a:pPr>
            <a:r>
              <a:rPr lang="en-US" sz="2600" b="true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CNRPark Deep Learning [14]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271883" y="8034337"/>
            <a:ext cx="8886234" cy="9111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76"/>
              </a:lnSpc>
            </a:pPr>
            <a:r>
              <a:rPr lang="en-US" sz="21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Prior work using deep CNN for outdoor parking detection. This paper extends it to indoor environments with higher obstacle density.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6F4F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992238" y="817512"/>
            <a:ext cx="2614612" cy="532800"/>
            <a:chOff x="0" y="0"/>
            <a:chExt cx="3486150" cy="7104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486150" cy="710438"/>
            </a:xfrm>
            <a:custGeom>
              <a:avLst/>
              <a:gdLst/>
              <a:ahLst/>
              <a:cxnLst/>
              <a:rect r="r" b="b" t="t" l="l"/>
              <a:pathLst>
                <a:path h="710438" w="3486150">
                  <a:moveTo>
                    <a:pt x="0" y="127000"/>
                  </a:moveTo>
                  <a:cubicBezTo>
                    <a:pt x="0" y="56896"/>
                    <a:pt x="56896" y="0"/>
                    <a:pt x="127000" y="0"/>
                  </a:cubicBezTo>
                  <a:lnTo>
                    <a:pt x="3359150" y="0"/>
                  </a:lnTo>
                  <a:cubicBezTo>
                    <a:pt x="3429254" y="0"/>
                    <a:pt x="3486150" y="56896"/>
                    <a:pt x="3486150" y="127000"/>
                  </a:cubicBezTo>
                  <a:lnTo>
                    <a:pt x="3486150" y="583438"/>
                  </a:lnTo>
                  <a:cubicBezTo>
                    <a:pt x="3486150" y="653542"/>
                    <a:pt x="3429254" y="710438"/>
                    <a:pt x="3359150" y="710438"/>
                  </a:cubicBezTo>
                  <a:lnTo>
                    <a:pt x="127000" y="710438"/>
                  </a:lnTo>
                  <a:cubicBezTo>
                    <a:pt x="56896" y="710438"/>
                    <a:pt x="0" y="653542"/>
                    <a:pt x="0" y="583438"/>
                  </a:cubicBezTo>
                  <a:close/>
                </a:path>
              </a:pathLst>
            </a:custGeom>
            <a:solidFill>
              <a:srgbClr val="DADBF1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162345" y="835819"/>
            <a:ext cx="3188789" cy="429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13"/>
              </a:lnSpc>
            </a:pPr>
            <a:r>
              <a:rPr lang="en-US" sz="17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LITERATURE REVIEW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92238" y="1444676"/>
            <a:ext cx="16303523" cy="905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64"/>
              </a:lnSpc>
            </a:pPr>
            <a:r>
              <a:rPr lang="en-US" sz="5500" b="true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Research Gap &amp; Motivation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92238" y="3048895"/>
            <a:ext cx="7805890" cy="4524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9"/>
              </a:lnSpc>
            </a:pPr>
            <a:r>
              <a:rPr lang="en-US" sz="2700" b="true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What Prior Work Misses</a:t>
            </a:r>
          </a:p>
        </p:txBody>
      </p:sp>
      <p:sp>
        <p:nvSpPr>
          <p:cNvPr name="Freeform 11" id="11" descr="preencoded.png"/>
          <p:cNvSpPr/>
          <p:nvPr/>
        </p:nvSpPr>
        <p:spPr>
          <a:xfrm flipH="false" flipV="false" rot="0">
            <a:off x="1098499" y="3834413"/>
            <a:ext cx="425206" cy="425206"/>
          </a:xfrm>
          <a:custGeom>
            <a:avLst/>
            <a:gdLst/>
            <a:ahLst/>
            <a:cxnLst/>
            <a:rect r="r" b="b" t="t" l="l"/>
            <a:pathLst>
              <a:path h="425206" w="425206">
                <a:moveTo>
                  <a:pt x="0" y="0"/>
                </a:moveTo>
                <a:lnTo>
                  <a:pt x="425206" y="0"/>
                </a:lnTo>
                <a:lnTo>
                  <a:pt x="425206" y="425205"/>
                </a:lnTo>
                <a:lnTo>
                  <a:pt x="0" y="4252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8888" t="0" r="-8888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1913630" y="3734543"/>
            <a:ext cx="6884489" cy="992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11"/>
              </a:lnSpc>
            </a:pPr>
            <a:r>
              <a:rPr lang="en-US" sz="2200" b="true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Limited generalization</a:t>
            </a:r>
            <a:r>
              <a:rPr lang="en-US" sz="22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 — Most models trained on a single parking space; fail to transfer</a:t>
            </a:r>
          </a:p>
        </p:txBody>
      </p:sp>
      <p:sp>
        <p:nvSpPr>
          <p:cNvPr name="Freeform 13" id="13" descr="preencoded.png"/>
          <p:cNvSpPr/>
          <p:nvPr/>
        </p:nvSpPr>
        <p:spPr>
          <a:xfrm flipH="false" flipV="false" rot="0">
            <a:off x="1098499" y="5308702"/>
            <a:ext cx="425206" cy="425206"/>
          </a:xfrm>
          <a:custGeom>
            <a:avLst/>
            <a:gdLst/>
            <a:ahLst/>
            <a:cxnLst/>
            <a:rect r="r" b="b" t="t" l="l"/>
            <a:pathLst>
              <a:path h="425206" w="425206">
                <a:moveTo>
                  <a:pt x="0" y="0"/>
                </a:moveTo>
                <a:lnTo>
                  <a:pt x="425206" y="0"/>
                </a:lnTo>
                <a:lnTo>
                  <a:pt x="425206" y="425205"/>
                </a:lnTo>
                <a:lnTo>
                  <a:pt x="0" y="4252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8888" t="0" r="-8888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1913630" y="5208832"/>
            <a:ext cx="6884489" cy="992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11"/>
              </a:lnSpc>
            </a:pPr>
            <a:r>
              <a:rPr lang="en-US" sz="2200" b="true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Indoor environments</a:t>
            </a:r>
            <a:r>
              <a:rPr lang="en-US" sz="22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 — Low light, shadows, and artificial lighting poorly addressed</a:t>
            </a:r>
          </a:p>
        </p:txBody>
      </p:sp>
      <p:sp>
        <p:nvSpPr>
          <p:cNvPr name="Freeform 15" id="15" descr="preencoded.png"/>
          <p:cNvSpPr/>
          <p:nvPr/>
        </p:nvSpPr>
        <p:spPr>
          <a:xfrm flipH="false" flipV="false" rot="0">
            <a:off x="1098499" y="6782991"/>
            <a:ext cx="425206" cy="425206"/>
          </a:xfrm>
          <a:custGeom>
            <a:avLst/>
            <a:gdLst/>
            <a:ahLst/>
            <a:cxnLst/>
            <a:rect r="r" b="b" t="t" l="l"/>
            <a:pathLst>
              <a:path h="425206" w="425206">
                <a:moveTo>
                  <a:pt x="0" y="0"/>
                </a:moveTo>
                <a:lnTo>
                  <a:pt x="425206" y="0"/>
                </a:lnTo>
                <a:lnTo>
                  <a:pt x="425206" y="425205"/>
                </a:lnTo>
                <a:lnTo>
                  <a:pt x="0" y="4252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8888" t="0" r="-8888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913630" y="6683131"/>
            <a:ext cx="6884489" cy="992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11"/>
              </a:lnSpc>
            </a:pPr>
            <a:r>
              <a:rPr lang="en-US" sz="2200" b="true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Centralized compute</a:t>
            </a:r>
            <a:r>
              <a:rPr lang="en-US" sz="22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 — Server-based pipelines create bottlenecks and increase cost</a:t>
            </a:r>
          </a:p>
        </p:txBody>
      </p:sp>
      <p:sp>
        <p:nvSpPr>
          <p:cNvPr name="Freeform 17" id="17" descr="preencoded.png"/>
          <p:cNvSpPr/>
          <p:nvPr/>
        </p:nvSpPr>
        <p:spPr>
          <a:xfrm flipH="false" flipV="false" rot="0">
            <a:off x="1098499" y="8257280"/>
            <a:ext cx="425206" cy="425206"/>
          </a:xfrm>
          <a:custGeom>
            <a:avLst/>
            <a:gdLst/>
            <a:ahLst/>
            <a:cxnLst/>
            <a:rect r="r" b="b" t="t" l="l"/>
            <a:pathLst>
              <a:path h="425206" w="425206">
                <a:moveTo>
                  <a:pt x="0" y="0"/>
                </a:moveTo>
                <a:lnTo>
                  <a:pt x="425206" y="0"/>
                </a:lnTo>
                <a:lnTo>
                  <a:pt x="425206" y="425205"/>
                </a:lnTo>
                <a:lnTo>
                  <a:pt x="0" y="4252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8888" t="0" r="-8888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1913630" y="8157420"/>
            <a:ext cx="6884489" cy="992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11"/>
              </a:lnSpc>
            </a:pPr>
            <a:r>
              <a:rPr lang="en-US" sz="2200" b="true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Hardware dependency</a:t>
            </a:r>
            <a:r>
              <a:rPr lang="en-US" sz="22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 — Sensor-per-spot approaches scale poorly with cost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499406" y="3048895"/>
            <a:ext cx="7805890" cy="4524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9"/>
              </a:lnSpc>
            </a:pPr>
            <a:r>
              <a:rPr lang="en-US" sz="2700" b="true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This Paper's Positioning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499406" y="3699119"/>
            <a:ext cx="7805890" cy="23538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11"/>
              </a:lnSpc>
            </a:pPr>
            <a:r>
              <a:rPr lang="en-US" sz="22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Proposes a </a:t>
            </a:r>
            <a:r>
              <a:rPr lang="en-US" sz="2200" b="true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decentralized, camera-only</a:t>
            </a:r>
            <a:r>
              <a:rPr lang="en-US" sz="22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 solution using lightweight CNNs (mini-AlexNet, mini-LeNet) validated across three independent datasets (PKLot, CNRPark-Ext, custom indoor/outdoor) under diverse lighting and obstacle conditions.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9499406" y="6371930"/>
            <a:ext cx="7805890" cy="2012756"/>
            <a:chOff x="0" y="0"/>
            <a:chExt cx="10407853" cy="2683675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407777" cy="2683637"/>
            </a:xfrm>
            <a:custGeom>
              <a:avLst/>
              <a:gdLst/>
              <a:ahLst/>
              <a:cxnLst/>
              <a:rect r="r" b="b" t="t" l="l"/>
              <a:pathLst>
                <a:path h="2683637" w="10407777">
                  <a:moveTo>
                    <a:pt x="0" y="158750"/>
                  </a:moveTo>
                  <a:cubicBezTo>
                    <a:pt x="0" y="71120"/>
                    <a:pt x="71120" y="0"/>
                    <a:pt x="158750" y="0"/>
                  </a:cubicBezTo>
                  <a:lnTo>
                    <a:pt x="10249027" y="0"/>
                  </a:lnTo>
                  <a:cubicBezTo>
                    <a:pt x="10336784" y="0"/>
                    <a:pt x="10407777" y="71120"/>
                    <a:pt x="10407777" y="158750"/>
                  </a:cubicBezTo>
                  <a:lnTo>
                    <a:pt x="10407777" y="2524887"/>
                  </a:lnTo>
                  <a:cubicBezTo>
                    <a:pt x="10407777" y="2612644"/>
                    <a:pt x="10336657" y="2683637"/>
                    <a:pt x="10249027" y="2683637"/>
                  </a:cubicBezTo>
                  <a:lnTo>
                    <a:pt x="158750" y="2683637"/>
                  </a:lnTo>
                  <a:cubicBezTo>
                    <a:pt x="70993" y="2683637"/>
                    <a:pt x="0" y="2612517"/>
                    <a:pt x="0" y="2524887"/>
                  </a:cubicBezTo>
                  <a:close/>
                </a:path>
              </a:pathLst>
            </a:custGeom>
            <a:solidFill>
              <a:srgbClr val="DADBF1"/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9782918" y="6802041"/>
            <a:ext cx="354359" cy="283521"/>
            <a:chOff x="0" y="0"/>
            <a:chExt cx="472478" cy="378028"/>
          </a:xfrm>
        </p:grpSpPr>
        <p:sp>
          <p:nvSpPr>
            <p:cNvPr name="Freeform 24" id="24" descr="preencoded.png"/>
            <p:cNvSpPr/>
            <p:nvPr/>
          </p:nvSpPr>
          <p:spPr>
            <a:xfrm flipH="false" flipV="false" rot="0">
              <a:off x="0" y="0"/>
              <a:ext cx="472440" cy="378079"/>
            </a:xfrm>
            <a:custGeom>
              <a:avLst/>
              <a:gdLst/>
              <a:ahLst/>
              <a:cxnLst/>
              <a:rect r="r" b="b" t="t" l="l"/>
              <a:pathLst>
                <a:path h="378079" w="472440">
                  <a:moveTo>
                    <a:pt x="0" y="0"/>
                  </a:moveTo>
                  <a:lnTo>
                    <a:pt x="472440" y="0"/>
                  </a:lnTo>
                  <a:lnTo>
                    <a:pt x="472440" y="378079"/>
                  </a:lnTo>
                  <a:lnTo>
                    <a:pt x="0" y="3780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672" t="0" r="-680" b="13"/>
              </a:stretch>
            </a:blip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10420798" y="6612131"/>
            <a:ext cx="6600977" cy="14466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11"/>
              </a:lnSpc>
            </a:pPr>
            <a:r>
              <a:rPr lang="en-US" sz="22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Goal: Binary occupancy classification runnable on Raspberry Pi with ≥80% accuracy across unseen environments.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6F4F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992238" y="1254176"/>
            <a:ext cx="2532307" cy="510483"/>
            <a:chOff x="0" y="0"/>
            <a:chExt cx="3376409" cy="6806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6422" cy="680593"/>
            </a:xfrm>
            <a:custGeom>
              <a:avLst/>
              <a:gdLst/>
              <a:ahLst/>
              <a:cxnLst/>
              <a:rect r="r" b="b" t="t" l="l"/>
              <a:pathLst>
                <a:path h="680593" w="3376422">
                  <a:moveTo>
                    <a:pt x="0" y="123063"/>
                  </a:moveTo>
                  <a:cubicBezTo>
                    <a:pt x="0" y="55118"/>
                    <a:pt x="55118" y="0"/>
                    <a:pt x="123063" y="0"/>
                  </a:cubicBezTo>
                  <a:lnTo>
                    <a:pt x="3253359" y="0"/>
                  </a:lnTo>
                  <a:cubicBezTo>
                    <a:pt x="3321304" y="0"/>
                    <a:pt x="3376422" y="55118"/>
                    <a:pt x="3376422" y="123063"/>
                  </a:cubicBezTo>
                  <a:lnTo>
                    <a:pt x="3376422" y="557530"/>
                  </a:lnTo>
                  <a:cubicBezTo>
                    <a:pt x="3376422" y="625475"/>
                    <a:pt x="3321304" y="680593"/>
                    <a:pt x="3253359" y="680593"/>
                  </a:cubicBezTo>
                  <a:lnTo>
                    <a:pt x="123063" y="680593"/>
                  </a:lnTo>
                  <a:cubicBezTo>
                    <a:pt x="55118" y="680593"/>
                    <a:pt x="0" y="625602"/>
                    <a:pt x="0" y="557530"/>
                  </a:cubicBezTo>
                  <a:close/>
                </a:path>
              </a:pathLst>
            </a:custGeom>
            <a:solidFill>
              <a:srgbClr val="DADBF1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156992" y="1279322"/>
            <a:ext cx="3117209" cy="403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72"/>
              </a:lnSpc>
            </a:pPr>
            <a:r>
              <a:rPr lang="en-US" sz="17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LITERATURE REVIEW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92238" y="1852022"/>
            <a:ext cx="16303523" cy="8773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39"/>
              </a:lnSpc>
            </a:pPr>
            <a:r>
              <a:rPr lang="en-US" sz="5400" b="true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Comparative Summary of Key Approaches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987476" y="3123609"/>
            <a:ext cx="16313048" cy="5913834"/>
            <a:chOff x="0" y="0"/>
            <a:chExt cx="21750731" cy="788511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1750655" cy="7885049"/>
            </a:xfrm>
            <a:custGeom>
              <a:avLst/>
              <a:gdLst/>
              <a:ahLst/>
              <a:cxnLst/>
              <a:rect r="r" b="b" t="t" l="l"/>
              <a:pathLst>
                <a:path h="7885049" w="21750655">
                  <a:moveTo>
                    <a:pt x="0" y="154051"/>
                  </a:moveTo>
                  <a:cubicBezTo>
                    <a:pt x="0" y="68961"/>
                    <a:pt x="68961" y="0"/>
                    <a:pt x="154051" y="0"/>
                  </a:cubicBezTo>
                  <a:lnTo>
                    <a:pt x="21596604" y="0"/>
                  </a:lnTo>
                  <a:cubicBezTo>
                    <a:pt x="21681694" y="0"/>
                    <a:pt x="21750655" y="68961"/>
                    <a:pt x="21750655" y="154051"/>
                  </a:cubicBezTo>
                  <a:lnTo>
                    <a:pt x="21750655" y="7730998"/>
                  </a:lnTo>
                  <a:cubicBezTo>
                    <a:pt x="21750655" y="7816088"/>
                    <a:pt x="21681694" y="7885049"/>
                    <a:pt x="21596604" y="7885049"/>
                  </a:cubicBezTo>
                  <a:lnTo>
                    <a:pt x="154051" y="7885049"/>
                  </a:lnTo>
                  <a:cubicBezTo>
                    <a:pt x="68961" y="7885176"/>
                    <a:pt x="0" y="7816088"/>
                    <a:pt x="0" y="7730998"/>
                  </a:cubicBez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748" r="0" b="-3749"/>
              </a:stretch>
            </a:blipFill>
            <a:ln w="9526" cap="sq">
              <a:solidFill>
                <a:srgbClr val="000000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992238" y="3913432"/>
            <a:ext cx="16303523" cy="17164"/>
            <a:chOff x="0" y="0"/>
            <a:chExt cx="21738031" cy="2288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738082" cy="22860"/>
            </a:xfrm>
            <a:custGeom>
              <a:avLst/>
              <a:gdLst/>
              <a:ahLst/>
              <a:cxnLst/>
              <a:rect r="r" b="b" t="t" l="l"/>
              <a:pathLst>
                <a:path h="22860" w="21738082">
                  <a:moveTo>
                    <a:pt x="0" y="0"/>
                  </a:moveTo>
                  <a:lnTo>
                    <a:pt x="21738082" y="0"/>
                  </a:lnTo>
                  <a:lnTo>
                    <a:pt x="21738082" y="22860"/>
                  </a:lnTo>
                  <a:lnTo>
                    <a:pt x="0" y="22860"/>
                  </a:lnTo>
                  <a:close/>
                </a:path>
              </a:pathLst>
            </a:custGeom>
            <a:solidFill>
              <a:srgbClr val="000000">
                <a:alpha val="392"/>
              </a:srgbClr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992238" y="4693739"/>
            <a:ext cx="16303523" cy="17164"/>
            <a:chOff x="0" y="0"/>
            <a:chExt cx="21738031" cy="22885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738082" cy="22860"/>
            </a:xfrm>
            <a:custGeom>
              <a:avLst/>
              <a:gdLst/>
              <a:ahLst/>
              <a:cxnLst/>
              <a:rect r="r" b="b" t="t" l="l"/>
              <a:pathLst>
                <a:path h="22860" w="21738082">
                  <a:moveTo>
                    <a:pt x="0" y="0"/>
                  </a:moveTo>
                  <a:lnTo>
                    <a:pt x="21738082" y="0"/>
                  </a:lnTo>
                  <a:lnTo>
                    <a:pt x="21738082" y="22860"/>
                  </a:lnTo>
                  <a:lnTo>
                    <a:pt x="0" y="22860"/>
                  </a:lnTo>
                  <a:close/>
                </a:path>
              </a:pathLst>
            </a:custGeom>
            <a:solidFill>
              <a:srgbClr val="000000">
                <a:alpha val="392"/>
              </a:srgbClr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992238" y="5474046"/>
            <a:ext cx="16303523" cy="17164"/>
            <a:chOff x="0" y="0"/>
            <a:chExt cx="21738031" cy="22885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738082" cy="22860"/>
            </a:xfrm>
            <a:custGeom>
              <a:avLst/>
              <a:gdLst/>
              <a:ahLst/>
              <a:cxnLst/>
              <a:rect r="r" b="b" t="t" l="l"/>
              <a:pathLst>
                <a:path h="22860" w="21738082">
                  <a:moveTo>
                    <a:pt x="0" y="0"/>
                  </a:moveTo>
                  <a:lnTo>
                    <a:pt x="21738082" y="0"/>
                  </a:lnTo>
                  <a:lnTo>
                    <a:pt x="21738082" y="22860"/>
                  </a:lnTo>
                  <a:lnTo>
                    <a:pt x="0" y="22860"/>
                  </a:lnTo>
                  <a:close/>
                </a:path>
              </a:pathLst>
            </a:custGeom>
            <a:solidFill>
              <a:srgbClr val="000000">
                <a:alpha val="392"/>
              </a:srgbClr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992238" y="6254353"/>
            <a:ext cx="16303523" cy="17164"/>
            <a:chOff x="0" y="0"/>
            <a:chExt cx="21738031" cy="22885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738082" cy="22860"/>
            </a:xfrm>
            <a:custGeom>
              <a:avLst/>
              <a:gdLst/>
              <a:ahLst/>
              <a:cxnLst/>
              <a:rect r="r" b="b" t="t" l="l"/>
              <a:pathLst>
                <a:path h="22860" w="21738082">
                  <a:moveTo>
                    <a:pt x="0" y="0"/>
                  </a:moveTo>
                  <a:lnTo>
                    <a:pt x="21738082" y="0"/>
                  </a:lnTo>
                  <a:lnTo>
                    <a:pt x="21738082" y="22860"/>
                  </a:lnTo>
                  <a:lnTo>
                    <a:pt x="0" y="22860"/>
                  </a:lnTo>
                  <a:close/>
                </a:path>
              </a:pathLst>
            </a:custGeom>
            <a:solidFill>
              <a:srgbClr val="000000">
                <a:alpha val="392"/>
              </a:srgbClr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992238" y="7034660"/>
            <a:ext cx="16303523" cy="17164"/>
            <a:chOff x="0" y="0"/>
            <a:chExt cx="21738031" cy="22885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1738082" cy="22860"/>
            </a:xfrm>
            <a:custGeom>
              <a:avLst/>
              <a:gdLst/>
              <a:ahLst/>
              <a:cxnLst/>
              <a:rect r="r" b="b" t="t" l="l"/>
              <a:pathLst>
                <a:path h="22860" w="21738082">
                  <a:moveTo>
                    <a:pt x="0" y="0"/>
                  </a:moveTo>
                  <a:lnTo>
                    <a:pt x="21738082" y="0"/>
                  </a:lnTo>
                  <a:lnTo>
                    <a:pt x="21738082" y="22860"/>
                  </a:lnTo>
                  <a:lnTo>
                    <a:pt x="0" y="22860"/>
                  </a:lnTo>
                  <a:close/>
                </a:path>
              </a:pathLst>
            </a:custGeom>
            <a:solidFill>
              <a:srgbClr val="000000">
                <a:alpha val="392"/>
              </a:srgbClr>
            </a:solid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992238" y="8247612"/>
            <a:ext cx="16303523" cy="17164"/>
            <a:chOff x="0" y="0"/>
            <a:chExt cx="21738031" cy="22885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1738082" cy="22860"/>
            </a:xfrm>
            <a:custGeom>
              <a:avLst/>
              <a:gdLst/>
              <a:ahLst/>
              <a:cxnLst/>
              <a:rect r="r" b="b" t="t" l="l"/>
              <a:pathLst>
                <a:path h="22860" w="21738082">
                  <a:moveTo>
                    <a:pt x="0" y="0"/>
                  </a:moveTo>
                  <a:lnTo>
                    <a:pt x="21738082" y="0"/>
                  </a:lnTo>
                  <a:lnTo>
                    <a:pt x="21738082" y="22860"/>
                  </a:lnTo>
                  <a:lnTo>
                    <a:pt x="0" y="22860"/>
                  </a:lnTo>
                  <a:close/>
                </a:path>
              </a:pathLst>
            </a:custGeom>
            <a:solidFill>
              <a:srgbClr val="000000">
                <a:alpha val="392"/>
              </a:srgbClr>
            </a:solidFill>
          </p:spPr>
        </p:sp>
      </p:grpSp>
      <p:sp>
        <p:nvSpPr>
          <p:cNvPr name="TextBox 24" id="24"/>
          <p:cNvSpPr txBox="true"/>
          <p:nvPr/>
        </p:nvSpPr>
        <p:spPr>
          <a:xfrm rot="0">
            <a:off x="1276798" y="3230756"/>
            <a:ext cx="3947665" cy="508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1"/>
              </a:lnSpc>
            </a:pPr>
            <a:r>
              <a:rPr lang="en-US" sz="2100" b="true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Approach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859236" y="3230756"/>
            <a:ext cx="3296393" cy="508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1"/>
              </a:lnSpc>
            </a:pPr>
            <a:r>
              <a:rPr lang="en-US" sz="2100" b="true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Core Method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7790412" y="3230756"/>
            <a:ext cx="3622034" cy="508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1"/>
              </a:lnSpc>
            </a:pPr>
            <a:r>
              <a:rPr lang="en-US" sz="2100" b="true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Features Used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1047209" y="3230756"/>
            <a:ext cx="3622034" cy="508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1"/>
              </a:lnSpc>
            </a:pPr>
            <a:r>
              <a:rPr lang="en-US" sz="2100" b="true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Key Limitation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4304016" y="3230756"/>
            <a:ext cx="3622034" cy="508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1"/>
              </a:lnSpc>
            </a:pPr>
            <a:r>
              <a:rPr lang="en-US" sz="2100" b="true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Generalization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276798" y="4011063"/>
            <a:ext cx="3947665" cy="508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1"/>
              </a:lnSpc>
            </a:pPr>
            <a:r>
              <a:rPr lang="en-US" sz="21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SVM [6]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4859236" y="4011063"/>
            <a:ext cx="3296393" cy="508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1"/>
              </a:lnSpc>
            </a:pPr>
            <a:r>
              <a:rPr lang="en-US" sz="21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Binary classifier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7790412" y="4011063"/>
            <a:ext cx="3622034" cy="508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1"/>
              </a:lnSpc>
            </a:pPr>
            <a:r>
              <a:rPr lang="en-US" sz="21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Visual regions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1047209" y="4011063"/>
            <a:ext cx="3622034" cy="508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1"/>
              </a:lnSpc>
            </a:pPr>
            <a:r>
              <a:rPr lang="en-US" sz="21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Shadows, light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4304016" y="4011063"/>
            <a:ext cx="3622034" cy="508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1"/>
              </a:lnSpc>
            </a:pPr>
            <a:r>
              <a:rPr lang="en-US" sz="21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Low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276798" y="4791370"/>
            <a:ext cx="3947665" cy="508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1"/>
              </a:lnSpc>
            </a:pPr>
            <a:r>
              <a:rPr lang="en-US" sz="21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SVM + Neighbor [3]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4859236" y="4791370"/>
            <a:ext cx="3296393" cy="508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1"/>
              </a:lnSpc>
            </a:pPr>
            <a:r>
              <a:rPr lang="en-US" sz="21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SVM + correlation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7790412" y="4791370"/>
            <a:ext cx="3622034" cy="508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1"/>
              </a:lnSpc>
            </a:pPr>
            <a:r>
              <a:rPr lang="en-US" sz="21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Color histogram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1047209" y="4791370"/>
            <a:ext cx="3622034" cy="508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1"/>
              </a:lnSpc>
            </a:pPr>
            <a:r>
              <a:rPr lang="en-US" sz="21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Light changes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4304016" y="4791370"/>
            <a:ext cx="3622034" cy="508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1"/>
              </a:lnSpc>
            </a:pPr>
            <a:r>
              <a:rPr lang="en-US" sz="21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Low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276798" y="5571677"/>
            <a:ext cx="3947665" cy="508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1"/>
              </a:lnSpc>
            </a:pPr>
            <a:r>
              <a:rPr lang="en-US" sz="21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Bayesian [7][8]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4859236" y="5571677"/>
            <a:ext cx="3296393" cy="508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1"/>
              </a:lnSpc>
            </a:pPr>
            <a:r>
              <a:rPr lang="en-US" sz="21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Probabilistic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7790412" y="5571677"/>
            <a:ext cx="3622034" cy="508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1"/>
              </a:lnSpc>
            </a:pPr>
            <a:r>
              <a:rPr lang="en-US" sz="21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Corners, edges, 3D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1047209" y="5571677"/>
            <a:ext cx="3622034" cy="508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1"/>
              </a:lnSpc>
            </a:pPr>
            <a:r>
              <a:rPr lang="en-US" sz="21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Complexity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4304016" y="5571677"/>
            <a:ext cx="3622034" cy="508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1"/>
              </a:lnSpc>
            </a:pPr>
            <a:r>
              <a:rPr lang="en-US" sz="21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Medium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276798" y="6351984"/>
            <a:ext cx="3947665" cy="508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1"/>
              </a:lnSpc>
            </a:pPr>
            <a:r>
              <a:rPr lang="en-US" sz="21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LBP-SVM [5][17]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4859236" y="6351984"/>
            <a:ext cx="3296393" cy="508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1"/>
              </a:lnSpc>
            </a:pPr>
            <a:r>
              <a:rPr lang="en-US" sz="21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SVM + texture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7790412" y="6351984"/>
            <a:ext cx="3622034" cy="508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1"/>
              </a:lnSpc>
            </a:pPr>
            <a:r>
              <a:rPr lang="en-US" sz="21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LBP variants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11047209" y="6351984"/>
            <a:ext cx="3622034" cy="508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1"/>
              </a:lnSpc>
            </a:pPr>
            <a:r>
              <a:rPr lang="en-US" sz="21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Feature engineering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14304016" y="6351984"/>
            <a:ext cx="3622034" cy="508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1"/>
              </a:lnSpc>
            </a:pPr>
            <a:r>
              <a:rPr lang="en-US" sz="21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Medium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1276798" y="7132291"/>
            <a:ext cx="3947665" cy="508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1"/>
              </a:lnSpc>
            </a:pPr>
            <a:r>
              <a:rPr lang="en-US" sz="21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Temporal [4][10]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4859236" y="7132291"/>
            <a:ext cx="2381993" cy="941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1"/>
              </a:lnSpc>
            </a:pPr>
            <a:r>
              <a:rPr lang="en-US" sz="21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Background subtraction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7790412" y="7132291"/>
            <a:ext cx="3622034" cy="508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1"/>
              </a:lnSpc>
            </a:pPr>
            <a:r>
              <a:rPr lang="en-US" sz="21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Frame differencing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11047209" y="7132291"/>
            <a:ext cx="3622034" cy="508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1"/>
              </a:lnSpc>
            </a:pPr>
            <a:r>
              <a:rPr lang="en-US" sz="21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Occlusions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14304016" y="7132291"/>
            <a:ext cx="3622034" cy="508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1"/>
              </a:lnSpc>
            </a:pPr>
            <a:r>
              <a:rPr lang="en-US" sz="21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Medium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1276798" y="8345243"/>
            <a:ext cx="3947665" cy="508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1"/>
              </a:lnSpc>
            </a:pPr>
            <a:r>
              <a:rPr lang="en-US" sz="2100" b="true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mini-AlexNet (Ours)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4859236" y="8345243"/>
            <a:ext cx="3296393" cy="508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1"/>
              </a:lnSpc>
            </a:pPr>
            <a:r>
              <a:rPr lang="en-US" sz="2100" b="true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Deep CNN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7790412" y="8345243"/>
            <a:ext cx="3622034" cy="508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1"/>
              </a:lnSpc>
            </a:pPr>
            <a:r>
              <a:rPr lang="en-US" sz="2100" b="true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Learned features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11047209" y="8345243"/>
            <a:ext cx="3622034" cy="508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1"/>
              </a:lnSpc>
            </a:pPr>
            <a:r>
              <a:rPr lang="en-US" sz="2100" b="true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Embedded compute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14304016" y="8345243"/>
            <a:ext cx="3622034" cy="508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1"/>
              </a:lnSpc>
            </a:pPr>
            <a:r>
              <a:rPr lang="en-US" sz="2100" b="true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High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6F4F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992238" y="1336177"/>
            <a:ext cx="2614612" cy="532800"/>
            <a:chOff x="0" y="0"/>
            <a:chExt cx="3486150" cy="7104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486150" cy="710438"/>
            </a:xfrm>
            <a:custGeom>
              <a:avLst/>
              <a:gdLst/>
              <a:ahLst/>
              <a:cxnLst/>
              <a:rect r="r" b="b" t="t" l="l"/>
              <a:pathLst>
                <a:path h="710438" w="3486150">
                  <a:moveTo>
                    <a:pt x="0" y="127000"/>
                  </a:moveTo>
                  <a:cubicBezTo>
                    <a:pt x="0" y="56896"/>
                    <a:pt x="56896" y="0"/>
                    <a:pt x="127000" y="0"/>
                  </a:cubicBezTo>
                  <a:lnTo>
                    <a:pt x="3359150" y="0"/>
                  </a:lnTo>
                  <a:cubicBezTo>
                    <a:pt x="3429254" y="0"/>
                    <a:pt x="3486150" y="56896"/>
                    <a:pt x="3486150" y="127000"/>
                  </a:cubicBezTo>
                  <a:lnTo>
                    <a:pt x="3486150" y="583438"/>
                  </a:lnTo>
                  <a:cubicBezTo>
                    <a:pt x="3486150" y="653542"/>
                    <a:pt x="3429254" y="710438"/>
                    <a:pt x="3359150" y="710438"/>
                  </a:cubicBezTo>
                  <a:lnTo>
                    <a:pt x="127000" y="710438"/>
                  </a:lnTo>
                  <a:cubicBezTo>
                    <a:pt x="56896" y="710438"/>
                    <a:pt x="0" y="653542"/>
                    <a:pt x="0" y="583438"/>
                  </a:cubicBezTo>
                  <a:close/>
                </a:path>
              </a:pathLst>
            </a:custGeom>
            <a:solidFill>
              <a:srgbClr val="DADBF1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162345" y="1354484"/>
            <a:ext cx="3188789" cy="429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13"/>
              </a:lnSpc>
            </a:pPr>
            <a:r>
              <a:rPr lang="en-US" sz="17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LITERATURE REVIEW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92238" y="1963341"/>
            <a:ext cx="16303523" cy="905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64"/>
              </a:lnSpc>
            </a:pPr>
            <a:r>
              <a:rPr lang="en-US" sz="5500" b="true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Positioning Within the Research Landscape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92238" y="3462938"/>
            <a:ext cx="7805890" cy="32611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11"/>
              </a:lnSpc>
            </a:pPr>
            <a:r>
              <a:rPr lang="en-US" sz="22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This work builds on prior deep CNN efforts [14] but extends them to </a:t>
            </a:r>
            <a:r>
              <a:rPr lang="en-US" sz="2200" b="true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indoor environments</a:t>
            </a:r>
            <a:r>
              <a:rPr lang="en-US" sz="22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 with higher obstacle density, </a:t>
            </a:r>
            <a:r>
              <a:rPr lang="en-US" sz="2200" b="true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multi-dataset cross-validation</a:t>
            </a:r>
            <a:r>
              <a:rPr lang="en-US" sz="22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 (PKLot, CNRPark-Ext, custom), and </a:t>
            </a:r>
            <a:r>
              <a:rPr lang="en-US" sz="2200" b="true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embedded deployment</a:t>
            </a:r>
            <a:r>
              <a:rPr lang="en-US" sz="22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 on Raspberry Pi — addressing gaps in generalization, lighting robustness, and cost-effective scalability left by classical ML and centralized vision systems.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9499406" y="3718617"/>
            <a:ext cx="5103609" cy="2835326"/>
            <a:chOff x="0" y="0"/>
            <a:chExt cx="6804812" cy="3780434"/>
          </a:xfrm>
        </p:grpSpPr>
        <p:sp>
          <p:nvSpPr>
            <p:cNvPr name="Freeform 12" id="12" descr="preencoded.png"/>
            <p:cNvSpPr/>
            <p:nvPr/>
          </p:nvSpPr>
          <p:spPr>
            <a:xfrm flipH="false" flipV="false" rot="0">
              <a:off x="0" y="0"/>
              <a:ext cx="6804787" cy="3780409"/>
            </a:xfrm>
            <a:custGeom>
              <a:avLst/>
              <a:gdLst/>
              <a:ahLst/>
              <a:cxnLst/>
              <a:rect r="r" b="b" t="t" l="l"/>
              <a:pathLst>
                <a:path h="3780409" w="6804787">
                  <a:moveTo>
                    <a:pt x="0" y="0"/>
                  </a:moveTo>
                  <a:lnTo>
                    <a:pt x="6804787" y="0"/>
                  </a:lnTo>
                  <a:lnTo>
                    <a:pt x="6804787" y="3780409"/>
                  </a:lnTo>
                  <a:lnTo>
                    <a:pt x="0" y="37804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7" r="0" b="-38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987476" y="7293321"/>
            <a:ext cx="5254971" cy="1662265"/>
            <a:chOff x="0" y="0"/>
            <a:chExt cx="7006628" cy="2216353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006590" cy="2216277"/>
            </a:xfrm>
            <a:custGeom>
              <a:avLst/>
              <a:gdLst/>
              <a:ahLst/>
              <a:cxnLst/>
              <a:rect r="r" b="b" t="t" l="l"/>
              <a:pathLst>
                <a:path h="2216277" w="7006590">
                  <a:moveTo>
                    <a:pt x="0" y="159639"/>
                  </a:moveTo>
                  <a:cubicBezTo>
                    <a:pt x="0" y="71501"/>
                    <a:pt x="71501" y="0"/>
                    <a:pt x="159639" y="0"/>
                  </a:cubicBezTo>
                  <a:lnTo>
                    <a:pt x="6846951" y="0"/>
                  </a:lnTo>
                  <a:cubicBezTo>
                    <a:pt x="6935089" y="0"/>
                    <a:pt x="7006590" y="71501"/>
                    <a:pt x="7006590" y="159639"/>
                  </a:cubicBezTo>
                  <a:lnTo>
                    <a:pt x="7006590" y="2056638"/>
                  </a:lnTo>
                  <a:cubicBezTo>
                    <a:pt x="7006590" y="2144776"/>
                    <a:pt x="6935089" y="2216277"/>
                    <a:pt x="6846951" y="2216277"/>
                  </a:cubicBezTo>
                  <a:lnTo>
                    <a:pt x="159639" y="2216277"/>
                  </a:lnTo>
                  <a:cubicBezTo>
                    <a:pt x="71501" y="2216404"/>
                    <a:pt x="0" y="2144903"/>
                    <a:pt x="0" y="2056638"/>
                  </a:cubicBezTo>
                  <a:close/>
                </a:path>
              </a:pathLst>
            </a:custGeom>
            <a:solidFill>
              <a:srgbClr val="DADBF1"/>
            </a:solidFill>
            <a:ln w="9526" cap="sq">
              <a:solidFill>
                <a:srgbClr val="C0C1D7"/>
              </a:solidFill>
              <a:prstDash val="solid"/>
              <a:miter/>
            </a:ln>
          </p:spPr>
        </p:sp>
      </p:grpSp>
      <p:sp>
        <p:nvSpPr>
          <p:cNvPr name="TextBox 15" id="15"/>
          <p:cNvSpPr txBox="true"/>
          <p:nvPr/>
        </p:nvSpPr>
        <p:spPr>
          <a:xfrm rot="0">
            <a:off x="1285284" y="7581605"/>
            <a:ext cx="4659363" cy="4524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9"/>
              </a:lnSpc>
            </a:pPr>
            <a:r>
              <a:rPr lang="en-US" sz="2700" b="true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✅</a:t>
            </a:r>
            <a:r>
              <a:rPr lang="en-US" sz="2700" b="true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 Decentralized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285284" y="8118424"/>
            <a:ext cx="4659363" cy="539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11"/>
              </a:lnSpc>
            </a:pPr>
            <a:r>
              <a:rPr lang="en-US" sz="22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No central server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6516443" y="7293321"/>
            <a:ext cx="5254971" cy="1662265"/>
            <a:chOff x="0" y="0"/>
            <a:chExt cx="7006628" cy="2216353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006590" cy="2216277"/>
            </a:xfrm>
            <a:custGeom>
              <a:avLst/>
              <a:gdLst/>
              <a:ahLst/>
              <a:cxnLst/>
              <a:rect r="r" b="b" t="t" l="l"/>
              <a:pathLst>
                <a:path h="2216277" w="7006590">
                  <a:moveTo>
                    <a:pt x="0" y="159639"/>
                  </a:moveTo>
                  <a:cubicBezTo>
                    <a:pt x="0" y="71501"/>
                    <a:pt x="71501" y="0"/>
                    <a:pt x="159639" y="0"/>
                  </a:cubicBezTo>
                  <a:lnTo>
                    <a:pt x="6846951" y="0"/>
                  </a:lnTo>
                  <a:cubicBezTo>
                    <a:pt x="6935089" y="0"/>
                    <a:pt x="7006590" y="71501"/>
                    <a:pt x="7006590" y="159639"/>
                  </a:cubicBezTo>
                  <a:lnTo>
                    <a:pt x="7006590" y="2056638"/>
                  </a:lnTo>
                  <a:cubicBezTo>
                    <a:pt x="7006590" y="2144776"/>
                    <a:pt x="6935089" y="2216277"/>
                    <a:pt x="6846951" y="2216277"/>
                  </a:cubicBezTo>
                  <a:lnTo>
                    <a:pt x="159639" y="2216277"/>
                  </a:lnTo>
                  <a:cubicBezTo>
                    <a:pt x="71501" y="2216404"/>
                    <a:pt x="0" y="2144903"/>
                    <a:pt x="0" y="2056638"/>
                  </a:cubicBezTo>
                  <a:close/>
                </a:path>
              </a:pathLst>
            </a:custGeom>
            <a:solidFill>
              <a:srgbClr val="DADBF1"/>
            </a:solidFill>
            <a:ln w="9526" cap="sq">
              <a:solidFill>
                <a:srgbClr val="C0C1D7"/>
              </a:solidFill>
              <a:prstDash val="solid"/>
              <a:miter/>
            </a:ln>
          </p:spPr>
        </p:sp>
      </p:grpSp>
      <p:sp>
        <p:nvSpPr>
          <p:cNvPr name="TextBox 19" id="19"/>
          <p:cNvSpPr txBox="true"/>
          <p:nvPr/>
        </p:nvSpPr>
        <p:spPr>
          <a:xfrm rot="0">
            <a:off x="6814242" y="7581605"/>
            <a:ext cx="4659363" cy="4524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9"/>
              </a:lnSpc>
            </a:pPr>
            <a:r>
              <a:rPr lang="en-US" sz="2700" b="true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✅</a:t>
            </a:r>
            <a:r>
              <a:rPr lang="en-US" sz="2700" b="true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 Camera-only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814242" y="8118424"/>
            <a:ext cx="4659363" cy="539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11"/>
              </a:lnSpc>
            </a:pPr>
            <a:r>
              <a:rPr lang="en-US" sz="22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No per-spot sensors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2045401" y="7293321"/>
            <a:ext cx="5254971" cy="1662265"/>
            <a:chOff x="0" y="0"/>
            <a:chExt cx="7006628" cy="2216353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006590" cy="2216277"/>
            </a:xfrm>
            <a:custGeom>
              <a:avLst/>
              <a:gdLst/>
              <a:ahLst/>
              <a:cxnLst/>
              <a:rect r="r" b="b" t="t" l="l"/>
              <a:pathLst>
                <a:path h="2216277" w="7006590">
                  <a:moveTo>
                    <a:pt x="0" y="159639"/>
                  </a:moveTo>
                  <a:cubicBezTo>
                    <a:pt x="0" y="71501"/>
                    <a:pt x="71501" y="0"/>
                    <a:pt x="159639" y="0"/>
                  </a:cubicBezTo>
                  <a:lnTo>
                    <a:pt x="6846951" y="0"/>
                  </a:lnTo>
                  <a:cubicBezTo>
                    <a:pt x="6935089" y="0"/>
                    <a:pt x="7006590" y="71501"/>
                    <a:pt x="7006590" y="159639"/>
                  </a:cubicBezTo>
                  <a:lnTo>
                    <a:pt x="7006590" y="2056638"/>
                  </a:lnTo>
                  <a:cubicBezTo>
                    <a:pt x="7006590" y="2144776"/>
                    <a:pt x="6935089" y="2216277"/>
                    <a:pt x="6846951" y="2216277"/>
                  </a:cubicBezTo>
                  <a:lnTo>
                    <a:pt x="159639" y="2216277"/>
                  </a:lnTo>
                  <a:cubicBezTo>
                    <a:pt x="71501" y="2216404"/>
                    <a:pt x="0" y="2144903"/>
                    <a:pt x="0" y="2056638"/>
                  </a:cubicBezTo>
                  <a:close/>
                </a:path>
              </a:pathLst>
            </a:custGeom>
            <a:solidFill>
              <a:srgbClr val="DADBF1"/>
            </a:solidFill>
            <a:ln w="9526" cap="sq">
              <a:solidFill>
                <a:srgbClr val="C0C1D7"/>
              </a:solidFill>
              <a:prstDash val="solid"/>
              <a:miter/>
            </a:ln>
          </p:spPr>
        </p:sp>
      </p:grpSp>
      <p:sp>
        <p:nvSpPr>
          <p:cNvPr name="TextBox 23" id="23"/>
          <p:cNvSpPr txBox="true"/>
          <p:nvPr/>
        </p:nvSpPr>
        <p:spPr>
          <a:xfrm rot="0">
            <a:off x="12343209" y="7581605"/>
            <a:ext cx="4659363" cy="4524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9"/>
              </a:lnSpc>
            </a:pPr>
            <a:r>
              <a:rPr lang="en-US" sz="2700" b="true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✅</a:t>
            </a:r>
            <a:r>
              <a:rPr lang="en-US" sz="2700" b="true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 Embedded-ready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2343209" y="8118424"/>
            <a:ext cx="4659363" cy="539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11"/>
              </a:lnSpc>
            </a:pPr>
            <a:r>
              <a:rPr lang="en-US" sz="22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Raspberry Pi viable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6F4F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0"/>
            <a:ext cx="6858000" cy="10287000"/>
            <a:chOff x="0" y="0"/>
            <a:chExt cx="9144000" cy="13716000"/>
          </a:xfrm>
        </p:grpSpPr>
        <p:sp>
          <p:nvSpPr>
            <p:cNvPr name="Freeform 7" id="7" descr="preencoded.png"/>
            <p:cNvSpPr/>
            <p:nvPr/>
          </p:nvSpPr>
          <p:spPr>
            <a:xfrm flipH="false" flipV="false" rot="0">
              <a:off x="0" y="0"/>
              <a:ext cx="914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7850238" y="922887"/>
            <a:ext cx="2532307" cy="510483"/>
            <a:chOff x="0" y="0"/>
            <a:chExt cx="3376409" cy="680644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376422" cy="680593"/>
            </a:xfrm>
            <a:custGeom>
              <a:avLst/>
              <a:gdLst/>
              <a:ahLst/>
              <a:cxnLst/>
              <a:rect r="r" b="b" t="t" l="l"/>
              <a:pathLst>
                <a:path h="680593" w="3376422">
                  <a:moveTo>
                    <a:pt x="0" y="123063"/>
                  </a:moveTo>
                  <a:cubicBezTo>
                    <a:pt x="0" y="55118"/>
                    <a:pt x="55118" y="0"/>
                    <a:pt x="123063" y="0"/>
                  </a:cubicBezTo>
                  <a:lnTo>
                    <a:pt x="3253359" y="0"/>
                  </a:lnTo>
                  <a:cubicBezTo>
                    <a:pt x="3321304" y="0"/>
                    <a:pt x="3376422" y="55118"/>
                    <a:pt x="3376422" y="123063"/>
                  </a:cubicBezTo>
                  <a:lnTo>
                    <a:pt x="3376422" y="557530"/>
                  </a:lnTo>
                  <a:cubicBezTo>
                    <a:pt x="3376422" y="625475"/>
                    <a:pt x="3321304" y="680593"/>
                    <a:pt x="3253359" y="680593"/>
                  </a:cubicBezTo>
                  <a:lnTo>
                    <a:pt x="123063" y="680593"/>
                  </a:lnTo>
                  <a:cubicBezTo>
                    <a:pt x="55118" y="680593"/>
                    <a:pt x="0" y="625602"/>
                    <a:pt x="0" y="557530"/>
                  </a:cubicBezTo>
                  <a:close/>
                </a:path>
              </a:pathLst>
            </a:custGeom>
            <a:solidFill>
              <a:srgbClr val="DADBF1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8014992" y="948033"/>
            <a:ext cx="3117209" cy="403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72"/>
              </a:lnSpc>
            </a:pPr>
            <a:r>
              <a:rPr lang="en-US" sz="17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LITERATURE REVIEW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850238" y="1520723"/>
            <a:ext cx="9445523" cy="8773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39"/>
              </a:lnSpc>
            </a:pPr>
            <a:r>
              <a:rPr lang="en-US" sz="5400" b="true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Key Takeaways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7845476" y="2792311"/>
            <a:ext cx="627459" cy="627459"/>
            <a:chOff x="0" y="0"/>
            <a:chExt cx="836612" cy="836612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36676" cy="836676"/>
            </a:xfrm>
            <a:custGeom>
              <a:avLst/>
              <a:gdLst/>
              <a:ahLst/>
              <a:cxnLst/>
              <a:rect r="r" b="b" t="t" l="l"/>
              <a:pathLst>
                <a:path h="836676" w="836676">
                  <a:moveTo>
                    <a:pt x="0" y="156210"/>
                  </a:moveTo>
                  <a:cubicBezTo>
                    <a:pt x="0" y="69977"/>
                    <a:pt x="69977" y="0"/>
                    <a:pt x="156210" y="0"/>
                  </a:cubicBezTo>
                  <a:lnTo>
                    <a:pt x="680466" y="0"/>
                  </a:lnTo>
                  <a:cubicBezTo>
                    <a:pt x="766699" y="0"/>
                    <a:pt x="836676" y="69977"/>
                    <a:pt x="836676" y="156210"/>
                  </a:cubicBezTo>
                  <a:lnTo>
                    <a:pt x="836676" y="680466"/>
                  </a:lnTo>
                  <a:cubicBezTo>
                    <a:pt x="836676" y="766699"/>
                    <a:pt x="766699" y="836676"/>
                    <a:pt x="680466" y="836676"/>
                  </a:cubicBezTo>
                  <a:lnTo>
                    <a:pt x="156210" y="836676"/>
                  </a:lnTo>
                  <a:cubicBezTo>
                    <a:pt x="69977" y="836676"/>
                    <a:pt x="0" y="766699"/>
                    <a:pt x="0" y="680466"/>
                  </a:cubicBezTo>
                  <a:close/>
                </a:path>
              </a:pathLst>
            </a:custGeom>
            <a:solidFill>
              <a:srgbClr val="DADBF1"/>
            </a:solidFill>
            <a:ln w="9526" cap="sq">
              <a:solidFill>
                <a:srgbClr val="C0C1D7"/>
              </a:solidFill>
              <a:prstDash val="solid"/>
              <a:miter/>
            </a:ln>
          </p:spPr>
        </p:sp>
      </p:grpSp>
      <p:grpSp>
        <p:nvGrpSpPr>
          <p:cNvPr name="Group 14" id="14"/>
          <p:cNvGrpSpPr/>
          <p:nvPr/>
        </p:nvGrpSpPr>
        <p:grpSpPr>
          <a:xfrm rot="0">
            <a:off x="7953223" y="2848566"/>
            <a:ext cx="411956" cy="514950"/>
            <a:chOff x="0" y="0"/>
            <a:chExt cx="549275" cy="686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49275" cy="686595"/>
            </a:xfrm>
            <a:custGeom>
              <a:avLst/>
              <a:gdLst/>
              <a:ahLst/>
              <a:cxnLst/>
              <a:rect r="r" b="b" t="t" l="l"/>
              <a:pathLst>
                <a:path h="686595" w="549275">
                  <a:moveTo>
                    <a:pt x="0" y="0"/>
                  </a:moveTo>
                  <a:lnTo>
                    <a:pt x="549275" y="0"/>
                  </a:lnTo>
                  <a:lnTo>
                    <a:pt x="549275" y="686595"/>
                  </a:lnTo>
                  <a:lnTo>
                    <a:pt x="0" y="68659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0381" t="0" r="-110381" b="0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0"/>
              <a:ext cx="549275" cy="6866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840"/>
                </a:lnSpc>
              </a:pPr>
              <a:r>
                <a:rPr lang="en-US" sz="3200" b="true">
                  <a:solidFill>
                    <a:srgbClr val="272525"/>
                  </a:solidFill>
                  <a:latin typeface="Inter Bold"/>
                  <a:ea typeface="Inter Bold"/>
                  <a:cs typeface="Inter Bold"/>
                  <a:sym typeface="Inter Bold"/>
                </a:rPr>
                <a:t>1</a:t>
              </a: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8734130" y="2881903"/>
            <a:ext cx="8561632" cy="4385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9"/>
              </a:lnSpc>
            </a:pPr>
            <a:r>
              <a:rPr lang="en-US" sz="2700" b="true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Classical ML falls short on real-world variability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8734130" y="3403844"/>
            <a:ext cx="8561632" cy="941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1"/>
              </a:lnSpc>
            </a:pPr>
            <a:r>
              <a:rPr lang="en-US" sz="21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SVM and Bayesian methods struggle with shadows, lighting changes, and occlusions without extensive feature engineering.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7845476" y="4872638"/>
            <a:ext cx="627459" cy="627459"/>
            <a:chOff x="0" y="0"/>
            <a:chExt cx="836612" cy="836612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836676" cy="836676"/>
            </a:xfrm>
            <a:custGeom>
              <a:avLst/>
              <a:gdLst/>
              <a:ahLst/>
              <a:cxnLst/>
              <a:rect r="r" b="b" t="t" l="l"/>
              <a:pathLst>
                <a:path h="836676" w="836676">
                  <a:moveTo>
                    <a:pt x="0" y="156210"/>
                  </a:moveTo>
                  <a:cubicBezTo>
                    <a:pt x="0" y="69977"/>
                    <a:pt x="69977" y="0"/>
                    <a:pt x="156210" y="0"/>
                  </a:cubicBezTo>
                  <a:lnTo>
                    <a:pt x="680466" y="0"/>
                  </a:lnTo>
                  <a:cubicBezTo>
                    <a:pt x="766699" y="0"/>
                    <a:pt x="836676" y="69977"/>
                    <a:pt x="836676" y="156210"/>
                  </a:cubicBezTo>
                  <a:lnTo>
                    <a:pt x="836676" y="680466"/>
                  </a:lnTo>
                  <a:cubicBezTo>
                    <a:pt x="836676" y="766699"/>
                    <a:pt x="766699" y="836676"/>
                    <a:pt x="680466" y="836676"/>
                  </a:cubicBezTo>
                  <a:lnTo>
                    <a:pt x="156210" y="836676"/>
                  </a:lnTo>
                  <a:cubicBezTo>
                    <a:pt x="69977" y="836676"/>
                    <a:pt x="0" y="766699"/>
                    <a:pt x="0" y="680466"/>
                  </a:cubicBezTo>
                  <a:close/>
                </a:path>
              </a:pathLst>
            </a:custGeom>
            <a:solidFill>
              <a:srgbClr val="DADBF1"/>
            </a:solidFill>
            <a:ln w="9526" cap="sq">
              <a:solidFill>
                <a:srgbClr val="C0C1D7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7953223" y="4928892"/>
            <a:ext cx="411956" cy="514950"/>
            <a:chOff x="0" y="0"/>
            <a:chExt cx="549275" cy="6866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549275" cy="686595"/>
            </a:xfrm>
            <a:custGeom>
              <a:avLst/>
              <a:gdLst/>
              <a:ahLst/>
              <a:cxnLst/>
              <a:rect r="r" b="b" t="t" l="l"/>
              <a:pathLst>
                <a:path h="686595" w="549275">
                  <a:moveTo>
                    <a:pt x="0" y="0"/>
                  </a:moveTo>
                  <a:lnTo>
                    <a:pt x="549275" y="0"/>
                  </a:lnTo>
                  <a:lnTo>
                    <a:pt x="549275" y="686595"/>
                  </a:lnTo>
                  <a:lnTo>
                    <a:pt x="0" y="68659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0381" t="0" r="-110381" b="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0"/>
              <a:ext cx="549275" cy="6866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840"/>
                </a:lnSpc>
              </a:pPr>
              <a:r>
                <a:rPr lang="en-US" sz="3200" b="true">
                  <a:solidFill>
                    <a:srgbClr val="272525"/>
                  </a:solidFill>
                  <a:latin typeface="Inter Bold"/>
                  <a:ea typeface="Inter Bold"/>
                  <a:cs typeface="Inter Bold"/>
                  <a:sym typeface="Inter Bold"/>
                </a:rPr>
                <a:t>2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8734130" y="4962230"/>
            <a:ext cx="8561632" cy="867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9"/>
              </a:lnSpc>
            </a:pPr>
            <a:r>
              <a:rPr lang="en-US" sz="2700" b="true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Texture-based SVM improves but lacks transferability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8734130" y="5913244"/>
            <a:ext cx="8561632" cy="941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1"/>
              </a:lnSpc>
            </a:pPr>
            <a:r>
              <a:rPr lang="en-US" sz="21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LBP variants on large datasets achieve ~92% accuracy but remain dataset-specific and feature-dependent.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7845476" y="7382027"/>
            <a:ext cx="627459" cy="627459"/>
            <a:chOff x="0" y="0"/>
            <a:chExt cx="836612" cy="836612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836676" cy="836676"/>
            </a:xfrm>
            <a:custGeom>
              <a:avLst/>
              <a:gdLst/>
              <a:ahLst/>
              <a:cxnLst/>
              <a:rect r="r" b="b" t="t" l="l"/>
              <a:pathLst>
                <a:path h="836676" w="836676">
                  <a:moveTo>
                    <a:pt x="0" y="156210"/>
                  </a:moveTo>
                  <a:cubicBezTo>
                    <a:pt x="0" y="69977"/>
                    <a:pt x="69977" y="0"/>
                    <a:pt x="156210" y="0"/>
                  </a:cubicBezTo>
                  <a:lnTo>
                    <a:pt x="680466" y="0"/>
                  </a:lnTo>
                  <a:cubicBezTo>
                    <a:pt x="766699" y="0"/>
                    <a:pt x="836676" y="69977"/>
                    <a:pt x="836676" y="156210"/>
                  </a:cubicBezTo>
                  <a:lnTo>
                    <a:pt x="836676" y="680466"/>
                  </a:lnTo>
                  <a:cubicBezTo>
                    <a:pt x="836676" y="766699"/>
                    <a:pt x="766699" y="836676"/>
                    <a:pt x="680466" y="836676"/>
                  </a:cubicBezTo>
                  <a:lnTo>
                    <a:pt x="156210" y="836676"/>
                  </a:lnTo>
                  <a:cubicBezTo>
                    <a:pt x="69977" y="836676"/>
                    <a:pt x="0" y="766699"/>
                    <a:pt x="0" y="680466"/>
                  </a:cubicBezTo>
                  <a:close/>
                </a:path>
              </a:pathLst>
            </a:custGeom>
            <a:solidFill>
              <a:srgbClr val="DADBF1"/>
            </a:solidFill>
            <a:ln w="9526" cap="sq">
              <a:solidFill>
                <a:srgbClr val="C0C1D7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7953223" y="7438282"/>
            <a:ext cx="411956" cy="514950"/>
            <a:chOff x="0" y="0"/>
            <a:chExt cx="549275" cy="6866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549275" cy="686595"/>
            </a:xfrm>
            <a:custGeom>
              <a:avLst/>
              <a:gdLst/>
              <a:ahLst/>
              <a:cxnLst/>
              <a:rect r="r" b="b" t="t" l="l"/>
              <a:pathLst>
                <a:path h="686595" w="549275">
                  <a:moveTo>
                    <a:pt x="0" y="0"/>
                  </a:moveTo>
                  <a:lnTo>
                    <a:pt x="549275" y="0"/>
                  </a:lnTo>
                  <a:lnTo>
                    <a:pt x="549275" y="686595"/>
                  </a:lnTo>
                  <a:lnTo>
                    <a:pt x="0" y="68659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0381" t="0" r="-110381" b="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0"/>
              <a:ext cx="549275" cy="6866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840"/>
                </a:lnSpc>
              </a:pPr>
              <a:r>
                <a:rPr lang="en-US" sz="3200" b="true">
                  <a:solidFill>
                    <a:srgbClr val="272525"/>
                  </a:solidFill>
                  <a:latin typeface="Inter Bold"/>
                  <a:ea typeface="Inter Bold"/>
                  <a:cs typeface="Inter Bold"/>
                  <a:sym typeface="Inter Bold"/>
                </a:rPr>
                <a:t>3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8734130" y="7471620"/>
            <a:ext cx="8561632" cy="867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9"/>
              </a:lnSpc>
            </a:pPr>
            <a:r>
              <a:rPr lang="en-US" sz="2700" b="true">
                <a:solidFill>
                  <a:srgbClr val="272525"/>
                </a:solidFill>
                <a:latin typeface="Inter Bold"/>
                <a:ea typeface="Inter Bold"/>
                <a:cs typeface="Inter Bold"/>
                <a:sym typeface="Inter Bold"/>
              </a:rPr>
              <a:t>Deep CNN enables generic, embedded-ready detection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8734130" y="8422634"/>
            <a:ext cx="8561632" cy="941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1"/>
              </a:lnSpc>
            </a:pPr>
            <a:r>
              <a:rPr lang="en-US" sz="210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Mini-AlexNet achieves up to 96% accuracy across unseen datasets — validating CNN generalization and edge deployability.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DAHOw22bG9g</dc:identifier>
  <dcterms:modified xsi:type="dcterms:W3CDTF">2011-08-01T06:04:30Z</dcterms:modified>
  <cp:revision>1</cp:revision>
  <dc:title>Real-Time-Parking-Space-Occupancy-Detection.pptx</dc:title>
</cp:coreProperties>
</file>