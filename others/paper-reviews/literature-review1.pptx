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Inter" panose="020B0604020202020204" charset="0"/>
      <p:regular r:id="rId18"/>
    </p:embeddedFont>
    <p:embeddedFont>
      <p:font typeface="Inter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850238" y="2919565"/>
            <a:ext cx="9445523" cy="179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Real-Time Parking Space Occupancy Detection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0238" y="5050031"/>
            <a:ext cx="9445523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deep learning approach for decentralized, real-time parking occupancy detection using standard CCTV cameras — deployable on low-powered embedded devices.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20345" y="6833892"/>
            <a:ext cx="3608337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4950BC"/>
                </a:solidFill>
                <a:latin typeface="Inter"/>
                <a:ea typeface="Inter"/>
                <a:cs typeface="Inter"/>
                <a:sym typeface="Inter"/>
              </a:rPr>
              <a:t>IEMTRONICS 2022 · IEEE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96190" y="6833892"/>
            <a:ext cx="4917129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4950BC"/>
                </a:solidFill>
                <a:latin typeface="Inter"/>
                <a:ea typeface="Inter"/>
                <a:cs typeface="Inter"/>
                <a:sym typeface="Inter"/>
              </a:rPr>
              <a:t>NORTH SOUTH UNIVERSITY, DHAKA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821379"/>
            <a:ext cx="2575027" cy="521646"/>
            <a:chOff x="0" y="0"/>
            <a:chExt cx="3433369" cy="6955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33445" cy="695579"/>
            </a:xfrm>
            <a:custGeom>
              <a:avLst/>
              <a:gdLst/>
              <a:ahLst/>
              <a:cxnLst/>
              <a:rect l="l" t="t" r="r" b="b"/>
              <a:pathLst>
                <a:path w="3433445" h="695579">
                  <a:moveTo>
                    <a:pt x="0" y="125095"/>
                  </a:moveTo>
                  <a:cubicBezTo>
                    <a:pt x="0" y="56007"/>
                    <a:pt x="56007" y="0"/>
                    <a:pt x="125095" y="0"/>
                  </a:cubicBezTo>
                  <a:lnTo>
                    <a:pt x="3308350" y="0"/>
                  </a:lnTo>
                  <a:cubicBezTo>
                    <a:pt x="3377438" y="0"/>
                    <a:pt x="3433445" y="56007"/>
                    <a:pt x="3433445" y="125095"/>
                  </a:cubicBezTo>
                  <a:lnTo>
                    <a:pt x="3433445" y="570484"/>
                  </a:lnTo>
                  <a:cubicBezTo>
                    <a:pt x="3433445" y="639572"/>
                    <a:pt x="3377438" y="695579"/>
                    <a:pt x="3308350" y="695579"/>
                  </a:cubicBezTo>
                  <a:lnTo>
                    <a:pt x="125095" y="695579"/>
                  </a:lnTo>
                  <a:cubicBezTo>
                    <a:pt x="56007" y="695579"/>
                    <a:pt x="0" y="639572"/>
                    <a:pt x="0" y="570484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59669" y="847877"/>
            <a:ext cx="3154556" cy="411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2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LITERATURE REVIEW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433808"/>
            <a:ext cx="16303523" cy="89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Evolution of Parking Occupancy Detection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2660894"/>
            <a:ext cx="16303523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Research has progressed from classical classifiers to deep CNN architectures, each addressing limitations in accuracy, scalability, and environmental robustness.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92238" y="6698752"/>
            <a:ext cx="16303523" cy="38100"/>
            <a:chOff x="0" y="0"/>
            <a:chExt cx="21738031" cy="50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738082" cy="50800"/>
            </a:xfrm>
            <a:custGeom>
              <a:avLst/>
              <a:gdLst/>
              <a:ahLst/>
              <a:cxnLst/>
              <a:rect l="l" t="t" r="r" b="b"/>
              <a:pathLst>
                <a:path w="21738082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712682" y="0"/>
                  </a:lnTo>
                  <a:cubicBezTo>
                    <a:pt x="21726652" y="0"/>
                    <a:pt x="21738082" y="11430"/>
                    <a:pt x="21738082" y="25400"/>
                  </a:cubicBezTo>
                  <a:cubicBezTo>
                    <a:pt x="21738082" y="39370"/>
                    <a:pt x="21726652" y="50800"/>
                    <a:pt x="217126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130878" y="6140720"/>
            <a:ext cx="38100" cy="558108"/>
            <a:chOff x="0" y="0"/>
            <a:chExt cx="50800" cy="7441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0800" cy="744093"/>
            </a:xfrm>
            <a:custGeom>
              <a:avLst/>
              <a:gdLst/>
              <a:ahLst/>
              <a:cxnLst/>
              <a:rect l="l" t="t" r="r" b="b"/>
              <a:pathLst>
                <a:path w="50800" h="744093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718693"/>
                  </a:lnTo>
                  <a:cubicBezTo>
                    <a:pt x="50800" y="732663"/>
                    <a:pt x="39370" y="744093"/>
                    <a:pt x="25400" y="744093"/>
                  </a:cubicBezTo>
                  <a:cubicBezTo>
                    <a:pt x="11430" y="744093"/>
                    <a:pt x="0" y="732663"/>
                    <a:pt x="0" y="718693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4045296" y="6594053"/>
            <a:ext cx="209255" cy="209255"/>
            <a:chOff x="0" y="0"/>
            <a:chExt cx="279006" cy="2790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9019" cy="279019"/>
            </a:xfrm>
            <a:custGeom>
              <a:avLst/>
              <a:gdLst/>
              <a:ahLst/>
              <a:cxnLst/>
              <a:rect l="l" t="t" r="r" b="b"/>
              <a:pathLst>
                <a:path w="279019" h="279019">
                  <a:moveTo>
                    <a:pt x="0" y="139446"/>
                  </a:moveTo>
                  <a:cubicBezTo>
                    <a:pt x="0" y="62484"/>
                    <a:pt x="62484" y="0"/>
                    <a:pt x="139446" y="0"/>
                  </a:cubicBezTo>
                  <a:cubicBezTo>
                    <a:pt x="216408" y="0"/>
                    <a:pt x="279019" y="62484"/>
                    <a:pt x="279019" y="139446"/>
                  </a:cubicBezTo>
                  <a:cubicBezTo>
                    <a:pt x="279019" y="216408"/>
                    <a:pt x="216535" y="279019"/>
                    <a:pt x="139446" y="279019"/>
                  </a:cubicBezTo>
                  <a:cubicBezTo>
                    <a:pt x="62357" y="279019"/>
                    <a:pt x="0" y="216535"/>
                    <a:pt x="0" y="139446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271292" y="3922366"/>
            <a:ext cx="5757272" cy="445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Classical ML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1292" y="4456509"/>
            <a:ext cx="5757272" cy="1404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SVM, Bayesian classifiers with hand-crafted features — limited under shadows and lighting changes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460161" y="6698675"/>
            <a:ext cx="38100" cy="558108"/>
            <a:chOff x="0" y="0"/>
            <a:chExt cx="50800" cy="74414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0800" cy="744093"/>
            </a:xfrm>
            <a:custGeom>
              <a:avLst/>
              <a:gdLst/>
              <a:ahLst/>
              <a:cxnLst/>
              <a:rect l="l" t="t" r="r" b="b"/>
              <a:pathLst>
                <a:path w="50800" h="744093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718693"/>
                  </a:lnTo>
                  <a:cubicBezTo>
                    <a:pt x="50800" y="732663"/>
                    <a:pt x="39370" y="744093"/>
                    <a:pt x="25400" y="744093"/>
                  </a:cubicBezTo>
                  <a:cubicBezTo>
                    <a:pt x="11430" y="744093"/>
                    <a:pt x="0" y="732663"/>
                    <a:pt x="0" y="718693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7374579" y="6594053"/>
            <a:ext cx="209255" cy="209255"/>
            <a:chOff x="0" y="0"/>
            <a:chExt cx="279006" cy="27900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79019" cy="279019"/>
            </a:xfrm>
            <a:custGeom>
              <a:avLst/>
              <a:gdLst/>
              <a:ahLst/>
              <a:cxnLst/>
              <a:rect l="l" t="t" r="r" b="b"/>
              <a:pathLst>
                <a:path w="279019" h="279019">
                  <a:moveTo>
                    <a:pt x="0" y="139446"/>
                  </a:moveTo>
                  <a:cubicBezTo>
                    <a:pt x="0" y="62484"/>
                    <a:pt x="62484" y="0"/>
                    <a:pt x="139446" y="0"/>
                  </a:cubicBezTo>
                  <a:cubicBezTo>
                    <a:pt x="216408" y="0"/>
                    <a:pt x="279019" y="62484"/>
                    <a:pt x="279019" y="139446"/>
                  </a:cubicBezTo>
                  <a:cubicBezTo>
                    <a:pt x="279019" y="216408"/>
                    <a:pt x="216535" y="279019"/>
                    <a:pt x="139446" y="279019"/>
                  </a:cubicBezTo>
                  <a:cubicBezTo>
                    <a:pt x="62357" y="279019"/>
                    <a:pt x="0" y="216535"/>
                    <a:pt x="0" y="139446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4600575" y="7526531"/>
            <a:ext cx="5757272" cy="445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Temporal &amp; 3D Methods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00575" y="8060684"/>
            <a:ext cx="5757272" cy="1404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Background subtraction, 3D Bayesian frameworks — improved accuracy but high complexity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789596" y="6140720"/>
            <a:ext cx="38100" cy="558108"/>
            <a:chOff x="0" y="0"/>
            <a:chExt cx="50800" cy="74414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0800" cy="744093"/>
            </a:xfrm>
            <a:custGeom>
              <a:avLst/>
              <a:gdLst/>
              <a:ahLst/>
              <a:cxnLst/>
              <a:rect l="l" t="t" r="r" b="b"/>
              <a:pathLst>
                <a:path w="50800" h="744093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718693"/>
                  </a:lnTo>
                  <a:cubicBezTo>
                    <a:pt x="50800" y="732663"/>
                    <a:pt x="39370" y="744093"/>
                    <a:pt x="25400" y="744093"/>
                  </a:cubicBezTo>
                  <a:cubicBezTo>
                    <a:pt x="11430" y="744093"/>
                    <a:pt x="0" y="732663"/>
                    <a:pt x="0" y="718693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0704014" y="6594053"/>
            <a:ext cx="209255" cy="209255"/>
            <a:chOff x="0" y="0"/>
            <a:chExt cx="279006" cy="27900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79019" cy="279019"/>
            </a:xfrm>
            <a:custGeom>
              <a:avLst/>
              <a:gdLst/>
              <a:ahLst/>
              <a:cxnLst/>
              <a:rect l="l" t="t" r="r" b="b"/>
              <a:pathLst>
                <a:path w="279019" h="279019">
                  <a:moveTo>
                    <a:pt x="0" y="139446"/>
                  </a:moveTo>
                  <a:cubicBezTo>
                    <a:pt x="0" y="62484"/>
                    <a:pt x="62484" y="0"/>
                    <a:pt x="139446" y="0"/>
                  </a:cubicBezTo>
                  <a:cubicBezTo>
                    <a:pt x="216408" y="0"/>
                    <a:pt x="279019" y="62484"/>
                    <a:pt x="279019" y="139446"/>
                  </a:cubicBezTo>
                  <a:cubicBezTo>
                    <a:pt x="279019" y="216408"/>
                    <a:pt x="216535" y="279019"/>
                    <a:pt x="139446" y="279019"/>
                  </a:cubicBezTo>
                  <a:cubicBezTo>
                    <a:pt x="62357" y="279019"/>
                    <a:pt x="0" y="216535"/>
                    <a:pt x="0" y="139446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7930010" y="3922366"/>
            <a:ext cx="5757272" cy="445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Texture-Based SVM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30010" y="4456509"/>
            <a:ext cx="5757272" cy="1404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LBP variants on ~700K images — better aggregation but still feature-engineering dependent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4118879" y="6698675"/>
            <a:ext cx="38100" cy="558108"/>
            <a:chOff x="0" y="0"/>
            <a:chExt cx="50800" cy="74414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0800" cy="744093"/>
            </a:xfrm>
            <a:custGeom>
              <a:avLst/>
              <a:gdLst/>
              <a:ahLst/>
              <a:cxnLst/>
              <a:rect l="l" t="t" r="r" b="b"/>
              <a:pathLst>
                <a:path w="50800" h="744093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718693"/>
                  </a:lnTo>
                  <a:cubicBezTo>
                    <a:pt x="50800" y="732663"/>
                    <a:pt x="39370" y="744093"/>
                    <a:pt x="25400" y="744093"/>
                  </a:cubicBezTo>
                  <a:cubicBezTo>
                    <a:pt x="11430" y="744093"/>
                    <a:pt x="0" y="732663"/>
                    <a:pt x="0" y="718693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4033306" y="6594053"/>
            <a:ext cx="209255" cy="209255"/>
            <a:chOff x="0" y="0"/>
            <a:chExt cx="279006" cy="27900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79019" cy="279019"/>
            </a:xfrm>
            <a:custGeom>
              <a:avLst/>
              <a:gdLst/>
              <a:ahLst/>
              <a:cxnLst/>
              <a:rect l="l" t="t" r="r" b="b"/>
              <a:pathLst>
                <a:path w="279019" h="279019">
                  <a:moveTo>
                    <a:pt x="0" y="139446"/>
                  </a:moveTo>
                  <a:cubicBezTo>
                    <a:pt x="0" y="62484"/>
                    <a:pt x="62484" y="0"/>
                    <a:pt x="139446" y="0"/>
                  </a:cubicBezTo>
                  <a:cubicBezTo>
                    <a:pt x="216408" y="0"/>
                    <a:pt x="279019" y="62484"/>
                    <a:pt x="279019" y="139446"/>
                  </a:cubicBezTo>
                  <a:cubicBezTo>
                    <a:pt x="279019" y="216408"/>
                    <a:pt x="216535" y="279019"/>
                    <a:pt x="139446" y="279019"/>
                  </a:cubicBezTo>
                  <a:cubicBezTo>
                    <a:pt x="62357" y="279019"/>
                    <a:pt x="0" y="216535"/>
                    <a:pt x="0" y="139446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11259293" y="7526531"/>
            <a:ext cx="5757272" cy="445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Deep CNN (This Work)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259293" y="8060684"/>
            <a:ext cx="5757272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Mini-AlexNet / Mini-LeNet — generic, robust, deployable on Raspberry 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1647082"/>
            <a:ext cx="2614612" cy="532800"/>
            <a:chOff x="0" y="0"/>
            <a:chExt cx="3486150" cy="710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86150" cy="710438"/>
            </a:xfrm>
            <a:custGeom>
              <a:avLst/>
              <a:gdLst/>
              <a:ahLst/>
              <a:cxnLst/>
              <a:rect l="l" t="t" r="r" b="b"/>
              <a:pathLst>
                <a:path w="3486150" h="710438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3359150" y="0"/>
                  </a:lnTo>
                  <a:cubicBezTo>
                    <a:pt x="3429254" y="0"/>
                    <a:pt x="3486150" y="56896"/>
                    <a:pt x="3486150" y="127000"/>
                  </a:cubicBezTo>
                  <a:lnTo>
                    <a:pt x="3486150" y="583438"/>
                  </a:lnTo>
                  <a:cubicBezTo>
                    <a:pt x="3486150" y="653542"/>
                    <a:pt x="3429254" y="710438"/>
                    <a:pt x="3359150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62345" y="1665389"/>
            <a:ext cx="3188789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LITERATURE REVIEW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2274246"/>
            <a:ext cx="16303523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Classical Machine Learning Approaches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99406" y="3878466"/>
            <a:ext cx="7805890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Limitations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99406" y="4528690"/>
            <a:ext cx="7805890" cy="4012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SVM + visual features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[6]: Low accuracy under shadows and varying weather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SVM + neighbor correlation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[3]: Color histograms of adjacent spots; light changes unaddressed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Bayesian classifier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[7]: Corners, edges, wavelet features; partial improvement on lighting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3D Bayesian framework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[8]: Models spots in 3D space; better accuracy but computationally heavy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1954263"/>
            <a:ext cx="2614612" cy="532800"/>
            <a:chOff x="0" y="0"/>
            <a:chExt cx="3486150" cy="710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86150" cy="710438"/>
            </a:xfrm>
            <a:custGeom>
              <a:avLst/>
              <a:gdLst/>
              <a:ahLst/>
              <a:cxnLst/>
              <a:rect l="l" t="t" r="r" b="b"/>
              <a:pathLst>
                <a:path w="3486150" h="710438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3359150" y="0"/>
                  </a:lnTo>
                  <a:cubicBezTo>
                    <a:pt x="3429254" y="0"/>
                    <a:pt x="3486150" y="56896"/>
                    <a:pt x="3486150" y="127000"/>
                  </a:cubicBezTo>
                  <a:lnTo>
                    <a:pt x="3486150" y="583438"/>
                  </a:lnTo>
                  <a:cubicBezTo>
                    <a:pt x="3486150" y="653542"/>
                    <a:pt x="3429254" y="710438"/>
                    <a:pt x="3359150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62345" y="1972570"/>
            <a:ext cx="3188789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LITERATURE REVIEW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2581427"/>
            <a:ext cx="16303523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Temporal Analysis &amp; Hybrid Methods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992238" y="3911651"/>
            <a:ext cx="5245446" cy="4420943"/>
          </a:xfrm>
          <a:custGeom>
            <a:avLst/>
            <a:gdLst/>
            <a:ahLst/>
            <a:cxnLst/>
            <a:rect l="l" t="t" r="r" b="b"/>
            <a:pathLst>
              <a:path w="5245446" h="4420943">
                <a:moveTo>
                  <a:pt x="0" y="0"/>
                </a:moveTo>
                <a:lnTo>
                  <a:pt x="5245446" y="0"/>
                </a:lnTo>
                <a:lnTo>
                  <a:pt x="5245446" y="4420943"/>
                </a:lnTo>
                <a:lnTo>
                  <a:pt x="0" y="44209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65" b="-65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466250" y="4223747"/>
            <a:ext cx="4449813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Background Subtraction [4]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66250" y="5203479"/>
            <a:ext cx="4449813" cy="2807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Gaussian-based frame differencing detects entering/leaving vehicles. Suffers from transient occlusions and cannot handle static obstacles.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6521206" y="3911651"/>
            <a:ext cx="5245446" cy="4420943"/>
          </a:xfrm>
          <a:custGeom>
            <a:avLst/>
            <a:gdLst/>
            <a:ahLst/>
            <a:cxnLst/>
            <a:rect l="l" t="t" r="r" b="b"/>
            <a:pathLst>
              <a:path w="5245446" h="4420943">
                <a:moveTo>
                  <a:pt x="0" y="0"/>
                </a:moveTo>
                <a:lnTo>
                  <a:pt x="5245446" y="0"/>
                </a:lnTo>
                <a:lnTo>
                  <a:pt x="5245446" y="4420943"/>
                </a:lnTo>
                <a:lnTo>
                  <a:pt x="0" y="44209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65" b="-65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995217" y="4223747"/>
            <a:ext cx="4449813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Inter-Space Occlusion Handling [10]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95217" y="5203479"/>
            <a:ext cx="4449813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Tracks entry/exit events to resolve spots hidden by neighboring vehicles. Requires temporal continuity and event modeling.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12050163" y="3911651"/>
            <a:ext cx="5245446" cy="4420943"/>
          </a:xfrm>
          <a:custGeom>
            <a:avLst/>
            <a:gdLst/>
            <a:ahLst/>
            <a:cxnLst/>
            <a:rect l="l" t="t" r="r" b="b"/>
            <a:pathLst>
              <a:path w="5245446" h="4420943">
                <a:moveTo>
                  <a:pt x="0" y="0"/>
                </a:moveTo>
                <a:lnTo>
                  <a:pt x="5245446" y="0"/>
                </a:lnTo>
                <a:lnTo>
                  <a:pt x="5245446" y="4420943"/>
                </a:lnTo>
                <a:lnTo>
                  <a:pt x="0" y="44209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65" b="-65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2524184" y="4223747"/>
            <a:ext cx="4449813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Sensor-Fusion Approaches [11][12]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24184" y="5203479"/>
            <a:ext cx="4449813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Vehicle navigation systems and smartphone sensors supplement vision. Adds hardware cost and integration complexity.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1036444"/>
            <a:ext cx="2614612" cy="532800"/>
            <a:chOff x="0" y="0"/>
            <a:chExt cx="3486150" cy="710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86150" cy="710438"/>
            </a:xfrm>
            <a:custGeom>
              <a:avLst/>
              <a:gdLst/>
              <a:ahLst/>
              <a:cxnLst/>
              <a:rect l="l" t="t" r="r" b="b"/>
              <a:pathLst>
                <a:path w="3486150" h="710438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3359150" y="0"/>
                  </a:lnTo>
                  <a:cubicBezTo>
                    <a:pt x="3429254" y="0"/>
                    <a:pt x="3486150" y="56896"/>
                    <a:pt x="3486150" y="127000"/>
                  </a:cubicBezTo>
                  <a:lnTo>
                    <a:pt x="3486150" y="583438"/>
                  </a:lnTo>
                  <a:cubicBezTo>
                    <a:pt x="3486150" y="653542"/>
                    <a:pt x="3429254" y="710438"/>
                    <a:pt x="3359150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62345" y="1054741"/>
            <a:ext cx="3188789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LITERATURE REVIEW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663598"/>
            <a:ext cx="16303523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Texture-Based SVM: The LBP Family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3267818"/>
            <a:ext cx="7805890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Approach Overview [5][17][18][19]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3918052"/>
            <a:ext cx="7805890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Trains SVM classifiers on Local Binary Pattern texture features extracted from ~700,000 images across three cameras. Confidence aggregation via max/min functions improves detection.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5987653"/>
            <a:ext cx="7805890" cy="164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LBP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Classical 256-dim texture descriptor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LBPu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Uniform patterns, 59-dim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LBPuri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Uniform + rotation invariant, 10-dim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7801870"/>
            <a:ext cx="7805890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Best among SVM variants but still outperformed by CNN on cross-dataset generalization.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499406" y="3312766"/>
            <a:ext cx="7805890" cy="5618712"/>
            <a:chOff x="0" y="0"/>
            <a:chExt cx="10407853" cy="7491616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10407904" cy="7491603"/>
            </a:xfrm>
            <a:custGeom>
              <a:avLst/>
              <a:gdLst/>
              <a:ahLst/>
              <a:cxnLst/>
              <a:rect l="l" t="t" r="r" b="b"/>
              <a:pathLst>
                <a:path w="10407904" h="7491603">
                  <a:moveTo>
                    <a:pt x="0" y="0"/>
                  </a:moveTo>
                  <a:lnTo>
                    <a:pt x="10407904" y="0"/>
                  </a:lnTo>
                  <a:lnTo>
                    <a:pt x="10407904" y="7491603"/>
                  </a:lnTo>
                  <a:lnTo>
                    <a:pt x="0" y="7491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" r="-19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92238" y="1061742"/>
            <a:ext cx="2492578" cy="499767"/>
            <a:chOff x="0" y="0"/>
            <a:chExt cx="3323438" cy="66635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323336" cy="666242"/>
            </a:xfrm>
            <a:custGeom>
              <a:avLst/>
              <a:gdLst/>
              <a:ahLst/>
              <a:cxnLst/>
              <a:rect l="l" t="t" r="r" b="b"/>
              <a:pathLst>
                <a:path w="3323336" h="666242">
                  <a:moveTo>
                    <a:pt x="0" y="121031"/>
                  </a:moveTo>
                  <a:cubicBezTo>
                    <a:pt x="0" y="54229"/>
                    <a:pt x="54229" y="0"/>
                    <a:pt x="121031" y="0"/>
                  </a:cubicBezTo>
                  <a:lnTo>
                    <a:pt x="3202305" y="0"/>
                  </a:lnTo>
                  <a:cubicBezTo>
                    <a:pt x="3269107" y="0"/>
                    <a:pt x="3323336" y="54229"/>
                    <a:pt x="3323336" y="121031"/>
                  </a:cubicBezTo>
                  <a:lnTo>
                    <a:pt x="3323336" y="545211"/>
                  </a:lnTo>
                  <a:cubicBezTo>
                    <a:pt x="3323336" y="612013"/>
                    <a:pt x="3269107" y="666242"/>
                    <a:pt x="3202305" y="666242"/>
                  </a:cubicBezTo>
                  <a:lnTo>
                    <a:pt x="121031" y="666242"/>
                  </a:lnTo>
                  <a:cubicBezTo>
                    <a:pt x="54229" y="666369"/>
                    <a:pt x="0" y="612140"/>
                    <a:pt x="0" y="545338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154306" y="1085555"/>
            <a:ext cx="3082823" cy="394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2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LITERATURE REVIEW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1635919"/>
            <a:ext cx="9445523" cy="171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14"/>
              </a:lnSpc>
            </a:pPr>
            <a:r>
              <a:rPr lang="en-US" sz="52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Deep Learning: The Turning Point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87476" y="3735286"/>
            <a:ext cx="4603556" cy="3256655"/>
            <a:chOff x="0" y="0"/>
            <a:chExt cx="6138075" cy="434220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138037" cy="4342257"/>
            </a:xfrm>
            <a:custGeom>
              <a:avLst/>
              <a:gdLst/>
              <a:ahLst/>
              <a:cxnLst/>
              <a:rect l="l" t="t" r="r" b="b"/>
              <a:pathLst>
                <a:path w="6138037" h="4342257">
                  <a:moveTo>
                    <a:pt x="0" y="151765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5986272" y="0"/>
                  </a:lnTo>
                  <a:cubicBezTo>
                    <a:pt x="6070092" y="0"/>
                    <a:pt x="6138037" y="67945"/>
                    <a:pt x="6138037" y="151765"/>
                  </a:cubicBezTo>
                  <a:lnTo>
                    <a:pt x="6138037" y="4190492"/>
                  </a:lnTo>
                  <a:cubicBezTo>
                    <a:pt x="6138037" y="4274312"/>
                    <a:pt x="6070092" y="4342257"/>
                    <a:pt x="5986272" y="4342257"/>
                  </a:cubicBezTo>
                  <a:lnTo>
                    <a:pt x="151765" y="4342257"/>
                  </a:lnTo>
                  <a:cubicBezTo>
                    <a:pt x="67945" y="4342257"/>
                    <a:pt x="0" y="4274312"/>
                    <a:pt x="0" y="4190492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271883" y="4010177"/>
            <a:ext cx="4034733" cy="43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AlexNet [15]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1883" y="4529738"/>
            <a:ext cx="4034733" cy="2177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Landmark CNN for ImageNet (1,000 classes). Inspiration for lightweight variants. High accuracy but computationally expensive.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838977" y="3735286"/>
            <a:ext cx="4603556" cy="3256655"/>
            <a:chOff x="0" y="0"/>
            <a:chExt cx="6138075" cy="434220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138037" cy="4342257"/>
            </a:xfrm>
            <a:custGeom>
              <a:avLst/>
              <a:gdLst/>
              <a:ahLst/>
              <a:cxnLst/>
              <a:rect l="l" t="t" r="r" b="b"/>
              <a:pathLst>
                <a:path w="6138037" h="4342257">
                  <a:moveTo>
                    <a:pt x="0" y="151765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5986272" y="0"/>
                  </a:lnTo>
                  <a:cubicBezTo>
                    <a:pt x="6070092" y="0"/>
                    <a:pt x="6138037" y="67945"/>
                    <a:pt x="6138037" y="151765"/>
                  </a:cubicBezTo>
                  <a:lnTo>
                    <a:pt x="6138037" y="4190492"/>
                  </a:lnTo>
                  <a:cubicBezTo>
                    <a:pt x="6138037" y="4274312"/>
                    <a:pt x="6070092" y="4342257"/>
                    <a:pt x="5986272" y="4342257"/>
                  </a:cubicBezTo>
                  <a:lnTo>
                    <a:pt x="151765" y="4342257"/>
                  </a:lnTo>
                  <a:cubicBezTo>
                    <a:pt x="67945" y="4342257"/>
                    <a:pt x="0" y="4274312"/>
                    <a:pt x="0" y="4190492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6123384" y="4010177"/>
            <a:ext cx="4034733" cy="43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LeNet [16]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123384" y="4529738"/>
            <a:ext cx="4034733" cy="175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Early CNN for digit recognition. Gaussian RBF output layer. Compact architecture suitable for binary tasks.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87476" y="7239895"/>
            <a:ext cx="9455048" cy="1989982"/>
            <a:chOff x="0" y="0"/>
            <a:chExt cx="12606731" cy="265330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606655" cy="2653284"/>
            </a:xfrm>
            <a:custGeom>
              <a:avLst/>
              <a:gdLst/>
              <a:ahLst/>
              <a:cxnLst/>
              <a:rect l="l" t="t" r="r" b="b"/>
              <a:pathLst>
                <a:path w="12606655" h="2653284">
                  <a:moveTo>
                    <a:pt x="0" y="152019"/>
                  </a:moveTo>
                  <a:cubicBezTo>
                    <a:pt x="0" y="68072"/>
                    <a:pt x="68072" y="0"/>
                    <a:pt x="152019" y="0"/>
                  </a:cubicBezTo>
                  <a:lnTo>
                    <a:pt x="12454636" y="0"/>
                  </a:lnTo>
                  <a:cubicBezTo>
                    <a:pt x="12538583" y="0"/>
                    <a:pt x="12606655" y="68072"/>
                    <a:pt x="12606655" y="152019"/>
                  </a:cubicBezTo>
                  <a:lnTo>
                    <a:pt x="12606655" y="2501265"/>
                  </a:lnTo>
                  <a:cubicBezTo>
                    <a:pt x="12606655" y="2585212"/>
                    <a:pt x="12538583" y="2653284"/>
                    <a:pt x="12454636" y="2653284"/>
                  </a:cubicBezTo>
                  <a:lnTo>
                    <a:pt x="152019" y="2653284"/>
                  </a:lnTo>
                  <a:cubicBezTo>
                    <a:pt x="68072" y="2653284"/>
                    <a:pt x="0" y="2585212"/>
                    <a:pt x="0" y="2501265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271883" y="7514777"/>
            <a:ext cx="8886234" cy="43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CNRPark Deep Learning [14]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71883" y="8034337"/>
            <a:ext cx="8886234" cy="911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Prior work using deep CNN for outdoor parking detection. This paper extends it to indoor environments with higher obstacle density.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817512"/>
            <a:ext cx="2614612" cy="532800"/>
            <a:chOff x="0" y="0"/>
            <a:chExt cx="3486150" cy="710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86150" cy="710438"/>
            </a:xfrm>
            <a:custGeom>
              <a:avLst/>
              <a:gdLst/>
              <a:ahLst/>
              <a:cxnLst/>
              <a:rect l="l" t="t" r="r" b="b"/>
              <a:pathLst>
                <a:path w="3486150" h="710438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3359150" y="0"/>
                  </a:lnTo>
                  <a:cubicBezTo>
                    <a:pt x="3429254" y="0"/>
                    <a:pt x="3486150" y="56896"/>
                    <a:pt x="3486150" y="127000"/>
                  </a:cubicBezTo>
                  <a:lnTo>
                    <a:pt x="3486150" y="583438"/>
                  </a:lnTo>
                  <a:cubicBezTo>
                    <a:pt x="3486150" y="653542"/>
                    <a:pt x="3429254" y="710438"/>
                    <a:pt x="3359150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62345" y="835819"/>
            <a:ext cx="3188789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LITERATURE REVIEW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444676"/>
            <a:ext cx="16303523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Research Gap &amp; Motivation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3048895"/>
            <a:ext cx="7805890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Prior Work Misses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1098499" y="3834413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88" r="-8888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913630" y="3734543"/>
            <a:ext cx="6884489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Limited generalization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Most models trained on a single parking space; fail to transfer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098499" y="5308702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88" r="-8888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913630" y="5208832"/>
            <a:ext cx="6884489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Indoor environments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Low light, shadows, and artificial lighting poorly addressed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1098499" y="6782991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88" r="-8888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913630" y="6683131"/>
            <a:ext cx="6884489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Centralized compute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Server-based pipelines create bottlenecks and increase cost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1098499" y="8257280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88" r="-8888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913630" y="8157420"/>
            <a:ext cx="6884489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Hardware dependency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Sensor-per-spot approaches scale poorly with cost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99406" y="3048895"/>
            <a:ext cx="7805890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This Paper's Positioning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99406" y="3699119"/>
            <a:ext cx="7805890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Proposes a </a:t>
            </a: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decentralized, camera-only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solution using lightweight CNNs (mini-AlexNet, mini-LeNet) validated across three independent datasets (PKLot, CNRPark-Ext, custom indoor/outdoor) under diverse lighting and obstacle conditions.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499406" y="6371930"/>
            <a:ext cx="7805890" cy="2012756"/>
            <a:chOff x="0" y="0"/>
            <a:chExt cx="10407853" cy="268367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407777" cy="2683637"/>
            </a:xfrm>
            <a:custGeom>
              <a:avLst/>
              <a:gdLst/>
              <a:ahLst/>
              <a:cxnLst/>
              <a:rect l="l" t="t" r="r" b="b"/>
              <a:pathLst>
                <a:path w="10407777" h="2683637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249027" y="0"/>
                  </a:lnTo>
                  <a:cubicBezTo>
                    <a:pt x="10336784" y="0"/>
                    <a:pt x="10407777" y="71120"/>
                    <a:pt x="10407777" y="158750"/>
                  </a:cubicBezTo>
                  <a:lnTo>
                    <a:pt x="10407777" y="2524887"/>
                  </a:lnTo>
                  <a:cubicBezTo>
                    <a:pt x="10407777" y="2612644"/>
                    <a:pt x="10336657" y="2683637"/>
                    <a:pt x="10249027" y="2683637"/>
                  </a:cubicBezTo>
                  <a:lnTo>
                    <a:pt x="158750" y="2683637"/>
                  </a:lnTo>
                  <a:cubicBezTo>
                    <a:pt x="70993" y="2683637"/>
                    <a:pt x="0" y="2612517"/>
                    <a:pt x="0" y="2524887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9782918" y="6802041"/>
            <a:ext cx="354359" cy="283521"/>
            <a:chOff x="0" y="0"/>
            <a:chExt cx="472478" cy="378028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472440" cy="378079"/>
            </a:xfrm>
            <a:custGeom>
              <a:avLst/>
              <a:gdLst/>
              <a:ahLst/>
              <a:cxnLst/>
              <a:rect l="l" t="t" r="r" b="b"/>
              <a:pathLst>
                <a:path w="472440" h="378079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72" r="-680" b="13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10420798" y="6612131"/>
            <a:ext cx="6600977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Goal: Binary occupancy classification runnable on Raspberry Pi with ≥80% accuracy across unseen environments.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1254176"/>
            <a:ext cx="2532307" cy="510483"/>
            <a:chOff x="0" y="0"/>
            <a:chExt cx="3376409" cy="6806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76422" cy="680593"/>
            </a:xfrm>
            <a:custGeom>
              <a:avLst/>
              <a:gdLst/>
              <a:ahLst/>
              <a:cxnLst/>
              <a:rect l="l" t="t" r="r" b="b"/>
              <a:pathLst>
                <a:path w="3376422" h="680593">
                  <a:moveTo>
                    <a:pt x="0" y="123063"/>
                  </a:moveTo>
                  <a:cubicBezTo>
                    <a:pt x="0" y="55118"/>
                    <a:pt x="55118" y="0"/>
                    <a:pt x="123063" y="0"/>
                  </a:cubicBezTo>
                  <a:lnTo>
                    <a:pt x="3253359" y="0"/>
                  </a:lnTo>
                  <a:cubicBezTo>
                    <a:pt x="3321304" y="0"/>
                    <a:pt x="3376422" y="55118"/>
                    <a:pt x="3376422" y="123063"/>
                  </a:cubicBezTo>
                  <a:lnTo>
                    <a:pt x="3376422" y="557530"/>
                  </a:lnTo>
                  <a:cubicBezTo>
                    <a:pt x="3376422" y="625475"/>
                    <a:pt x="3321304" y="680593"/>
                    <a:pt x="3253359" y="680593"/>
                  </a:cubicBezTo>
                  <a:lnTo>
                    <a:pt x="123063" y="680593"/>
                  </a:lnTo>
                  <a:cubicBezTo>
                    <a:pt x="55118" y="680593"/>
                    <a:pt x="0" y="625602"/>
                    <a:pt x="0" y="55753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56992" y="1279322"/>
            <a:ext cx="3117209" cy="403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2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LITERATURE REVIEW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852022"/>
            <a:ext cx="16303523" cy="877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Comparative Summary of Key Approaches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87476" y="3123609"/>
            <a:ext cx="16313048" cy="5913834"/>
            <a:chOff x="0" y="0"/>
            <a:chExt cx="21750731" cy="788511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750655" cy="7885049"/>
            </a:xfrm>
            <a:custGeom>
              <a:avLst/>
              <a:gdLst/>
              <a:ahLst/>
              <a:cxnLst/>
              <a:rect l="l" t="t" r="r" b="b"/>
              <a:pathLst>
                <a:path w="21750655" h="7885049">
                  <a:moveTo>
                    <a:pt x="0" y="154051"/>
                  </a:moveTo>
                  <a:cubicBezTo>
                    <a:pt x="0" y="68961"/>
                    <a:pt x="68961" y="0"/>
                    <a:pt x="154051" y="0"/>
                  </a:cubicBezTo>
                  <a:lnTo>
                    <a:pt x="21596604" y="0"/>
                  </a:lnTo>
                  <a:cubicBezTo>
                    <a:pt x="21681694" y="0"/>
                    <a:pt x="21750655" y="68961"/>
                    <a:pt x="21750655" y="154051"/>
                  </a:cubicBezTo>
                  <a:lnTo>
                    <a:pt x="21750655" y="7730998"/>
                  </a:lnTo>
                  <a:cubicBezTo>
                    <a:pt x="21750655" y="7816088"/>
                    <a:pt x="21681694" y="7885049"/>
                    <a:pt x="21596604" y="7885049"/>
                  </a:cubicBezTo>
                  <a:lnTo>
                    <a:pt x="154051" y="7885049"/>
                  </a:lnTo>
                  <a:cubicBezTo>
                    <a:pt x="68961" y="7885176"/>
                    <a:pt x="0" y="7816088"/>
                    <a:pt x="0" y="773099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8" b="-3749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992238" y="3913432"/>
            <a:ext cx="16303523" cy="17164"/>
            <a:chOff x="0" y="0"/>
            <a:chExt cx="21738031" cy="2288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738082" cy="22860"/>
            </a:xfrm>
            <a:custGeom>
              <a:avLst/>
              <a:gdLst/>
              <a:ahLst/>
              <a:cxnLst/>
              <a:rect l="l" t="t" r="r" b="b"/>
              <a:pathLst>
                <a:path w="21738082" h="22860">
                  <a:moveTo>
                    <a:pt x="0" y="0"/>
                  </a:moveTo>
                  <a:lnTo>
                    <a:pt x="21738082" y="0"/>
                  </a:lnTo>
                  <a:lnTo>
                    <a:pt x="21738082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92238" y="4693739"/>
            <a:ext cx="16303523" cy="17164"/>
            <a:chOff x="0" y="0"/>
            <a:chExt cx="21738031" cy="2288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738082" cy="22860"/>
            </a:xfrm>
            <a:custGeom>
              <a:avLst/>
              <a:gdLst/>
              <a:ahLst/>
              <a:cxnLst/>
              <a:rect l="l" t="t" r="r" b="b"/>
              <a:pathLst>
                <a:path w="21738082" h="22860">
                  <a:moveTo>
                    <a:pt x="0" y="0"/>
                  </a:moveTo>
                  <a:lnTo>
                    <a:pt x="21738082" y="0"/>
                  </a:lnTo>
                  <a:lnTo>
                    <a:pt x="21738082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992238" y="5474046"/>
            <a:ext cx="16303523" cy="17164"/>
            <a:chOff x="0" y="0"/>
            <a:chExt cx="21738031" cy="2288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738082" cy="22860"/>
            </a:xfrm>
            <a:custGeom>
              <a:avLst/>
              <a:gdLst/>
              <a:ahLst/>
              <a:cxnLst/>
              <a:rect l="l" t="t" r="r" b="b"/>
              <a:pathLst>
                <a:path w="21738082" h="22860">
                  <a:moveTo>
                    <a:pt x="0" y="0"/>
                  </a:moveTo>
                  <a:lnTo>
                    <a:pt x="21738082" y="0"/>
                  </a:lnTo>
                  <a:lnTo>
                    <a:pt x="21738082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92238" y="6254353"/>
            <a:ext cx="16303523" cy="17164"/>
            <a:chOff x="0" y="0"/>
            <a:chExt cx="21738031" cy="2288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738082" cy="22860"/>
            </a:xfrm>
            <a:custGeom>
              <a:avLst/>
              <a:gdLst/>
              <a:ahLst/>
              <a:cxnLst/>
              <a:rect l="l" t="t" r="r" b="b"/>
              <a:pathLst>
                <a:path w="21738082" h="22860">
                  <a:moveTo>
                    <a:pt x="0" y="0"/>
                  </a:moveTo>
                  <a:lnTo>
                    <a:pt x="21738082" y="0"/>
                  </a:lnTo>
                  <a:lnTo>
                    <a:pt x="21738082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992238" y="7034660"/>
            <a:ext cx="16303523" cy="17164"/>
            <a:chOff x="0" y="0"/>
            <a:chExt cx="21738031" cy="2288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738082" cy="22860"/>
            </a:xfrm>
            <a:custGeom>
              <a:avLst/>
              <a:gdLst/>
              <a:ahLst/>
              <a:cxnLst/>
              <a:rect l="l" t="t" r="r" b="b"/>
              <a:pathLst>
                <a:path w="21738082" h="22860">
                  <a:moveTo>
                    <a:pt x="0" y="0"/>
                  </a:moveTo>
                  <a:lnTo>
                    <a:pt x="21738082" y="0"/>
                  </a:lnTo>
                  <a:lnTo>
                    <a:pt x="21738082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992238" y="8247612"/>
            <a:ext cx="16303523" cy="17164"/>
            <a:chOff x="0" y="0"/>
            <a:chExt cx="21738031" cy="2288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738082" cy="22860"/>
            </a:xfrm>
            <a:custGeom>
              <a:avLst/>
              <a:gdLst/>
              <a:ahLst/>
              <a:cxnLst/>
              <a:rect l="l" t="t" r="r" b="b"/>
              <a:pathLst>
                <a:path w="21738082" h="22860">
                  <a:moveTo>
                    <a:pt x="0" y="0"/>
                  </a:moveTo>
                  <a:lnTo>
                    <a:pt x="21738082" y="0"/>
                  </a:lnTo>
                  <a:lnTo>
                    <a:pt x="21738082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276798" y="3230756"/>
            <a:ext cx="3947665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Approach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59236" y="3230756"/>
            <a:ext cx="3296393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Core Method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790412" y="3230756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Features Used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047209" y="3230756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Key Limitation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304016" y="3230756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Generalization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76798" y="4011063"/>
            <a:ext cx="3947665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SVM [6]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859236" y="4011063"/>
            <a:ext cx="3296393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Binary classifier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90412" y="4011063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Visual regions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047209" y="4011063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Shadows, light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304016" y="4011063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Low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76798" y="4791370"/>
            <a:ext cx="3947665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SVM + Neighbor [3]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859236" y="4791370"/>
            <a:ext cx="3296393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SVM + correlation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790412" y="4791370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Color histogram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047209" y="4791370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Light changes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304016" y="4791370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Low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76798" y="5571677"/>
            <a:ext cx="3947665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Bayesian [7][8]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859236" y="5571677"/>
            <a:ext cx="3296393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Probabilistic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90412" y="5571677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Corners, edges, 3D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047209" y="5571677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Complexity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304016" y="5571677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Medium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76798" y="6351984"/>
            <a:ext cx="3947665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LBP-SVM [5][17]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859236" y="6351984"/>
            <a:ext cx="3296393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SVM + texture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790412" y="6351984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LBP variants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047209" y="6351984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Feature engineering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304016" y="6351984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Medium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76798" y="7132291"/>
            <a:ext cx="3947665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Temporal [4][10]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859236" y="7132291"/>
            <a:ext cx="2381993" cy="941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Background subtraction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790412" y="7132291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Frame differencing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047209" y="7132291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Occlusions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4304016" y="7132291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Medium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276798" y="8345243"/>
            <a:ext cx="3947665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mini-AlexNet (Ours)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859236" y="8345243"/>
            <a:ext cx="3296393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Deep CNN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90412" y="8345243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Learned features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047209" y="8345243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Embedded compute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4304016" y="8345243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High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1336177"/>
            <a:ext cx="2614612" cy="532800"/>
            <a:chOff x="0" y="0"/>
            <a:chExt cx="3486150" cy="710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86150" cy="710438"/>
            </a:xfrm>
            <a:custGeom>
              <a:avLst/>
              <a:gdLst/>
              <a:ahLst/>
              <a:cxnLst/>
              <a:rect l="l" t="t" r="r" b="b"/>
              <a:pathLst>
                <a:path w="3486150" h="710438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3359150" y="0"/>
                  </a:lnTo>
                  <a:cubicBezTo>
                    <a:pt x="3429254" y="0"/>
                    <a:pt x="3486150" y="56896"/>
                    <a:pt x="3486150" y="127000"/>
                  </a:cubicBezTo>
                  <a:lnTo>
                    <a:pt x="3486150" y="583438"/>
                  </a:lnTo>
                  <a:cubicBezTo>
                    <a:pt x="3486150" y="653542"/>
                    <a:pt x="3429254" y="710438"/>
                    <a:pt x="3359150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62345" y="1354484"/>
            <a:ext cx="3188789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LITERATURE REVIEW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963341"/>
            <a:ext cx="16303523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Positioning Within the Research Landscape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3462938"/>
            <a:ext cx="7805890" cy="326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This work builds on prior deep CNN efforts [14] but extends them to </a:t>
            </a: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indoor environments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with higher obstacle density, </a:t>
            </a: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multi-dataset cross-validation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(PKLot, CNRPark-Ext, custom), and </a:t>
            </a: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embedded deployment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on Raspberry Pi — addressing gaps in generalization, lighting robustness, and cost-effective scalability left by classical ML and centralized vision systems.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87476" y="7293321"/>
            <a:ext cx="5254971" cy="1662265"/>
            <a:chOff x="0" y="0"/>
            <a:chExt cx="7006628" cy="221635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006590" cy="2216277"/>
            </a:xfrm>
            <a:custGeom>
              <a:avLst/>
              <a:gdLst/>
              <a:ahLst/>
              <a:cxnLst/>
              <a:rect l="l" t="t" r="r" b="b"/>
              <a:pathLst>
                <a:path w="7006590" h="2216277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6846951" y="0"/>
                  </a:lnTo>
                  <a:cubicBezTo>
                    <a:pt x="6935089" y="0"/>
                    <a:pt x="7006590" y="71501"/>
                    <a:pt x="7006590" y="159639"/>
                  </a:cubicBezTo>
                  <a:lnTo>
                    <a:pt x="7006590" y="2056638"/>
                  </a:lnTo>
                  <a:cubicBezTo>
                    <a:pt x="7006590" y="2144776"/>
                    <a:pt x="6935089" y="2216277"/>
                    <a:pt x="6846951" y="2216277"/>
                  </a:cubicBezTo>
                  <a:lnTo>
                    <a:pt x="159639" y="2216277"/>
                  </a:lnTo>
                  <a:cubicBezTo>
                    <a:pt x="71501" y="2216404"/>
                    <a:pt x="0" y="2144903"/>
                    <a:pt x="0" y="2056638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285284" y="7581605"/>
            <a:ext cx="465936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✅</a:t>
            </a: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 Decentralized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5284" y="8118424"/>
            <a:ext cx="4659363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 central server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516443" y="7293321"/>
            <a:ext cx="5254971" cy="1662265"/>
            <a:chOff x="0" y="0"/>
            <a:chExt cx="7006628" cy="221635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006590" cy="2216277"/>
            </a:xfrm>
            <a:custGeom>
              <a:avLst/>
              <a:gdLst/>
              <a:ahLst/>
              <a:cxnLst/>
              <a:rect l="l" t="t" r="r" b="b"/>
              <a:pathLst>
                <a:path w="7006590" h="2216277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6846951" y="0"/>
                  </a:lnTo>
                  <a:cubicBezTo>
                    <a:pt x="6935089" y="0"/>
                    <a:pt x="7006590" y="71501"/>
                    <a:pt x="7006590" y="159639"/>
                  </a:cubicBezTo>
                  <a:lnTo>
                    <a:pt x="7006590" y="2056638"/>
                  </a:lnTo>
                  <a:cubicBezTo>
                    <a:pt x="7006590" y="2144776"/>
                    <a:pt x="6935089" y="2216277"/>
                    <a:pt x="6846951" y="2216277"/>
                  </a:cubicBezTo>
                  <a:lnTo>
                    <a:pt x="159639" y="2216277"/>
                  </a:lnTo>
                  <a:cubicBezTo>
                    <a:pt x="71501" y="2216404"/>
                    <a:pt x="0" y="2144903"/>
                    <a:pt x="0" y="2056638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6814242" y="7581605"/>
            <a:ext cx="465936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✅</a:t>
            </a: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 Camera-only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14242" y="8118424"/>
            <a:ext cx="4659363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 per-spot sensors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045401" y="7293321"/>
            <a:ext cx="5254971" cy="1662265"/>
            <a:chOff x="0" y="0"/>
            <a:chExt cx="7006628" cy="221635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006590" cy="2216277"/>
            </a:xfrm>
            <a:custGeom>
              <a:avLst/>
              <a:gdLst/>
              <a:ahLst/>
              <a:cxnLst/>
              <a:rect l="l" t="t" r="r" b="b"/>
              <a:pathLst>
                <a:path w="7006590" h="2216277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6846951" y="0"/>
                  </a:lnTo>
                  <a:cubicBezTo>
                    <a:pt x="6935089" y="0"/>
                    <a:pt x="7006590" y="71501"/>
                    <a:pt x="7006590" y="159639"/>
                  </a:cubicBezTo>
                  <a:lnTo>
                    <a:pt x="7006590" y="2056638"/>
                  </a:lnTo>
                  <a:cubicBezTo>
                    <a:pt x="7006590" y="2144776"/>
                    <a:pt x="6935089" y="2216277"/>
                    <a:pt x="6846951" y="2216277"/>
                  </a:cubicBezTo>
                  <a:lnTo>
                    <a:pt x="159639" y="2216277"/>
                  </a:lnTo>
                  <a:cubicBezTo>
                    <a:pt x="71501" y="2216404"/>
                    <a:pt x="0" y="2144903"/>
                    <a:pt x="0" y="2056638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12343209" y="7581605"/>
            <a:ext cx="465936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✅</a:t>
            </a: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 Embedded-ready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343209" y="8118424"/>
            <a:ext cx="4659363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Raspberry Pi viable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850238" y="922887"/>
            <a:ext cx="2532307" cy="510483"/>
            <a:chOff x="0" y="0"/>
            <a:chExt cx="3376409" cy="6806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76422" cy="680593"/>
            </a:xfrm>
            <a:custGeom>
              <a:avLst/>
              <a:gdLst/>
              <a:ahLst/>
              <a:cxnLst/>
              <a:rect l="l" t="t" r="r" b="b"/>
              <a:pathLst>
                <a:path w="3376422" h="680593">
                  <a:moveTo>
                    <a:pt x="0" y="123063"/>
                  </a:moveTo>
                  <a:cubicBezTo>
                    <a:pt x="0" y="55118"/>
                    <a:pt x="55118" y="0"/>
                    <a:pt x="123063" y="0"/>
                  </a:cubicBezTo>
                  <a:lnTo>
                    <a:pt x="3253359" y="0"/>
                  </a:lnTo>
                  <a:cubicBezTo>
                    <a:pt x="3321304" y="0"/>
                    <a:pt x="3376422" y="55118"/>
                    <a:pt x="3376422" y="123063"/>
                  </a:cubicBezTo>
                  <a:lnTo>
                    <a:pt x="3376422" y="557530"/>
                  </a:lnTo>
                  <a:cubicBezTo>
                    <a:pt x="3376422" y="625475"/>
                    <a:pt x="3321304" y="680593"/>
                    <a:pt x="3253359" y="680593"/>
                  </a:cubicBezTo>
                  <a:lnTo>
                    <a:pt x="123063" y="680593"/>
                  </a:lnTo>
                  <a:cubicBezTo>
                    <a:pt x="55118" y="680593"/>
                    <a:pt x="0" y="625602"/>
                    <a:pt x="0" y="55753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8014992" y="948033"/>
            <a:ext cx="3117209" cy="403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2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LITERATURE REVIEW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50238" y="1520723"/>
            <a:ext cx="9445523" cy="877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Takeaways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845476" y="2792311"/>
            <a:ext cx="627459" cy="627459"/>
            <a:chOff x="0" y="0"/>
            <a:chExt cx="836612" cy="83661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36676" cy="836676"/>
            </a:xfrm>
            <a:custGeom>
              <a:avLst/>
              <a:gdLst/>
              <a:ahLst/>
              <a:cxnLst/>
              <a:rect l="l" t="t" r="r" b="b"/>
              <a:pathLst>
                <a:path w="836676" h="836676">
                  <a:moveTo>
                    <a:pt x="0" y="156210"/>
                  </a:moveTo>
                  <a:cubicBezTo>
                    <a:pt x="0" y="69977"/>
                    <a:pt x="69977" y="0"/>
                    <a:pt x="156210" y="0"/>
                  </a:cubicBezTo>
                  <a:lnTo>
                    <a:pt x="680466" y="0"/>
                  </a:lnTo>
                  <a:cubicBezTo>
                    <a:pt x="766699" y="0"/>
                    <a:pt x="836676" y="69977"/>
                    <a:pt x="836676" y="156210"/>
                  </a:cubicBezTo>
                  <a:lnTo>
                    <a:pt x="836676" y="680466"/>
                  </a:lnTo>
                  <a:cubicBezTo>
                    <a:pt x="836676" y="766699"/>
                    <a:pt x="766699" y="836676"/>
                    <a:pt x="680466" y="836676"/>
                  </a:cubicBezTo>
                  <a:lnTo>
                    <a:pt x="156210" y="836676"/>
                  </a:lnTo>
                  <a:cubicBezTo>
                    <a:pt x="69977" y="836676"/>
                    <a:pt x="0" y="766699"/>
                    <a:pt x="0" y="680466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953223" y="2848566"/>
            <a:ext cx="411956" cy="514950"/>
            <a:chOff x="0" y="0"/>
            <a:chExt cx="549275" cy="686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49275" cy="686595"/>
            </a:xfrm>
            <a:custGeom>
              <a:avLst/>
              <a:gdLst/>
              <a:ahLst/>
              <a:cxnLst/>
              <a:rect l="l" t="t" r="r" b="b"/>
              <a:pathLst>
                <a:path w="549275" h="686595">
                  <a:moveTo>
                    <a:pt x="0" y="0"/>
                  </a:moveTo>
                  <a:lnTo>
                    <a:pt x="549275" y="0"/>
                  </a:lnTo>
                  <a:lnTo>
                    <a:pt x="549275" y="686595"/>
                  </a:lnTo>
                  <a:lnTo>
                    <a:pt x="0" y="6865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81" r="-11038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549275" cy="68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734130" y="2881903"/>
            <a:ext cx="8561632" cy="43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Classical ML falls short on real-world variability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34130" y="3403844"/>
            <a:ext cx="8561632" cy="941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SVM and Bayesian methods struggle with shadows, lighting changes, and occlusions without extensive feature engineering.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845476" y="4872638"/>
            <a:ext cx="627459" cy="627459"/>
            <a:chOff x="0" y="0"/>
            <a:chExt cx="836612" cy="83661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36676" cy="836676"/>
            </a:xfrm>
            <a:custGeom>
              <a:avLst/>
              <a:gdLst/>
              <a:ahLst/>
              <a:cxnLst/>
              <a:rect l="l" t="t" r="r" b="b"/>
              <a:pathLst>
                <a:path w="836676" h="836676">
                  <a:moveTo>
                    <a:pt x="0" y="156210"/>
                  </a:moveTo>
                  <a:cubicBezTo>
                    <a:pt x="0" y="69977"/>
                    <a:pt x="69977" y="0"/>
                    <a:pt x="156210" y="0"/>
                  </a:cubicBezTo>
                  <a:lnTo>
                    <a:pt x="680466" y="0"/>
                  </a:lnTo>
                  <a:cubicBezTo>
                    <a:pt x="766699" y="0"/>
                    <a:pt x="836676" y="69977"/>
                    <a:pt x="836676" y="156210"/>
                  </a:cubicBezTo>
                  <a:lnTo>
                    <a:pt x="836676" y="680466"/>
                  </a:lnTo>
                  <a:cubicBezTo>
                    <a:pt x="836676" y="766699"/>
                    <a:pt x="766699" y="836676"/>
                    <a:pt x="680466" y="836676"/>
                  </a:cubicBezTo>
                  <a:lnTo>
                    <a:pt x="156210" y="836676"/>
                  </a:lnTo>
                  <a:cubicBezTo>
                    <a:pt x="69977" y="836676"/>
                    <a:pt x="0" y="766699"/>
                    <a:pt x="0" y="680466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953223" y="4928892"/>
            <a:ext cx="411956" cy="514950"/>
            <a:chOff x="0" y="0"/>
            <a:chExt cx="549275" cy="6866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49275" cy="686595"/>
            </a:xfrm>
            <a:custGeom>
              <a:avLst/>
              <a:gdLst/>
              <a:ahLst/>
              <a:cxnLst/>
              <a:rect l="l" t="t" r="r" b="b"/>
              <a:pathLst>
                <a:path w="549275" h="686595">
                  <a:moveTo>
                    <a:pt x="0" y="0"/>
                  </a:moveTo>
                  <a:lnTo>
                    <a:pt x="549275" y="0"/>
                  </a:lnTo>
                  <a:lnTo>
                    <a:pt x="549275" y="686595"/>
                  </a:lnTo>
                  <a:lnTo>
                    <a:pt x="0" y="6865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81" r="-110381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549275" cy="68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8734130" y="4962230"/>
            <a:ext cx="8561632" cy="86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Texture-based SVM improves but lacks transferability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734130" y="5913244"/>
            <a:ext cx="8561632" cy="941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LBP variants on large datasets achieve ~92% accuracy but remain dataset-specific and feature-dependent.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845476" y="7382027"/>
            <a:ext cx="627459" cy="627459"/>
            <a:chOff x="0" y="0"/>
            <a:chExt cx="836612" cy="83661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36676" cy="836676"/>
            </a:xfrm>
            <a:custGeom>
              <a:avLst/>
              <a:gdLst/>
              <a:ahLst/>
              <a:cxnLst/>
              <a:rect l="l" t="t" r="r" b="b"/>
              <a:pathLst>
                <a:path w="836676" h="836676">
                  <a:moveTo>
                    <a:pt x="0" y="156210"/>
                  </a:moveTo>
                  <a:cubicBezTo>
                    <a:pt x="0" y="69977"/>
                    <a:pt x="69977" y="0"/>
                    <a:pt x="156210" y="0"/>
                  </a:cubicBezTo>
                  <a:lnTo>
                    <a:pt x="680466" y="0"/>
                  </a:lnTo>
                  <a:cubicBezTo>
                    <a:pt x="766699" y="0"/>
                    <a:pt x="836676" y="69977"/>
                    <a:pt x="836676" y="156210"/>
                  </a:cubicBezTo>
                  <a:lnTo>
                    <a:pt x="836676" y="680466"/>
                  </a:lnTo>
                  <a:cubicBezTo>
                    <a:pt x="836676" y="766699"/>
                    <a:pt x="766699" y="836676"/>
                    <a:pt x="680466" y="836676"/>
                  </a:cubicBezTo>
                  <a:lnTo>
                    <a:pt x="156210" y="836676"/>
                  </a:lnTo>
                  <a:cubicBezTo>
                    <a:pt x="69977" y="836676"/>
                    <a:pt x="0" y="766699"/>
                    <a:pt x="0" y="680466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7953223" y="7438282"/>
            <a:ext cx="411956" cy="514950"/>
            <a:chOff x="0" y="0"/>
            <a:chExt cx="549275" cy="6866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9275" cy="686595"/>
            </a:xfrm>
            <a:custGeom>
              <a:avLst/>
              <a:gdLst/>
              <a:ahLst/>
              <a:cxnLst/>
              <a:rect l="l" t="t" r="r" b="b"/>
              <a:pathLst>
                <a:path w="549275" h="686595">
                  <a:moveTo>
                    <a:pt x="0" y="0"/>
                  </a:moveTo>
                  <a:lnTo>
                    <a:pt x="549275" y="0"/>
                  </a:lnTo>
                  <a:lnTo>
                    <a:pt x="549275" y="686595"/>
                  </a:lnTo>
                  <a:lnTo>
                    <a:pt x="0" y="6865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81" r="-110381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549275" cy="68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8734130" y="7471620"/>
            <a:ext cx="8561632" cy="86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Deep CNN enables generic, embedded-ready detection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734130" y="8422634"/>
            <a:ext cx="8561632" cy="941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Mini-AlexNet achieves up to 96% accuracy across unseen datasets — validating CNN generalization and edge deployability.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2451F0-C455-4701-98D2-B2DCB68A3321}"/>
              </a:ext>
            </a:extLst>
          </p:cNvPr>
          <p:cNvSpPr txBox="1"/>
          <p:nvPr/>
        </p:nvSpPr>
        <p:spPr>
          <a:xfrm>
            <a:off x="6324600" y="1485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3F9CCE-2B4A-4A65-AC7D-2CBC5B5C147C}"/>
              </a:ext>
            </a:extLst>
          </p:cNvPr>
          <p:cNvSpPr txBox="1"/>
          <p:nvPr/>
        </p:nvSpPr>
        <p:spPr>
          <a:xfrm>
            <a:off x="609600" y="1181100"/>
            <a:ext cx="889112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[1] A. N. </a:t>
            </a:r>
            <a:r>
              <a:rPr lang="en-US" dirty="0" err="1"/>
              <a:t>Belbachir</a:t>
            </a:r>
            <a:r>
              <a:rPr lang="en-US" dirty="0"/>
              <a:t>, *Smart Cameras*, vol. 2. Springer, 2010.</a:t>
            </a:r>
          </a:p>
          <a:p>
            <a:endParaRPr lang="en-US" dirty="0"/>
          </a:p>
          <a:p>
            <a:r>
              <a:rPr lang="en-US" dirty="0"/>
              <a:t>[2] Y. </a:t>
            </a:r>
            <a:r>
              <a:rPr lang="en-US" dirty="0" err="1"/>
              <a:t>Bengio</a:t>
            </a:r>
            <a:r>
              <a:rPr lang="en-US" dirty="0"/>
              <a:t>, "Learning Deep Architectures for AI," *Foundations and Trends® in Machine Learning*, vol. 2, no. 1, pp. 1–127, 2009.</a:t>
            </a:r>
          </a:p>
          <a:p>
            <a:endParaRPr lang="en-US" dirty="0"/>
          </a:p>
          <a:p>
            <a:r>
              <a:rPr lang="en-US" dirty="0"/>
              <a:t>[3] Q. Wu, H. Chen, W. </a:t>
            </a:r>
            <a:r>
              <a:rPr lang="en-US" dirty="0" err="1"/>
              <a:t>Su</a:t>
            </a:r>
            <a:r>
              <a:rPr lang="en-US" dirty="0"/>
              <a:t>, S. Y. Chen, W. C. Wang, and T. Chen, "Robust Parking Space Detection Considering Inter-Space Correlation," in *Proceedings of the IEEE International Conference on Multimedia and Expo (ICME)*, 2007.</a:t>
            </a:r>
          </a:p>
          <a:p>
            <a:endParaRPr lang="en-US" dirty="0"/>
          </a:p>
          <a:p>
            <a:r>
              <a:rPr lang="en-US" dirty="0"/>
              <a:t>[4] C. G. del </a:t>
            </a:r>
            <a:r>
              <a:rPr lang="en-US" dirty="0" err="1"/>
              <a:t>Postigo</a:t>
            </a:r>
            <a:r>
              <a:rPr lang="en-US" dirty="0"/>
              <a:t>, T. J. Torres, and M. J. Menéndez, "Vacant Parking Area Estimation Through Background Subtraction and Transience Map Analysis," *IET Intelligent Transport Systems*, vol. 9, pp. 835–841.</a:t>
            </a:r>
          </a:p>
          <a:p>
            <a:endParaRPr lang="en-US" dirty="0"/>
          </a:p>
          <a:p>
            <a:r>
              <a:rPr lang="en-US" dirty="0"/>
              <a:t>[5] P. R. de Almeida, L. S. Oliveira, A. S. Britto Jr., E. J. Silva, and A. L. </a:t>
            </a:r>
            <a:r>
              <a:rPr lang="en-US" dirty="0" err="1"/>
              <a:t>Koerich</a:t>
            </a:r>
            <a:r>
              <a:rPr lang="en-US" dirty="0"/>
              <a:t>, "</a:t>
            </a:r>
            <a:r>
              <a:rPr lang="en-US" dirty="0" err="1"/>
              <a:t>PKLot</a:t>
            </a:r>
            <a:r>
              <a:rPr lang="en-US" dirty="0"/>
              <a:t>: A Robust Dataset for Parking Lot Classification," *Expert Systems with Applications*, vol. 42, no. 11, pp. 4937–4949.</a:t>
            </a:r>
          </a:p>
          <a:p>
            <a:endParaRPr lang="en-US" dirty="0"/>
          </a:p>
          <a:p>
            <a:r>
              <a:rPr lang="en-US" dirty="0"/>
              <a:t>[6] N. Dan, "Parking Management System and Method," U.S. Patent 10/066,215.</a:t>
            </a:r>
          </a:p>
        </p:txBody>
      </p:sp>
    </p:spTree>
    <p:extLst>
      <p:ext uri="{BB962C8B-B14F-4D97-AF65-F5344CB8AC3E}">
        <p14:creationId xmlns:p14="http://schemas.microsoft.com/office/powerpoint/2010/main" val="984296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1090</Words>
  <Application>Microsoft Office PowerPoint</Application>
  <PresentationFormat>Custom</PresentationFormat>
  <Paragraphs>154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Inter Bold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Real-Time-Parking-Space-Occupancy-Detection.pptx</dc:title>
  <cp:lastModifiedBy>605.15.IP70</cp:lastModifiedBy>
  <cp:revision>3</cp:revision>
  <dcterms:created xsi:type="dcterms:W3CDTF">2006-08-16T00:00:00Z</dcterms:created>
  <dcterms:modified xsi:type="dcterms:W3CDTF">2026-07-08T04:08:58Z</dcterms:modified>
  <dc:identifier>DAHOw22bG9g</dc:identifier>
</cp:coreProperties>
</file>